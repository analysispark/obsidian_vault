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emf" ContentType="image/x-emf"/>
  <Default Extension="png" ContentType="image/png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8792"/>
    <p:restoredTop autoAdjust="0" sz="94675"/>
  </p:normalViewPr>
  <p:slideViewPr>
    <p:cSldViewPr snapToGrid="0" snapToObjects="1">
      <p:cViewPr varScale="1">
        <p:scale>
          <a:sx d="100" n="169"/>
          <a:sy d="100" n="169"/>
        </p:scale>
        <p:origin x="656" y="19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6482" y="508438"/>
            <a:ext cx="7236008" cy="1468821"/>
          </a:xfrm>
        </p:spPr>
        <p:txBody>
          <a:bodyPr anchor="t"/>
          <a:lstStyle>
            <a:lvl1pPr algn="l">
              <a:defRPr lang="en-US" sz="8100" b="0" kern="1200" spc="-150" dirty="0">
                <a:solidFill>
                  <a:prstClr val="black"/>
                </a:solidFill>
                <a:latin typeface="더잠실 5 Bold" panose="00000800000000000000" pitchFamily="2" charset="-127"/>
                <a:ea typeface="더잠실 5 Bold" panose="00000800000000000000" pitchFamily="2" charset="-127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6482" y="2356406"/>
            <a:ext cx="7236008" cy="2278656"/>
          </a:xfrm>
        </p:spPr>
        <p:txBody>
          <a:bodyPr/>
          <a:lstStyle>
            <a:lvl1pPr marL="0" indent="0" algn="l">
              <a:buNone/>
              <a:defRPr lang="en-US" sz="4800" b="0" kern="120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더잠실 5 Bold" panose="00000800000000000000" pitchFamily="2" charset="-127"/>
                <a:ea typeface="더잠실 5 Bold" panose="00000800000000000000" pitchFamily="2" charset="-127"/>
                <a:cs typeface="+mj-c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 anchor="t"/>
          <a:lstStyle>
            <a:lvl1pPr algn="l">
              <a:defRPr lang="en-US" sz="1600" b="1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670" y="1745956"/>
            <a:ext cx="7847518" cy="3143439"/>
          </a:xfrm>
        </p:spPr>
        <p:txBody>
          <a:bodyPr>
            <a:normAutofit/>
          </a:bodyPr>
          <a:lstStyle>
            <a:lvl1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1pPr>
            <a:lvl2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2pPr>
            <a:lvl3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3pPr>
            <a:lvl4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4pPr>
            <a:lvl5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직사각형 2">
            <a:extLst>
              <a:ext uri="{FF2B5EF4-FFF2-40B4-BE49-F238E27FC236}">
                <a16:creationId xmlns:a16="http://schemas.microsoft.com/office/drawing/2014/main" id="{B6799193-8FCF-538C-2194-9918C7848182}"/>
              </a:ext>
            </a:extLst>
          </p:cNvPr>
          <p:cNvSpPr/>
          <p:nvPr userDrawn="1"/>
        </p:nvSpPr>
        <p:spPr>
          <a:xfrm>
            <a:off x="732226" y="960850"/>
            <a:ext cx="7679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u="sng" spc="-300" dirty="0">
                <a:solidFill>
                  <a:schemeClr val="bg1">
                    <a:lumMod val="7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상관분석</a:t>
            </a:r>
            <a:r>
              <a:rPr lang="ko-KR" altLang="en-US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Correlation</a:t>
            </a:r>
          </a:p>
        </p:txBody>
      </p:sp>
      <p:sp>
        <p:nvSpPr>
          <p:cNvPr id="5" name="직사각형 3">
            <a:extLst>
              <a:ext uri="{FF2B5EF4-FFF2-40B4-BE49-F238E27FC236}">
                <a16:creationId xmlns:a16="http://schemas.microsoft.com/office/drawing/2014/main" id="{4EC77CC4-C135-135A-B36F-F2C6C95DDE92}"/>
              </a:ext>
            </a:extLst>
          </p:cNvPr>
          <p:cNvSpPr/>
          <p:nvPr userDrawn="1"/>
        </p:nvSpPr>
        <p:spPr>
          <a:xfrm>
            <a:off x="500530" y="590968"/>
            <a:ext cx="6536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Section 04 |  </a:t>
            </a:r>
            <a:r>
              <a:rPr lang="ko-KR" altLang="en-US" sz="200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상관과 예측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409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2409" y="816768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6482" y="508438"/>
            <a:ext cx="7236008" cy="1468821"/>
          </a:xfrm>
        </p:spPr>
        <p:txBody>
          <a:bodyPr/>
          <a:lstStyle/>
          <a:p>
            <a:pPr lvl="0" indent="0" marL="0">
              <a:buNone/>
            </a:pPr>
            <a:r>
              <a:rPr/>
              <a:t>무도측정평가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96482" y="2356406"/>
            <a:ext cx="7236008" cy="22786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Jihoon, Park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409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Section 04 | 상관과 예측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사용목적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변수들간의 관련성을 분석하기 위해 사용(모든 변수는 비율, 등간척도)</a:t>
                </a:r>
              </a:p>
              <a:p>
                <a:pPr lvl="0"/>
                <a:r>
                  <a:rPr/>
                  <a:t>상관관계분석은 한 변수가 다른 변수와 관련성을 가지고 있는지의 여부와 관련성이 있다면</a:t>
                </a:r>
              </a:p>
              <a:p>
                <a:pPr lvl="0"/>
                <a:r>
                  <a:rPr/>
                  <a:t>어느 정도 있는지를 알아볼 수 있는 분석</a:t>
                </a:r>
              </a:p>
              <a:p>
                <a:pPr lvl="0"/>
                <a:r>
                  <a:rPr/>
                  <a:t>예제: 용돈과 지출과의 관계 / 운동시간과 체지방율의 관계 / 키와 앉은키의 관계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기본원리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ρ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C</m:t>
                      </m:r>
                      <m:r>
                        <m:t>o</m:t>
                      </m:r>
                      <m:r>
                        <m:t>v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 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t> </m:t>
                      </m:r>
                      <m:r>
                        <m:t>σ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t>σ</m:t>
                      </m:r>
                      <m:r>
                        <m:t>y</m:t>
                      </m:r>
                    </m:oMath>
                  </m:oMathPara>
                </a14:m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r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f>
                            <m:fPr>
                              <m:type m:val="bar"/>
                            </m:fPr>
                            <m:num>
                              <m:r>
                                <m:rPr>
                                  <m:sty m:val="p"/>
                                </m:rPr>
                                <m:t>∑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sSub>
                                <m:e>
                                  <m:r>
                                    <m:t>y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y</m:t>
                                  </m:r>
                                </m:e>
                              </m:acc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num>
                            <m:den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m:t>∑</m:t>
                                  </m:r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m:t>x</m:t>
                                      </m:r>
                                    </m:e>
                                  </m:acc>
                                  <m:sSup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m:t>)</m:t>
                                      </m:r>
                                    </m:e>
                                    <m:sup>
                                      <m: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t>1</m:t>
                                  </m:r>
                                </m:den>
                              </m:f>
                            </m:e>
                          </m:rad>
                          <m:r>
                            <m:rPr>
                              <m:sty m:val="p"/>
                            </m:rPr>
                            <m:t>×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m:t>∑</m:t>
                                  </m:r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  <m:sSub>
                                    <m:e>
                                      <m:r>
                                        <m:t>y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m:t>y</m:t>
                                      </m:r>
                                    </m:e>
                                  </m:acc>
                                  <m:sSup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m:t>)</m:t>
                                      </m:r>
                                    </m:e>
                                    <m:sup>
                                      <m: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t>1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(그림)</a:t>
                </a:r>
              </a:p>
              <a:p>
                <a:pPr lvl="0"/>
                <a:r>
                  <a:rPr/>
                  <a:t>특정변수의 분산 중에서 다른 변수와 같이 변화하는 분산(공분산)이 어느 정도 인가</a:t>
                </a:r>
              </a:p>
              <a:p>
                <a:pPr lvl="0"/>
                <a:r>
                  <a:rPr/>
                  <a:t>공통으로 변화하는 공분산이 클수록 상관도는 높아짐</a:t>
                </a:r>
              </a:p>
              <a:p>
                <a:pPr lvl="0"/>
                <a:r>
                  <a:rPr/>
                  <a:t>상관계수는 r로 표시하며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≤</m:t>
                    </m:r>
                    <m:r>
                      <m:t>r</m:t>
                    </m:r>
                    <m:r>
                      <m:rPr>
                        <m:sty m:val="p"/>
                      </m:rPr>
                      <m:t>≥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</m:oMath>
                </a14:m>
                <a:r>
                  <a:rPr/>
                  <a:t> 를 갖는다</a:t>
                </a:r>
              </a:p>
              <a:p>
                <a:pPr lvl="0"/>
                <a:r>
                  <a:rPr/>
                  <a:t>상관관계의 강도를 나타내는것이 상관계수이며, 상관계수의 제곱을 결정계수라 한다</a:t>
                </a:r>
              </a:p>
              <a:p>
                <a:pPr lvl="0"/>
                <a:r>
                  <a:rPr/>
                  <a:t>결정계수는 설명력을 나타내는데(B)의 예를 통해 보면 소득이 소비액을 설명해 주는 정도는 36% (0.6 * 0.6 = 0.36 = 36%)가 된다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상관관계의 종류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lphaUcParenBoth"/>
            </a:pPr>
            <a:r>
              <a:rPr/>
              <a:t>단순상관계수 (simple correlation)</a:t>
            </a:r>
          </a:p>
          <a:p>
            <a:pPr lvl="0" indent="-342900" marL="342900">
              <a:buAutoNum type="alphaUcParenBoth"/>
            </a:pPr>
            <a:r>
              <a:rPr/>
              <a:t>다중상관계수 (multiple correlation)</a:t>
            </a:r>
          </a:p>
          <a:p>
            <a:pPr lvl="0" indent="-342900" marL="342900">
              <a:buAutoNum type="alphaUcParenBoth"/>
            </a:pPr>
            <a:r>
              <a:rPr/>
              <a:t>부분상관계수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lvl="0" indent="0" marL="0">
              <a:buNone/>
            </a:pPr>
            <a:r>
              <a:rPr/>
              <a:t>기본모형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ρ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C</m:t>
                      </m:r>
                      <m:r>
                        <m:t>o</m:t>
                      </m:r>
                      <m:r>
                        <m:t>v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 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t> </m:t>
                      </m:r>
                      <m:r>
                        <m:t>σ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t>σ</m:t>
                      </m:r>
                      <m:r>
                        <m:t>y</m:t>
                      </m:r>
                    </m:oMath>
                  </m:oMathPara>
                </a14:m>
              </a:p>
              <a:p>
                <a:pPr lvl="0"/>
                <a:r>
                  <a:rPr/>
                  <a:t>Where, Cov(X,Y): 변수 X와 Y의 모집단 공분산 </a:t>
                </a:r>
                <a14:m>
                  <m:oMath xmlns:m="http://schemas.openxmlformats.org/officeDocument/2006/math">
                    <m:sSub>
                      <m:e>
                        <m:r>
                          <m:t>σ</m:t>
                        </m:r>
                      </m:e>
                      <m:sub>
                        <m:r>
                          <m:t>x</m:t>
                        </m:r>
                      </m:sub>
                    </m:sSub>
                  </m:oMath>
                </a14:m>
                <a:r>
                  <a:rPr/>
                  <a:t> : 변수 X의 모집단 표준편차 </a:t>
                </a:r>
                <a14:m>
                  <m:oMath xmlns:m="http://schemas.openxmlformats.org/officeDocument/2006/math">
                    <m:sSub>
                      <m:e>
                        <m:r>
                          <m:t>σ</m:t>
                        </m:r>
                      </m:e>
                      <m:sub>
                        <m:r>
                          <m:t>y</m:t>
                        </m:r>
                      </m:sub>
                    </m:sSub>
                  </m:oMath>
                </a14:m>
                <a:r>
                  <a:rPr/>
                  <a:t> : 변수 Y의 모집단 표준편차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상관분석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특정변수의 분산 중에서 다른 변수와 같이 변화하는 분산(공분산)이 어느 정도인가?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테스트 슬라이드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상관분석 Correlation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상관분석 Correlation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상관분석 Correlation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상관분석 Correlation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상관분석 Correlation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상관분석 Correlation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상관분석 Correlation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상관분석 Correlation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상관분석 Correlation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상관분석 Correlation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73</Words>
  <Application>Microsoft Macintosh PowerPoint</Application>
  <PresentationFormat>On-screen Show (16:9)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Baguet Script</vt:lpstr>
      <vt:lpstr>Calibri</vt:lpstr>
      <vt:lpstr>Cambria Math</vt:lpstr>
      <vt:lpstr>ChosunilboNM</vt:lpstr>
      <vt:lpstr>더잠실 3 Regular</vt:lpstr>
      <vt:lpstr>더잠실 5 Bold</vt:lpstr>
      <vt:lpstr>Office Theme</vt:lpstr>
      <vt:lpstr>테스트 발표</vt:lpstr>
      <vt:lpstr>제목 슬라이드</vt:lpstr>
      <vt:lpstr>연구배경</vt:lpstr>
      <vt:lpstr>연구방법</vt:lpstr>
      <vt:lpstr>결과</vt:lpstr>
      <vt:lpstr>결론</vt:lpstr>
      <vt:lpstr>회귀분석</vt:lpstr>
      <vt:lpstr>카이제곱분포</vt:lpstr>
      <vt:lpstr>기술통계</vt:lpstr>
      <vt:lpstr>연구설계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무도측정평가</dc:title>
  <dc:creator>Jihoon, Park</dc:creator>
  <cp:keywords/>
  <dcterms:created xsi:type="dcterms:W3CDTF">2026-09-30T07:18:30Z</dcterms:created>
  <dcterms:modified xsi:type="dcterms:W3CDTF">2026-09-30T07:18:30Z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liases">
    <vt:lpwstr/>
  </property>
  <property fmtid="{D5CDD505-2E9C-101B-9397-08002B2CF9AE}" pid="3" name="id">
    <vt:lpwstr>04_상관과 예측</vt:lpwstr>
  </property>
  <property fmtid="{D5CDD505-2E9C-101B-9397-08002B2CF9AE}" pid="4" name="tags">
    <vt:lpwstr/>
  </property>
</Properties>
</file>