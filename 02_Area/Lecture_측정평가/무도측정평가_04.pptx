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418" r:id="rId13"/>
    <p:sldId id="386" r:id="rId14"/>
    <p:sldId id="421" r:id="rId15"/>
    <p:sldId id="420" r:id="rId16"/>
    <p:sldId id="393" r:id="rId17"/>
    <p:sldId id="344" r:id="rId18"/>
    <p:sldId id="345" r:id="rId19"/>
    <p:sldId id="346" r:id="rId20"/>
    <p:sldId id="347" r:id="rId21"/>
    <p:sldId id="348" r:id="rId22"/>
    <p:sldId id="349" r:id="rId23"/>
    <p:sldId id="419" r:id="rId24"/>
    <p:sldId id="422" r:id="rId2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90" autoAdjust="0"/>
    <p:restoredTop sz="94675" autoAdjust="0"/>
  </p:normalViewPr>
  <p:slideViewPr>
    <p:cSldViewPr snapToGrid="0" snapToObjects="1">
      <p:cViewPr varScale="1">
        <p:scale>
          <a:sx n="159" d="100"/>
          <a:sy n="159" d="100"/>
        </p:scale>
        <p:origin x="904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6482" y="508438"/>
            <a:ext cx="7236008" cy="1468821"/>
          </a:xfrm>
        </p:spPr>
        <p:txBody>
          <a:bodyPr anchor="t"/>
          <a:lstStyle>
            <a:lvl1pPr algn="l">
              <a:defRPr lang="en-US" sz="8100" b="0" kern="1200" spc="-150" dirty="0">
                <a:solidFill>
                  <a:prstClr val="black"/>
                </a:solidFill>
                <a:latin typeface="더잠실 5 Bold" panose="00000800000000000000" pitchFamily="2" charset="-127"/>
                <a:ea typeface="더잠실 5 Bold" panose="00000800000000000000" pitchFamily="2" charset="-127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6482" y="2356406"/>
            <a:ext cx="7236008" cy="2278656"/>
          </a:xfrm>
        </p:spPr>
        <p:txBody>
          <a:bodyPr/>
          <a:lstStyle>
            <a:lvl1pPr marL="0" indent="0" algn="l">
              <a:buNone/>
              <a:defRPr lang="en-US" sz="4800" b="0" kern="120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더잠실 5 Bold" panose="00000800000000000000" pitchFamily="2" charset="-127"/>
                <a:ea typeface="더잠실 5 Bold" panose="00000800000000000000" pitchFamily="2" charset="-127"/>
                <a:cs typeface="+mj-c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 anchor="t"/>
          <a:lstStyle>
            <a:lvl1pPr algn="l">
              <a:defRPr lang="en-US" sz="1600" b="1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670" y="1745956"/>
            <a:ext cx="7847518" cy="3143439"/>
          </a:xfrm>
        </p:spPr>
        <p:txBody>
          <a:bodyPr>
            <a:normAutofit/>
          </a:bodyPr>
          <a:lstStyle>
            <a:lvl1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1pPr>
            <a:lvl2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2pPr>
            <a:lvl3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3pPr>
            <a:lvl4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4pPr>
            <a:lvl5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직사각형 2">
            <a:extLst>
              <a:ext uri="{FF2B5EF4-FFF2-40B4-BE49-F238E27FC236}">
                <a16:creationId xmlns:a16="http://schemas.microsoft.com/office/drawing/2014/main" id="{B6799193-8FCF-538C-2194-9918C7848182}"/>
              </a:ext>
            </a:extLst>
          </p:cNvPr>
          <p:cNvSpPr/>
          <p:nvPr userDrawn="1"/>
        </p:nvSpPr>
        <p:spPr>
          <a:xfrm>
            <a:off x="732226" y="960850"/>
            <a:ext cx="7679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u="sng" spc="-300" dirty="0">
                <a:solidFill>
                  <a:schemeClr val="bg1">
                    <a:lumMod val="7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상관분석</a:t>
            </a:r>
            <a:r>
              <a:rPr lang="ko-KR" altLang="en-US" sz="2000" spc="-30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Correlation</a:t>
            </a:r>
          </a:p>
        </p:txBody>
      </p:sp>
      <p:sp>
        <p:nvSpPr>
          <p:cNvPr id="5" name="직사각형 3">
            <a:extLst>
              <a:ext uri="{FF2B5EF4-FFF2-40B4-BE49-F238E27FC236}">
                <a16:creationId xmlns:a16="http://schemas.microsoft.com/office/drawing/2014/main" id="{4EC77CC4-C135-135A-B36F-F2C6C95DDE92}"/>
              </a:ext>
            </a:extLst>
          </p:cNvPr>
          <p:cNvSpPr/>
          <p:nvPr userDrawn="1"/>
        </p:nvSpPr>
        <p:spPr>
          <a:xfrm>
            <a:off x="500530" y="590968"/>
            <a:ext cx="6536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Section 04 |  </a:t>
            </a:r>
            <a:r>
              <a:rPr lang="ko-KR" altLang="en-US" sz="200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상관과 예측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409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2409" y="816768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864969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ChosunilboNM" panose="02030304000000000000" pitchFamily="18" charset="-128"/>
              </a:defRPr>
            </a:lvl1pPr>
          </a:lstStyle>
          <a:p>
            <a:fld id="{241EB5C9-1307-BA42-ABA2-0BC069CD8E7F}" type="datetimeFigureOut">
              <a:rPr lang="en-US" smtClean="0"/>
              <a:pPr/>
              <a:t>9/29/26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ChosunilboNM" panose="02030304000000000000" pitchFamily="18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ChosunilboNM" panose="02030304000000000000" pitchFamily="18" charset="-128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42900" rtl="0" eaLnBrk="1" latinLnBrk="0" hangingPunct="1">
        <a:spcBef>
          <a:spcPct val="0"/>
        </a:spcBef>
        <a:buNone/>
        <a:defRPr sz="3300" b="0" i="0" kern="1200">
          <a:solidFill>
            <a:schemeClr val="tx1"/>
          </a:solidFill>
          <a:latin typeface="ChosunilboNM" panose="02030304000000000000" pitchFamily="18" charset="-128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ChosunilboNM" panose="02030304000000000000" pitchFamily="18" charset="-128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b="0" i="0" kern="1200">
          <a:solidFill>
            <a:schemeClr val="tx1"/>
          </a:solidFill>
          <a:latin typeface="ChosunilboNM" panose="02030304000000000000" pitchFamily="18" charset="-128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b="0" i="0" kern="1200">
          <a:solidFill>
            <a:schemeClr val="tx1"/>
          </a:solidFill>
          <a:latin typeface="ChosunilboNM" panose="02030304000000000000" pitchFamily="18" charset="-128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b="0" i="0" kern="1200">
          <a:solidFill>
            <a:schemeClr val="tx1"/>
          </a:solidFill>
          <a:latin typeface="ChosunilboNM" panose="02030304000000000000" pitchFamily="18" charset="-128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b="0" i="0" kern="1200">
          <a:solidFill>
            <a:schemeClr val="tx1"/>
          </a:solidFill>
          <a:latin typeface="ChosunilboNM" panose="02030304000000000000" pitchFamily="18" charset="-128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"/><Relationship Id="rId2" Type="http://schemas.openxmlformats.org/officeDocument/2006/relationships/image" Target="../media/image9.t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"/><Relationship Id="rId2" Type="http://schemas.openxmlformats.org/officeDocument/2006/relationships/image" Target="../media/image10.t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tif"/><Relationship Id="rId4" Type="http://schemas.openxmlformats.org/officeDocument/2006/relationships/image" Target="../media/image15.t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"/><Relationship Id="rId2" Type="http://schemas.openxmlformats.org/officeDocument/2006/relationships/image" Target="../media/image17.t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t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"/><Relationship Id="rId2" Type="http://schemas.openxmlformats.org/officeDocument/2006/relationships/image" Target="../media/image20.t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tif"/><Relationship Id="rId3" Type="http://schemas.openxmlformats.org/officeDocument/2006/relationships/image" Target="../media/image9.tif"/><Relationship Id="rId7" Type="http://schemas.openxmlformats.org/officeDocument/2006/relationships/image" Target="../media/image26.tif"/><Relationship Id="rId2" Type="http://schemas.openxmlformats.org/officeDocument/2006/relationships/image" Target="../media/image22.t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tif"/><Relationship Id="rId5" Type="http://schemas.openxmlformats.org/officeDocument/2006/relationships/image" Target="../media/image24.tif"/><Relationship Id="rId4" Type="http://schemas.openxmlformats.org/officeDocument/2006/relationships/image" Target="../media/image23.tif"/><Relationship Id="rId9" Type="http://schemas.openxmlformats.org/officeDocument/2006/relationships/image" Target="../media/image28.t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tif"/><Relationship Id="rId5" Type="http://schemas.openxmlformats.org/officeDocument/2006/relationships/image" Target="../media/image32.tif"/><Relationship Id="rId4" Type="http://schemas.openxmlformats.org/officeDocument/2006/relationships/image" Target="../media/image31.ti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if"/><Relationship Id="rId2" Type="http://schemas.openxmlformats.org/officeDocument/2006/relationships/image" Target="../media/image34.t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tif"/><Relationship Id="rId5" Type="http://schemas.openxmlformats.org/officeDocument/2006/relationships/image" Target="../media/image37.tif"/><Relationship Id="rId4" Type="http://schemas.openxmlformats.org/officeDocument/2006/relationships/image" Target="../media/image36.ti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gi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6482" y="508438"/>
            <a:ext cx="7236008" cy="1468821"/>
          </a:xfrm>
        </p:spPr>
        <p:txBody>
          <a:bodyPr/>
          <a:lstStyle/>
          <a:p>
            <a:pPr marL="0" lvl="0" indent="0">
              <a:buNone/>
            </a:pPr>
            <a:r>
              <a:t>무도측정평가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6482" y="2356406"/>
            <a:ext cx="7236008" cy="227865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ko-KR" dirty="0"/>
              <a:t>Measurement and Evaluation in </a:t>
            </a:r>
            <a:br>
              <a:rPr lang="en-US" altLang="ko-KR" dirty="0"/>
            </a:br>
            <a:r>
              <a:rPr lang="en-US" altLang="ko-KR" dirty="0"/>
              <a:t>Martial Arts</a:t>
            </a:r>
            <a:endParaRPr lang="en-US" altLang="ko-KR" spc="-2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409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Section 04 | 상관과 예측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marL="0" lvl="0" indent="0">
              <a:buNone/>
            </a:pPr>
            <a:r>
              <a:t>사용목적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0"/>
                <a:r>
                  <a:rPr dirty="0"/>
                  <a:t>변수들간의 </a:t>
                </a:r>
                <a:r>
                  <a:rPr dirty="0" err="1"/>
                  <a:t>관련성을</a:t>
                </a:r>
                <a:r>
                  <a:rPr dirty="0"/>
                  <a:t> </a:t>
                </a:r>
                <a:r>
                  <a:rPr dirty="0" err="1"/>
                  <a:t>분석하기</a:t>
                </a:r>
                <a:r>
                  <a:rPr dirty="0"/>
                  <a:t> </a:t>
                </a:r>
                <a:r>
                  <a:rPr dirty="0" err="1"/>
                  <a:t>위해</a:t>
                </a:r>
                <a:r>
                  <a:rPr dirty="0"/>
                  <a:t> </a:t>
                </a:r>
                <a:r>
                  <a:rPr dirty="0" err="1"/>
                  <a:t>사용</a:t>
                </a:r>
                <a:r>
                  <a:rPr dirty="0"/>
                  <a:t>(</a:t>
                </a:r>
                <a:r>
                  <a:rPr dirty="0" err="1"/>
                  <a:t>모든</a:t>
                </a:r>
                <a:r>
                  <a:rPr dirty="0"/>
                  <a:t> </a:t>
                </a:r>
                <a:r>
                  <a:rPr dirty="0" err="1"/>
                  <a:t>변수는</a:t>
                </a:r>
                <a:r>
                  <a:rPr dirty="0"/>
                  <a:t> </a:t>
                </a:r>
                <a:r>
                  <a:rPr dirty="0" err="1"/>
                  <a:t>비율</a:t>
                </a:r>
                <a:r>
                  <a:rPr dirty="0"/>
                  <a:t>, </a:t>
                </a:r>
                <a:r>
                  <a:rPr dirty="0" err="1"/>
                  <a:t>등간척도</a:t>
                </a:r>
                <a:r>
                  <a:rPr dirty="0"/>
                  <a:t>)</a:t>
                </a:r>
              </a:p>
              <a:p>
                <a:pPr lvl="0"/>
                <a:r>
                  <a:rPr dirty="0" err="1"/>
                  <a:t>상관관계분석은</a:t>
                </a:r>
                <a:r>
                  <a:rPr dirty="0"/>
                  <a:t> </a:t>
                </a:r>
                <a:r>
                  <a:rPr dirty="0" err="1"/>
                  <a:t>한</a:t>
                </a:r>
                <a:r>
                  <a:rPr dirty="0"/>
                  <a:t> </a:t>
                </a:r>
                <a:r>
                  <a:rPr dirty="0" err="1"/>
                  <a:t>변수가</a:t>
                </a:r>
                <a:r>
                  <a:rPr dirty="0"/>
                  <a:t> </a:t>
                </a:r>
                <a:r>
                  <a:rPr dirty="0" err="1"/>
                  <a:t>다른</a:t>
                </a:r>
                <a:r>
                  <a:rPr dirty="0"/>
                  <a:t> </a:t>
                </a:r>
                <a:r>
                  <a:rPr dirty="0" err="1"/>
                  <a:t>변수와</a:t>
                </a:r>
                <a:r>
                  <a:rPr dirty="0"/>
                  <a:t> </a:t>
                </a:r>
                <a:r>
                  <a:rPr dirty="0" err="1"/>
                  <a:t>관련성을</a:t>
                </a:r>
                <a:r>
                  <a:rPr dirty="0"/>
                  <a:t> </a:t>
                </a:r>
                <a:r>
                  <a:rPr dirty="0" err="1"/>
                  <a:t>가지고</a:t>
                </a:r>
                <a:r>
                  <a:rPr dirty="0"/>
                  <a:t> </a:t>
                </a:r>
                <a:r>
                  <a:rPr dirty="0" err="1"/>
                  <a:t>있는지의</a:t>
                </a:r>
                <a:r>
                  <a:rPr dirty="0"/>
                  <a:t> </a:t>
                </a:r>
                <a:r>
                  <a:rPr dirty="0" err="1"/>
                  <a:t>여부와</a:t>
                </a:r>
                <a:r>
                  <a:rPr dirty="0"/>
                  <a:t> </a:t>
                </a:r>
                <a:r>
                  <a:rPr dirty="0" err="1"/>
                  <a:t>관련성이</a:t>
                </a:r>
                <a:r>
                  <a:rPr dirty="0"/>
                  <a:t> </a:t>
                </a:r>
                <a:r>
                  <a:rPr dirty="0" err="1"/>
                  <a:t>있다면</a:t>
                </a:r>
                <a:endParaRPr dirty="0"/>
              </a:p>
              <a:p>
                <a:pPr lvl="0"/>
                <a:r>
                  <a:rPr dirty="0" err="1"/>
                  <a:t>어느</a:t>
                </a:r>
                <a:r>
                  <a:rPr dirty="0"/>
                  <a:t> </a:t>
                </a:r>
                <a:r>
                  <a:rPr dirty="0" err="1"/>
                  <a:t>정도</a:t>
                </a:r>
                <a:r>
                  <a:rPr dirty="0"/>
                  <a:t> </a:t>
                </a:r>
                <a:r>
                  <a:rPr dirty="0" err="1"/>
                  <a:t>있는지를</a:t>
                </a:r>
                <a:r>
                  <a:rPr dirty="0"/>
                  <a:t> </a:t>
                </a:r>
                <a:r>
                  <a:rPr dirty="0" err="1"/>
                  <a:t>알아볼</a:t>
                </a:r>
                <a:r>
                  <a:rPr dirty="0"/>
                  <a:t> </a:t>
                </a:r>
                <a:r>
                  <a:rPr dirty="0" err="1"/>
                  <a:t>수</a:t>
                </a:r>
                <a:r>
                  <a:rPr dirty="0"/>
                  <a:t> </a:t>
                </a:r>
                <a:r>
                  <a:rPr dirty="0" err="1"/>
                  <a:t>있는</a:t>
                </a:r>
                <a:r>
                  <a:rPr dirty="0"/>
                  <a:t> </a:t>
                </a:r>
                <a:r>
                  <a:rPr dirty="0" err="1"/>
                  <a:t>분석</a:t>
                </a:r>
                <a:endParaRPr dirty="0"/>
              </a:p>
              <a:p>
                <a:pPr lvl="0"/>
                <a:r>
                  <a:rPr dirty="0" err="1"/>
                  <a:t>예제</a:t>
                </a:r>
                <a:r>
                  <a:rPr dirty="0"/>
                  <a:t>: </a:t>
                </a:r>
                <a:r>
                  <a:rPr dirty="0" err="1"/>
                  <a:t>용돈과</a:t>
                </a:r>
                <a:r>
                  <a:rPr dirty="0"/>
                  <a:t> </a:t>
                </a:r>
                <a:r>
                  <a:rPr dirty="0" err="1"/>
                  <a:t>지출과의</a:t>
                </a:r>
                <a:r>
                  <a:rPr dirty="0"/>
                  <a:t> </a:t>
                </a:r>
                <a:r>
                  <a:rPr dirty="0" err="1"/>
                  <a:t>관계</a:t>
                </a:r>
                <a:r>
                  <a:rPr dirty="0"/>
                  <a:t> / </a:t>
                </a:r>
                <a:r>
                  <a:rPr dirty="0" err="1"/>
                  <a:t>운동시간과</a:t>
                </a:r>
                <a:r>
                  <a:rPr dirty="0"/>
                  <a:t> </a:t>
                </a:r>
                <a:r>
                  <a:rPr dirty="0" err="1"/>
                  <a:t>체지방율의</a:t>
                </a:r>
                <a:r>
                  <a:rPr dirty="0"/>
                  <a:t> </a:t>
                </a:r>
                <a:r>
                  <a:rPr dirty="0" err="1"/>
                  <a:t>관계</a:t>
                </a:r>
                <a:r>
                  <a:rPr dirty="0"/>
                  <a:t> / </a:t>
                </a:r>
                <a:r>
                  <a:rPr dirty="0" err="1"/>
                  <a:t>키와</a:t>
                </a:r>
                <a:r>
                  <a:rPr dirty="0"/>
                  <a:t> </a:t>
                </a:r>
                <a:r>
                  <a:rPr dirty="0" err="1"/>
                  <a:t>앉은키의</a:t>
                </a:r>
                <a:r>
                  <a:rPr dirty="0"/>
                  <a:t> </a:t>
                </a:r>
                <a:r>
                  <a:rPr dirty="0" err="1"/>
                  <a:t>관계</a:t>
                </a:r>
                <a:endParaRPr dirty="0"/>
              </a:p>
              <a:p>
                <a:pPr marL="0" lvl="0" indent="0">
                  <a:spcBef>
                    <a:spcPts val="3000"/>
                  </a:spcBef>
                  <a:buNone/>
                </a:pPr>
                <a:r>
                  <a:rPr b="1" dirty="0" err="1"/>
                  <a:t>기본원리</a:t>
                </a:r>
                <a:endParaRPr b="1" dirty="0"/>
              </a:p>
              <a:p>
                <a:pPr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𝜌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 / </m:t>
                    </m:r>
                    <m:r>
                      <a:rPr>
                        <a:latin typeface="Cambria Math" panose="02040503050406030204" pitchFamily="18" charset="0"/>
                      </a:rPr>
                      <m:t>𝜎</m:t>
                    </m:r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  <m:r>
                      <a:rPr>
                        <a:latin typeface="Cambria Math" panose="02040503050406030204" pitchFamily="18" charset="0"/>
                      </a:rPr>
                      <m:t>⋅</m:t>
                    </m:r>
                    <m:r>
                      <a:rPr>
                        <a:latin typeface="Cambria Math" panose="02040503050406030204" pitchFamily="18" charset="0"/>
                      </a:rPr>
                      <m:t>𝜎</m:t>
                    </m:r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1" dirty="0"/>
                  <a:t>						</a:t>
                </a:r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𝑟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∑</m:t>
                            </m:r>
                            <m:d>
                              <m:dPr>
                                <m:ctrlPr>
                                  <a:rPr lang="ar-AE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‾"/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  <m:d>
                              <m:dPr>
                                <m:ctrlPr>
                                  <a:rPr lang="ar-AE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‾"/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</m:num>
                          <m:den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num>
                      <m:den>
                        <m:rad>
                          <m:radPr>
                            <m:degHide m:val="on"/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ar-AE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∑</m:t>
                                </m:r>
                                <m:sSup>
                                  <m:sSup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‾"/>
                                            <m:ctrlP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den>
                            </m:f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×</m:t>
                            </m:r>
                            <m:f>
                              <m:fPr>
                                <m:ctrlPr>
                                  <a:rPr lang="ar-AE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∑</m:t>
                                </m:r>
                                <m:sSup>
                                  <m:sSup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‾"/>
                                            <m:ctrlP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den>
                            </m:f>
                          </m:e>
                        </m:rad>
                      </m:den>
                    </m:f>
                  </m:oMath>
                </a14:m>
                <a:endParaRPr lang="ar-AE" dirty="0">
                  <a:cs typeface="ChosunilboNM" panose="02030304000000000000" pitchFamily="18" charset="-128"/>
                </a:endParaRPr>
              </a:p>
              <a:p>
                <a:pPr lvl="0"/>
                <a:endParaRPr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5" t="-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24670" y="3556583"/>
                <a:ext cx="7847518" cy="1480637"/>
              </a:xfrm>
            </p:spPr>
            <p:txBody>
              <a:bodyPr>
                <a:normAutofit lnSpcReduction="10000"/>
              </a:bodyPr>
              <a:lstStyle/>
              <a:p>
                <a:pPr lvl="0"/>
                <a:r>
                  <a:rPr sz="1400" spc="0" dirty="0" err="1"/>
                  <a:t>특정변수의</a:t>
                </a:r>
                <a:r>
                  <a:rPr sz="1400" spc="0" dirty="0"/>
                  <a:t> </a:t>
                </a:r>
                <a:r>
                  <a:rPr sz="1400" spc="0" dirty="0" err="1"/>
                  <a:t>분산</a:t>
                </a:r>
                <a:r>
                  <a:rPr sz="1400" spc="0" dirty="0"/>
                  <a:t> </a:t>
                </a:r>
                <a:r>
                  <a:rPr sz="1400" spc="0" dirty="0" err="1"/>
                  <a:t>중에서</a:t>
                </a:r>
                <a:r>
                  <a:rPr sz="1400" spc="0" dirty="0"/>
                  <a:t> </a:t>
                </a:r>
                <a:r>
                  <a:rPr sz="1400" spc="0" dirty="0" err="1"/>
                  <a:t>다른</a:t>
                </a:r>
                <a:r>
                  <a:rPr sz="1400" spc="0" dirty="0"/>
                  <a:t> </a:t>
                </a:r>
                <a:r>
                  <a:rPr sz="1400" spc="0" dirty="0" err="1"/>
                  <a:t>변수와</a:t>
                </a:r>
                <a:r>
                  <a:rPr sz="1400" spc="0" dirty="0"/>
                  <a:t> </a:t>
                </a:r>
                <a:r>
                  <a:rPr sz="1400" spc="0" dirty="0" err="1"/>
                  <a:t>같이</a:t>
                </a:r>
                <a:r>
                  <a:rPr sz="1400" spc="0" dirty="0"/>
                  <a:t> </a:t>
                </a:r>
                <a:r>
                  <a:rPr sz="1400" spc="0" dirty="0" err="1"/>
                  <a:t>변화하는</a:t>
                </a:r>
                <a:r>
                  <a:rPr sz="1400" spc="0" dirty="0"/>
                  <a:t> </a:t>
                </a:r>
                <a:r>
                  <a:rPr sz="1400" spc="0" dirty="0" err="1"/>
                  <a:t>분산</a:t>
                </a:r>
                <a:r>
                  <a:rPr sz="1400" spc="0" dirty="0"/>
                  <a:t>(</a:t>
                </a:r>
                <a:r>
                  <a:rPr sz="1400" spc="0" dirty="0" err="1"/>
                  <a:t>공분산</a:t>
                </a:r>
                <a:r>
                  <a:rPr sz="1400" spc="0" dirty="0"/>
                  <a:t>)</a:t>
                </a:r>
                <a:r>
                  <a:rPr sz="1400" spc="0" dirty="0" err="1"/>
                  <a:t>이</a:t>
                </a:r>
                <a:r>
                  <a:rPr sz="1400" spc="0" dirty="0"/>
                  <a:t> </a:t>
                </a:r>
                <a:r>
                  <a:rPr sz="1400" spc="0" dirty="0" err="1"/>
                  <a:t>어느</a:t>
                </a:r>
                <a:r>
                  <a:rPr sz="1400" spc="0" dirty="0"/>
                  <a:t> </a:t>
                </a:r>
                <a:r>
                  <a:rPr sz="1400" spc="0" dirty="0" err="1"/>
                  <a:t>정도</a:t>
                </a:r>
                <a:r>
                  <a:rPr sz="1400" spc="0" dirty="0"/>
                  <a:t> </a:t>
                </a:r>
                <a:r>
                  <a:rPr sz="1400" spc="0" dirty="0" err="1"/>
                  <a:t>인가</a:t>
                </a:r>
                <a:endParaRPr sz="1400" spc="0" dirty="0"/>
              </a:p>
              <a:p>
                <a:pPr lvl="0"/>
                <a:r>
                  <a:rPr sz="1400" spc="0" dirty="0" err="1"/>
                  <a:t>공통으로</a:t>
                </a:r>
                <a:r>
                  <a:rPr sz="1400" spc="0" dirty="0"/>
                  <a:t> </a:t>
                </a:r>
                <a:r>
                  <a:rPr sz="1400" spc="0" dirty="0" err="1"/>
                  <a:t>변화하는</a:t>
                </a:r>
                <a:r>
                  <a:rPr sz="1400" spc="0" dirty="0"/>
                  <a:t> </a:t>
                </a:r>
                <a:r>
                  <a:rPr sz="1400" spc="0" dirty="0" err="1"/>
                  <a:t>공분산이</a:t>
                </a:r>
                <a:r>
                  <a:rPr sz="1400" spc="0" dirty="0"/>
                  <a:t> </a:t>
                </a:r>
                <a:r>
                  <a:rPr sz="1400" spc="0" dirty="0" err="1"/>
                  <a:t>클수록</a:t>
                </a:r>
                <a:r>
                  <a:rPr sz="1400" spc="0" dirty="0"/>
                  <a:t> </a:t>
                </a:r>
                <a:r>
                  <a:rPr sz="1400" spc="0" dirty="0" err="1"/>
                  <a:t>상관도는</a:t>
                </a:r>
                <a:r>
                  <a:rPr sz="1400" spc="0" dirty="0"/>
                  <a:t> </a:t>
                </a:r>
                <a:r>
                  <a:rPr sz="1400" spc="0" dirty="0" err="1"/>
                  <a:t>높아짐</a:t>
                </a:r>
                <a:endParaRPr sz="1400" spc="0" dirty="0"/>
              </a:p>
              <a:p>
                <a:pPr lvl="0"/>
                <a:r>
                  <a:rPr sz="1400" spc="0" dirty="0" err="1"/>
                  <a:t>상관계수는</a:t>
                </a:r>
                <a:r>
                  <a:rPr sz="1400" spc="0" dirty="0"/>
                  <a:t> </a:t>
                </a:r>
                <a:r>
                  <a:rPr sz="1400" spc="0" dirty="0" err="1"/>
                  <a:t>r로</a:t>
                </a:r>
                <a:r>
                  <a:rPr sz="1400" spc="0" dirty="0"/>
                  <a:t> </a:t>
                </a:r>
                <a:r>
                  <a:rPr sz="1400" spc="0" dirty="0" err="1"/>
                  <a:t>표시하며</a:t>
                </a:r>
                <a:r>
                  <a:rPr sz="1400" spc="0" dirty="0"/>
                  <a:t> </a:t>
                </a:r>
                <a14:m>
                  <m:oMath xmlns:m="http://schemas.openxmlformats.org/officeDocument/2006/math">
                    <m:r>
                      <a:rPr sz="1400" spc="0">
                        <a:latin typeface="Cambria Math" panose="02040503050406030204" pitchFamily="18" charset="0"/>
                      </a:rPr>
                      <m:t>−1≤</m:t>
                    </m:r>
                    <m:r>
                      <a:rPr sz="1400" spc="0">
                        <a:latin typeface="Cambria Math" panose="02040503050406030204" pitchFamily="18" charset="0"/>
                      </a:rPr>
                      <m:t>𝑟</m:t>
                    </m:r>
                    <m:r>
                      <a:rPr sz="1400" spc="0">
                        <a:latin typeface="Cambria Math" panose="02040503050406030204" pitchFamily="18" charset="0"/>
                      </a:rPr>
                      <m:t>≥+1</m:t>
                    </m:r>
                  </m:oMath>
                </a14:m>
                <a:r>
                  <a:rPr sz="1400" spc="0" dirty="0"/>
                  <a:t> </a:t>
                </a:r>
                <a:r>
                  <a:rPr sz="1400" spc="0" dirty="0" err="1"/>
                  <a:t>를</a:t>
                </a:r>
                <a:r>
                  <a:rPr sz="1400" spc="0" dirty="0"/>
                  <a:t> </a:t>
                </a:r>
                <a:r>
                  <a:rPr sz="1400" spc="0" dirty="0" err="1"/>
                  <a:t>갖는다</a:t>
                </a:r>
                <a:endParaRPr sz="1400" spc="0" dirty="0"/>
              </a:p>
              <a:p>
                <a:pPr lvl="0"/>
                <a:r>
                  <a:rPr sz="1400" spc="0" dirty="0" err="1"/>
                  <a:t>상관관계의</a:t>
                </a:r>
                <a:r>
                  <a:rPr sz="1400" spc="0" dirty="0"/>
                  <a:t> </a:t>
                </a:r>
                <a:r>
                  <a:rPr sz="1400" spc="0" dirty="0" err="1"/>
                  <a:t>강도를</a:t>
                </a:r>
                <a:r>
                  <a:rPr sz="1400" spc="0" dirty="0"/>
                  <a:t> </a:t>
                </a:r>
                <a:r>
                  <a:rPr sz="1400" spc="0" dirty="0" err="1"/>
                  <a:t>나타내는것이</a:t>
                </a:r>
                <a:r>
                  <a:rPr sz="1400" spc="0" dirty="0"/>
                  <a:t> </a:t>
                </a:r>
                <a:r>
                  <a:rPr sz="1400" spc="0" dirty="0" err="1"/>
                  <a:t>상관계수이며</a:t>
                </a:r>
                <a:r>
                  <a:rPr sz="1400" spc="0" dirty="0"/>
                  <a:t>, </a:t>
                </a:r>
                <a:r>
                  <a:rPr sz="1400" spc="0" dirty="0" err="1"/>
                  <a:t>상관계수의</a:t>
                </a:r>
                <a:r>
                  <a:rPr sz="1400" spc="0" dirty="0"/>
                  <a:t> </a:t>
                </a:r>
                <a:r>
                  <a:rPr sz="1400" spc="0" dirty="0" err="1"/>
                  <a:t>제곱을</a:t>
                </a:r>
                <a:r>
                  <a:rPr sz="1400" spc="0" dirty="0"/>
                  <a:t> </a:t>
                </a:r>
                <a:r>
                  <a:rPr sz="1400" spc="0" dirty="0" err="1"/>
                  <a:t>결정계수라</a:t>
                </a:r>
                <a:r>
                  <a:rPr sz="1400" spc="0" dirty="0"/>
                  <a:t> </a:t>
                </a:r>
                <a:r>
                  <a:rPr sz="1400" spc="0" dirty="0" err="1"/>
                  <a:t>한다</a:t>
                </a:r>
                <a:endParaRPr sz="1400" spc="0" dirty="0"/>
              </a:p>
              <a:p>
                <a:pPr lvl="0"/>
                <a:r>
                  <a:rPr sz="1400" spc="0" dirty="0" err="1"/>
                  <a:t>결정계수는</a:t>
                </a:r>
                <a:r>
                  <a:rPr sz="1400" spc="0" dirty="0"/>
                  <a:t> </a:t>
                </a:r>
                <a:r>
                  <a:rPr sz="1400" spc="0" dirty="0" err="1"/>
                  <a:t>설명력을</a:t>
                </a:r>
                <a:r>
                  <a:rPr sz="1400" spc="0" dirty="0"/>
                  <a:t> </a:t>
                </a:r>
                <a:r>
                  <a:rPr sz="1400" spc="0" dirty="0" err="1"/>
                  <a:t>나타내는데</a:t>
                </a:r>
                <a:r>
                  <a:rPr sz="1400" spc="0" dirty="0"/>
                  <a:t>(B)</a:t>
                </a:r>
                <a:r>
                  <a:rPr sz="1400" spc="0" dirty="0" err="1"/>
                  <a:t>의</a:t>
                </a:r>
                <a:r>
                  <a:rPr sz="1400" spc="0" dirty="0"/>
                  <a:t> </a:t>
                </a:r>
                <a:r>
                  <a:rPr sz="1400" spc="0" dirty="0" err="1"/>
                  <a:t>예를</a:t>
                </a:r>
                <a:r>
                  <a:rPr sz="1400" spc="0" dirty="0"/>
                  <a:t> </a:t>
                </a:r>
                <a:r>
                  <a:rPr sz="1400" spc="0" dirty="0" err="1"/>
                  <a:t>통해</a:t>
                </a:r>
                <a:r>
                  <a:rPr sz="1400" spc="0" dirty="0"/>
                  <a:t> </a:t>
                </a:r>
                <a:r>
                  <a:rPr sz="1400" spc="0" dirty="0" err="1"/>
                  <a:t>보면</a:t>
                </a:r>
                <a:r>
                  <a:rPr sz="1400" spc="0" dirty="0"/>
                  <a:t> </a:t>
                </a:r>
                <a:r>
                  <a:rPr sz="1400" spc="0" dirty="0" err="1"/>
                  <a:t>소득이</a:t>
                </a:r>
                <a:r>
                  <a:rPr sz="1400" spc="0" dirty="0"/>
                  <a:t> </a:t>
                </a:r>
                <a:r>
                  <a:rPr sz="1400" spc="0" dirty="0" err="1"/>
                  <a:t>소비액을</a:t>
                </a:r>
                <a:r>
                  <a:rPr sz="1400" spc="0" dirty="0"/>
                  <a:t> </a:t>
                </a:r>
                <a:r>
                  <a:rPr sz="1400" spc="0" dirty="0" err="1"/>
                  <a:t>설명해</a:t>
                </a:r>
                <a:r>
                  <a:rPr sz="1400" spc="0" dirty="0"/>
                  <a:t> </a:t>
                </a:r>
                <a:r>
                  <a:rPr sz="1400" spc="0" dirty="0" err="1"/>
                  <a:t>주는</a:t>
                </a:r>
                <a:r>
                  <a:rPr sz="1400" spc="0" dirty="0"/>
                  <a:t> </a:t>
                </a:r>
                <a:r>
                  <a:rPr sz="1400" spc="0" dirty="0" err="1"/>
                  <a:t>정도는</a:t>
                </a:r>
                <a:r>
                  <a:rPr sz="1400" spc="0" dirty="0"/>
                  <a:t> 36% </a:t>
                </a:r>
                <a:br>
                  <a:rPr lang="en-US" sz="1400" spc="0" dirty="0"/>
                </a:br>
                <a:r>
                  <a:rPr sz="1400" spc="0" dirty="0"/>
                  <a:t>(0.6 * 0.6 = 0.36 = 36%)</a:t>
                </a:r>
                <a:r>
                  <a:rPr sz="1400" spc="0" dirty="0" err="1"/>
                  <a:t>가</a:t>
                </a:r>
                <a:r>
                  <a:rPr sz="1400" spc="0" dirty="0"/>
                  <a:t> </a:t>
                </a:r>
                <a:r>
                  <a:rPr sz="1400" spc="0" dirty="0" err="1"/>
                  <a:t>된다</a:t>
                </a:r>
                <a:endParaRPr sz="1400" spc="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4670" y="3556583"/>
                <a:ext cx="7847518" cy="1480637"/>
              </a:xfrm>
              <a:blipFill>
                <a:blip r:embed="rId2"/>
                <a:stretch>
                  <a:fillRect l="-162" t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그룹 6">
            <a:extLst>
              <a:ext uri="{FF2B5EF4-FFF2-40B4-BE49-F238E27FC236}">
                <a16:creationId xmlns:a16="http://schemas.microsoft.com/office/drawing/2014/main" id="{C66D2787-0450-21DD-E370-5A817E3045D2}"/>
              </a:ext>
            </a:extLst>
          </p:cNvPr>
          <p:cNvGrpSpPr/>
          <p:nvPr/>
        </p:nvGrpSpPr>
        <p:grpSpPr>
          <a:xfrm>
            <a:off x="795025" y="1384885"/>
            <a:ext cx="7777163" cy="2128837"/>
            <a:chOff x="971550" y="2852738"/>
            <a:chExt cx="7777163" cy="2128837"/>
          </a:xfrm>
        </p:grpSpPr>
        <p:grpSp>
          <p:nvGrpSpPr>
            <p:cNvPr id="5" name="Group 35">
              <a:extLst>
                <a:ext uri="{FF2B5EF4-FFF2-40B4-BE49-F238E27FC236}">
                  <a16:creationId xmlns:a16="http://schemas.microsoft.com/office/drawing/2014/main" id="{1915ED61-805F-D498-9BEF-188DA55BCA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888" y="3284538"/>
              <a:ext cx="1617662" cy="1008062"/>
              <a:chOff x="793" y="2160"/>
              <a:chExt cx="1019" cy="635"/>
            </a:xfrm>
          </p:grpSpPr>
          <p:sp>
            <p:nvSpPr>
              <p:cNvPr id="31" name="Oval 4">
                <a:extLst>
                  <a:ext uri="{FF2B5EF4-FFF2-40B4-BE49-F238E27FC236}">
                    <a16:creationId xmlns:a16="http://schemas.microsoft.com/office/drawing/2014/main" id="{3331CA54-FB25-DF7A-99A7-0BB93BB147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2160"/>
                <a:ext cx="635" cy="63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32" name="Oval 5">
                <a:extLst>
                  <a:ext uri="{FF2B5EF4-FFF2-40B4-BE49-F238E27FC236}">
                    <a16:creationId xmlns:a16="http://schemas.microsoft.com/office/drawing/2014/main" id="{F7F8CA69-CBDB-60CD-2CCD-E3C6F6CCF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6" y="2160"/>
                <a:ext cx="635" cy="63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33" name="Freeform 14" descr="넓은 하향 대각선">
                <a:extLst>
                  <a:ext uri="{FF2B5EF4-FFF2-40B4-BE49-F238E27FC236}">
                    <a16:creationId xmlns:a16="http://schemas.microsoft.com/office/drawing/2014/main" id="{FFFE7C31-1966-CC7F-A80C-7D11AB5B8F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6" y="2198"/>
                <a:ext cx="272" cy="559"/>
              </a:xfrm>
              <a:custGeom>
                <a:avLst/>
                <a:gdLst>
                  <a:gd name="T0" fmla="*/ 136 w 272"/>
                  <a:gd name="T1" fmla="*/ 7 h 559"/>
                  <a:gd name="T2" fmla="*/ 0 w 272"/>
                  <a:gd name="T3" fmla="*/ 234 h 559"/>
                  <a:gd name="T4" fmla="*/ 136 w 272"/>
                  <a:gd name="T5" fmla="*/ 552 h 559"/>
                  <a:gd name="T6" fmla="*/ 272 w 272"/>
                  <a:gd name="T7" fmla="*/ 279 h 559"/>
                  <a:gd name="T8" fmla="*/ 136 w 272"/>
                  <a:gd name="T9" fmla="*/ 7 h 5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2"/>
                  <a:gd name="T16" fmla="*/ 0 h 559"/>
                  <a:gd name="T17" fmla="*/ 272 w 272"/>
                  <a:gd name="T18" fmla="*/ 559 h 5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2" h="559">
                    <a:moveTo>
                      <a:pt x="136" y="7"/>
                    </a:moveTo>
                    <a:cubicBezTo>
                      <a:pt x="91" y="0"/>
                      <a:pt x="0" y="143"/>
                      <a:pt x="0" y="234"/>
                    </a:cubicBezTo>
                    <a:cubicBezTo>
                      <a:pt x="0" y="325"/>
                      <a:pt x="91" y="545"/>
                      <a:pt x="136" y="552"/>
                    </a:cubicBezTo>
                    <a:cubicBezTo>
                      <a:pt x="181" y="559"/>
                      <a:pt x="272" y="370"/>
                      <a:pt x="272" y="279"/>
                    </a:cubicBezTo>
                    <a:cubicBezTo>
                      <a:pt x="272" y="188"/>
                      <a:pt x="181" y="14"/>
                      <a:pt x="136" y="7"/>
                    </a:cubicBezTo>
                    <a:close/>
                  </a:path>
                </a:pathLst>
              </a:custGeom>
              <a:pattFill prst="wdDnDiag">
                <a:fgClr>
                  <a:srgbClr val="000000"/>
                </a:fgClr>
                <a:bgClr>
                  <a:schemeClr val="bg1"/>
                </a:bgClr>
              </a:patt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 dirty="0">
                  <a:latin typeface="ChosunilboNM" panose="02030304000000000000" pitchFamily="18" charset="-128"/>
                </a:endParaRPr>
              </a:p>
            </p:txBody>
          </p:sp>
          <p:sp>
            <p:nvSpPr>
              <p:cNvPr id="34" name="Text Box 17">
                <a:extLst>
                  <a:ext uri="{FF2B5EF4-FFF2-40B4-BE49-F238E27FC236}">
                    <a16:creationId xmlns:a16="http://schemas.microsoft.com/office/drawing/2014/main" id="{CD6175AC-28A7-BCC5-875B-90D6F86158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2" y="2320"/>
                <a:ext cx="356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r>
                  <a:rPr lang="en-US" altLang="ko-KR" sz="1000"/>
                  <a:t>X</a:t>
                </a:r>
              </a:p>
              <a:p>
                <a:pPr eaLnBrk="1" hangingPunct="1"/>
                <a:r>
                  <a:rPr lang="ko-KR" altLang="en-US" sz="1000"/>
                  <a:t>소득의</a:t>
                </a:r>
              </a:p>
              <a:p>
                <a:pPr eaLnBrk="1" hangingPunct="1"/>
                <a:r>
                  <a:rPr lang="ko-KR" altLang="en-US" sz="1000"/>
                  <a:t>분산</a:t>
                </a:r>
              </a:p>
            </p:txBody>
          </p:sp>
          <p:sp>
            <p:nvSpPr>
              <p:cNvPr id="35" name="Text Box 18">
                <a:extLst>
                  <a:ext uri="{FF2B5EF4-FFF2-40B4-BE49-F238E27FC236}">
                    <a16:creationId xmlns:a16="http://schemas.microsoft.com/office/drawing/2014/main" id="{7C1580CA-B792-2948-9999-CCF591C726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6" y="2332"/>
                <a:ext cx="436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r>
                  <a:rPr lang="en-US" altLang="ko-KR" sz="1000" dirty="0"/>
                  <a:t>Y</a:t>
                </a:r>
              </a:p>
              <a:p>
                <a:pPr eaLnBrk="1" hangingPunct="1"/>
                <a:r>
                  <a:rPr lang="ko-KR" altLang="en-US" sz="1000" dirty="0"/>
                  <a:t>소비액의</a:t>
                </a:r>
              </a:p>
              <a:p>
                <a:pPr eaLnBrk="1" hangingPunct="1"/>
                <a:r>
                  <a:rPr lang="ko-KR" altLang="en-US" sz="1000" dirty="0"/>
                  <a:t>분산</a:t>
                </a:r>
              </a:p>
            </p:txBody>
          </p:sp>
        </p:grpSp>
        <p:sp>
          <p:nvSpPr>
            <p:cNvPr id="6" name="Text Box 19">
              <a:extLst>
                <a:ext uri="{FF2B5EF4-FFF2-40B4-BE49-F238E27FC236}">
                  <a16:creationId xmlns:a16="http://schemas.microsoft.com/office/drawing/2014/main" id="{206D40D7-3091-CBCA-865E-F13F907E46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5150" y="2852738"/>
              <a:ext cx="4683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/>
                <a:t>(A)</a:t>
              </a:r>
            </a:p>
          </p:txBody>
        </p:sp>
        <p:sp>
          <p:nvSpPr>
            <p:cNvPr id="7" name="Text Box 20">
              <a:extLst>
                <a:ext uri="{FF2B5EF4-FFF2-40B4-BE49-F238E27FC236}">
                  <a16:creationId xmlns:a16="http://schemas.microsoft.com/office/drawing/2014/main" id="{D516DCBD-9497-7507-B7EF-154C43C8A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5075" y="2852738"/>
              <a:ext cx="4746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/>
                <a:t>(B)</a:t>
              </a:r>
            </a:p>
          </p:txBody>
        </p:sp>
        <p:sp>
          <p:nvSpPr>
            <p:cNvPr id="8" name="Text Box 21">
              <a:extLst>
                <a:ext uri="{FF2B5EF4-FFF2-40B4-BE49-F238E27FC236}">
                  <a16:creationId xmlns:a16="http://schemas.microsoft.com/office/drawing/2014/main" id="{02C41393-03BC-3BAD-8BB3-9DB458C2DF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5150" y="2852738"/>
              <a:ext cx="4826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/>
                <a:t>(C)</a:t>
              </a:r>
            </a:p>
          </p:txBody>
        </p:sp>
        <p:sp>
          <p:nvSpPr>
            <p:cNvPr id="9" name="Text Box 22">
              <a:extLst>
                <a:ext uri="{FF2B5EF4-FFF2-40B4-BE49-F238E27FC236}">
                  <a16:creationId xmlns:a16="http://schemas.microsoft.com/office/drawing/2014/main" id="{FD702605-A780-29DA-8066-DF177FC11E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2350" y="2852738"/>
              <a:ext cx="4826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/>
                <a:t>(D)</a:t>
              </a:r>
            </a:p>
          </p:txBody>
        </p:sp>
        <p:sp>
          <p:nvSpPr>
            <p:cNvPr id="10" name="Text Box 23">
              <a:extLst>
                <a:ext uri="{FF2B5EF4-FFF2-40B4-BE49-F238E27FC236}">
                  <a16:creationId xmlns:a16="http://schemas.microsoft.com/office/drawing/2014/main" id="{4761C8C8-E332-881A-E948-F176438F43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7625" y="4437063"/>
              <a:ext cx="1495425" cy="544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ko-KR" altLang="en-US" sz="900"/>
                <a:t>공분산</a:t>
              </a:r>
              <a:r>
                <a:rPr lang="en-US" altLang="ko-KR" sz="900"/>
                <a:t>(16%)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en-US" altLang="ko-KR" sz="900"/>
                <a:t>r(</a:t>
              </a:r>
              <a:r>
                <a:rPr lang="ko-KR" altLang="en-US" sz="900"/>
                <a:t>상관관계수</a:t>
              </a:r>
              <a:r>
                <a:rPr lang="en-US" altLang="ko-KR" sz="900"/>
                <a:t>)=0.4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en-US" altLang="ko-KR" sz="900"/>
                <a:t>r</a:t>
              </a:r>
              <a:r>
                <a:rPr lang="en-US" altLang="ko-KR" sz="900" baseline="30000"/>
                <a:t>2</a:t>
              </a:r>
              <a:r>
                <a:rPr lang="en-US" altLang="ko-KR" sz="900"/>
                <a:t>(</a:t>
              </a:r>
              <a:r>
                <a:rPr lang="ko-KR" altLang="en-US" sz="900"/>
                <a:t>결정계수</a:t>
              </a:r>
              <a:r>
                <a:rPr lang="en-US" altLang="ko-KR" sz="900"/>
                <a:t>,</a:t>
              </a:r>
              <a:r>
                <a:rPr lang="ko-KR" altLang="en-US" sz="900"/>
                <a:t>설명력</a:t>
              </a:r>
              <a:r>
                <a:rPr lang="en-US" altLang="ko-KR" sz="900"/>
                <a:t>)=0.16</a:t>
              </a:r>
            </a:p>
          </p:txBody>
        </p:sp>
        <p:sp>
          <p:nvSpPr>
            <p:cNvPr id="11" name="Line 24">
              <a:extLst>
                <a:ext uri="{FF2B5EF4-FFF2-40B4-BE49-F238E27FC236}">
                  <a16:creationId xmlns:a16="http://schemas.microsoft.com/office/drawing/2014/main" id="{F2796391-C48F-EFCD-4C7F-52F5FA7141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1050" y="4076700"/>
              <a:ext cx="0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 dirty="0">
                <a:latin typeface="ChosunilboNM" panose="02030304000000000000" pitchFamily="18" charset="-128"/>
              </a:endParaRPr>
            </a:p>
          </p:txBody>
        </p:sp>
        <p:sp>
          <p:nvSpPr>
            <p:cNvPr id="12" name="Text Box 25">
              <a:extLst>
                <a:ext uri="{FF2B5EF4-FFF2-40B4-BE49-F238E27FC236}">
                  <a16:creationId xmlns:a16="http://schemas.microsoft.com/office/drawing/2014/main" id="{55DDFC91-D1D1-9219-0AD7-74F4F25633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3950" y="4437063"/>
              <a:ext cx="571500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en-US" altLang="ko-KR" sz="900"/>
                <a:t>r=0.6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en-US" altLang="ko-KR" sz="900"/>
                <a:t>r</a:t>
              </a:r>
              <a:r>
                <a:rPr lang="en-US" altLang="ko-KR" sz="900" baseline="30000"/>
                <a:t>2</a:t>
              </a:r>
              <a:r>
                <a:rPr lang="en-US" altLang="ko-KR" sz="900"/>
                <a:t>=0.36</a:t>
              </a:r>
            </a:p>
          </p:txBody>
        </p:sp>
        <p:sp>
          <p:nvSpPr>
            <p:cNvPr id="13" name="Text Box 26">
              <a:extLst>
                <a:ext uri="{FF2B5EF4-FFF2-40B4-BE49-F238E27FC236}">
                  <a16:creationId xmlns:a16="http://schemas.microsoft.com/office/drawing/2014/main" id="{88006057-3F2A-E65E-70C7-26658330CA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8475" y="4437063"/>
              <a:ext cx="571500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en-US" altLang="ko-KR" sz="900"/>
                <a:t>r=0.9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en-US" altLang="ko-KR" sz="900"/>
                <a:t>r</a:t>
              </a:r>
              <a:r>
                <a:rPr lang="en-US" altLang="ko-KR" sz="900" baseline="30000"/>
                <a:t>2</a:t>
              </a:r>
              <a:r>
                <a:rPr lang="en-US" altLang="ko-KR" sz="900"/>
                <a:t>=0.81</a:t>
              </a:r>
            </a:p>
          </p:txBody>
        </p:sp>
        <p:sp>
          <p:nvSpPr>
            <p:cNvPr id="14" name="Text Box 27">
              <a:extLst>
                <a:ext uri="{FF2B5EF4-FFF2-40B4-BE49-F238E27FC236}">
                  <a16:creationId xmlns:a16="http://schemas.microsoft.com/office/drawing/2014/main" id="{21F860C7-ED7F-AD62-5F22-2E239667E0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1400" y="4437063"/>
              <a:ext cx="403225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en-US" altLang="ko-KR" sz="900"/>
                <a:t>r=1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en-US" altLang="ko-KR" sz="900"/>
                <a:t>r</a:t>
              </a:r>
              <a:r>
                <a:rPr lang="en-US" altLang="ko-KR" sz="900" baseline="30000"/>
                <a:t>2</a:t>
              </a:r>
              <a:r>
                <a:rPr lang="en-US" altLang="ko-KR" sz="900"/>
                <a:t>=1</a:t>
              </a:r>
            </a:p>
          </p:txBody>
        </p:sp>
        <p:grpSp>
          <p:nvGrpSpPr>
            <p:cNvPr id="15" name="Group 36">
              <a:extLst>
                <a:ext uri="{FF2B5EF4-FFF2-40B4-BE49-F238E27FC236}">
                  <a16:creationId xmlns:a16="http://schemas.microsoft.com/office/drawing/2014/main" id="{40B4A8C6-2FC6-0CC5-9F43-1C7593052E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1988" y="3284538"/>
              <a:ext cx="1584325" cy="1008062"/>
              <a:chOff x="2017" y="2160"/>
              <a:chExt cx="998" cy="635"/>
            </a:xfrm>
          </p:grpSpPr>
          <p:sp>
            <p:nvSpPr>
              <p:cNvPr id="26" name="Oval 6">
                <a:extLst>
                  <a:ext uri="{FF2B5EF4-FFF2-40B4-BE49-F238E27FC236}">
                    <a16:creationId xmlns:a16="http://schemas.microsoft.com/office/drawing/2014/main" id="{D6DB3C91-2581-FAE6-86FC-EE0A53E59D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7" y="2160"/>
                <a:ext cx="635" cy="63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27" name="Oval 7">
                <a:extLst>
                  <a:ext uri="{FF2B5EF4-FFF2-40B4-BE49-F238E27FC236}">
                    <a16:creationId xmlns:a16="http://schemas.microsoft.com/office/drawing/2014/main" id="{5741B91F-5EA7-6640-B777-309D2DAFCC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0" y="2160"/>
                <a:ext cx="635" cy="63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28" name="Freeform 15" descr="넓은 하향 대각선">
                <a:extLst>
                  <a:ext uri="{FF2B5EF4-FFF2-40B4-BE49-F238E27FC236}">
                    <a16:creationId xmlns:a16="http://schemas.microsoft.com/office/drawing/2014/main" id="{A9E2E94D-8FB3-9021-8EA1-10035B1514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0" y="2205"/>
                <a:ext cx="272" cy="559"/>
              </a:xfrm>
              <a:custGeom>
                <a:avLst/>
                <a:gdLst>
                  <a:gd name="T0" fmla="*/ 136 w 272"/>
                  <a:gd name="T1" fmla="*/ 7 h 559"/>
                  <a:gd name="T2" fmla="*/ 0 w 272"/>
                  <a:gd name="T3" fmla="*/ 234 h 559"/>
                  <a:gd name="T4" fmla="*/ 136 w 272"/>
                  <a:gd name="T5" fmla="*/ 552 h 559"/>
                  <a:gd name="T6" fmla="*/ 272 w 272"/>
                  <a:gd name="T7" fmla="*/ 279 h 559"/>
                  <a:gd name="T8" fmla="*/ 136 w 272"/>
                  <a:gd name="T9" fmla="*/ 7 h 5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2"/>
                  <a:gd name="T16" fmla="*/ 0 h 559"/>
                  <a:gd name="T17" fmla="*/ 272 w 272"/>
                  <a:gd name="T18" fmla="*/ 559 h 5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2" h="559">
                    <a:moveTo>
                      <a:pt x="136" y="7"/>
                    </a:moveTo>
                    <a:cubicBezTo>
                      <a:pt x="91" y="0"/>
                      <a:pt x="0" y="143"/>
                      <a:pt x="0" y="234"/>
                    </a:cubicBezTo>
                    <a:cubicBezTo>
                      <a:pt x="0" y="325"/>
                      <a:pt x="91" y="545"/>
                      <a:pt x="136" y="552"/>
                    </a:cubicBezTo>
                    <a:cubicBezTo>
                      <a:pt x="181" y="559"/>
                      <a:pt x="272" y="370"/>
                      <a:pt x="272" y="279"/>
                    </a:cubicBezTo>
                    <a:cubicBezTo>
                      <a:pt x="272" y="188"/>
                      <a:pt x="181" y="14"/>
                      <a:pt x="136" y="7"/>
                    </a:cubicBezTo>
                    <a:close/>
                  </a:path>
                </a:pathLst>
              </a:custGeom>
              <a:pattFill prst="wdDnDiag">
                <a:fgClr>
                  <a:srgbClr val="000000"/>
                </a:fgClr>
                <a:bgClr>
                  <a:schemeClr val="bg1"/>
                </a:bgClr>
              </a:patt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 dirty="0">
                  <a:latin typeface="ChosunilboNM" panose="02030304000000000000" pitchFamily="18" charset="-128"/>
                </a:endParaRPr>
              </a:p>
            </p:txBody>
          </p:sp>
          <p:sp>
            <p:nvSpPr>
              <p:cNvPr id="29" name="Text Box 28">
                <a:extLst>
                  <a:ext uri="{FF2B5EF4-FFF2-40B4-BE49-F238E27FC236}">
                    <a16:creationId xmlns:a16="http://schemas.microsoft.com/office/drawing/2014/main" id="{F25E6734-26DA-B75F-98F7-67D9AD406F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1" y="2414"/>
                <a:ext cx="16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r>
                  <a:rPr lang="en-US" altLang="ko-KR" sz="1000"/>
                  <a:t>Y</a:t>
                </a:r>
              </a:p>
            </p:txBody>
          </p:sp>
          <p:sp>
            <p:nvSpPr>
              <p:cNvPr id="30" name="Text Box 29">
                <a:extLst>
                  <a:ext uri="{FF2B5EF4-FFF2-40B4-BE49-F238E27FC236}">
                    <a16:creationId xmlns:a16="http://schemas.microsoft.com/office/drawing/2014/main" id="{A79A75F1-F999-C964-9E7F-A77E5748C5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0" y="2414"/>
                <a:ext cx="16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r>
                  <a:rPr lang="en-US" altLang="ko-KR" sz="1000"/>
                  <a:t>X</a:t>
                </a:r>
              </a:p>
            </p:txBody>
          </p:sp>
        </p:grpSp>
        <p:grpSp>
          <p:nvGrpSpPr>
            <p:cNvPr id="16" name="Group 37">
              <a:extLst>
                <a:ext uri="{FF2B5EF4-FFF2-40B4-BE49-F238E27FC236}">
                  <a16:creationId xmlns:a16="http://schemas.microsoft.com/office/drawing/2014/main" id="{32B39842-85F2-DD4C-FB7A-F2DDA1ADE8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8113" y="3284538"/>
              <a:ext cx="1330325" cy="1008062"/>
              <a:chOff x="3287" y="2160"/>
              <a:chExt cx="838" cy="635"/>
            </a:xfrm>
          </p:grpSpPr>
          <p:sp>
            <p:nvSpPr>
              <p:cNvPr id="21" name="Oval 8">
                <a:extLst>
                  <a:ext uri="{FF2B5EF4-FFF2-40B4-BE49-F238E27FC236}">
                    <a16:creationId xmlns:a16="http://schemas.microsoft.com/office/drawing/2014/main" id="{110E7EA8-5572-467C-9F9C-14B6F9D35F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7" y="2160"/>
                <a:ext cx="635" cy="63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22" name="Oval 9">
                <a:extLst>
                  <a:ext uri="{FF2B5EF4-FFF2-40B4-BE49-F238E27FC236}">
                    <a16:creationId xmlns:a16="http://schemas.microsoft.com/office/drawing/2014/main" id="{70ED2275-B946-59F7-2BBA-653EF3B2C0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69" y="2160"/>
                <a:ext cx="635" cy="63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  <p:sp>
            <p:nvSpPr>
              <p:cNvPr id="23" name="Freeform 16" descr="넓은 하향 대각선">
                <a:extLst>
                  <a:ext uri="{FF2B5EF4-FFF2-40B4-BE49-F238E27FC236}">
                    <a16:creationId xmlns:a16="http://schemas.microsoft.com/office/drawing/2014/main" id="{C1084B32-2F4B-5FB2-6496-8745D67DEC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" y="2160"/>
                <a:ext cx="453" cy="635"/>
              </a:xfrm>
              <a:custGeom>
                <a:avLst/>
                <a:gdLst>
                  <a:gd name="T0" fmla="*/ 227 w 453"/>
                  <a:gd name="T1" fmla="*/ 0 h 635"/>
                  <a:gd name="T2" fmla="*/ 0 w 453"/>
                  <a:gd name="T3" fmla="*/ 317 h 635"/>
                  <a:gd name="T4" fmla="*/ 227 w 453"/>
                  <a:gd name="T5" fmla="*/ 635 h 635"/>
                  <a:gd name="T6" fmla="*/ 453 w 453"/>
                  <a:gd name="T7" fmla="*/ 317 h 635"/>
                  <a:gd name="T8" fmla="*/ 227 w 453"/>
                  <a:gd name="T9" fmla="*/ 0 h 6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3"/>
                  <a:gd name="T16" fmla="*/ 0 h 635"/>
                  <a:gd name="T17" fmla="*/ 453 w 453"/>
                  <a:gd name="T18" fmla="*/ 635 h 6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3" h="635">
                    <a:moveTo>
                      <a:pt x="227" y="0"/>
                    </a:moveTo>
                    <a:cubicBezTo>
                      <a:pt x="152" y="0"/>
                      <a:pt x="0" y="211"/>
                      <a:pt x="0" y="317"/>
                    </a:cubicBezTo>
                    <a:cubicBezTo>
                      <a:pt x="0" y="423"/>
                      <a:pt x="152" y="635"/>
                      <a:pt x="227" y="635"/>
                    </a:cubicBezTo>
                    <a:cubicBezTo>
                      <a:pt x="302" y="635"/>
                      <a:pt x="453" y="423"/>
                      <a:pt x="453" y="317"/>
                    </a:cubicBezTo>
                    <a:cubicBezTo>
                      <a:pt x="453" y="211"/>
                      <a:pt x="302" y="0"/>
                      <a:pt x="227" y="0"/>
                    </a:cubicBezTo>
                    <a:close/>
                  </a:path>
                </a:pathLst>
              </a:custGeom>
              <a:pattFill prst="wdDnDiag">
                <a:fgClr>
                  <a:srgbClr val="000000"/>
                </a:fgClr>
                <a:bgClr>
                  <a:schemeClr val="bg1"/>
                </a:bgClr>
              </a:patt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 dirty="0">
                  <a:latin typeface="ChosunilboNM" panose="02030304000000000000" pitchFamily="18" charset="-128"/>
                </a:endParaRPr>
              </a:p>
            </p:txBody>
          </p:sp>
          <p:sp>
            <p:nvSpPr>
              <p:cNvPr id="24" name="Text Box 30">
                <a:extLst>
                  <a:ext uri="{FF2B5EF4-FFF2-40B4-BE49-F238E27FC236}">
                    <a16:creationId xmlns:a16="http://schemas.microsoft.com/office/drawing/2014/main" id="{BE4B79E2-808F-8FFA-1619-F406FBB8E8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59" y="2414"/>
                <a:ext cx="16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r>
                  <a:rPr lang="en-US" altLang="ko-KR" sz="1000"/>
                  <a:t>Y</a:t>
                </a:r>
              </a:p>
            </p:txBody>
          </p:sp>
          <p:sp>
            <p:nvSpPr>
              <p:cNvPr id="25" name="Text Box 31">
                <a:extLst>
                  <a:ext uri="{FF2B5EF4-FFF2-40B4-BE49-F238E27FC236}">
                    <a16:creationId xmlns:a16="http://schemas.microsoft.com/office/drawing/2014/main" id="{9FB9FE74-BA8E-2C9F-A588-2DF4F44BB6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88" y="2414"/>
                <a:ext cx="16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r>
                  <a:rPr lang="en-US" altLang="ko-KR" sz="1000"/>
                  <a:t>X</a:t>
                </a:r>
              </a:p>
            </p:txBody>
          </p:sp>
        </p:grpSp>
        <p:grpSp>
          <p:nvGrpSpPr>
            <p:cNvPr id="17" name="Group 38">
              <a:extLst>
                <a:ext uri="{FF2B5EF4-FFF2-40B4-BE49-F238E27FC236}">
                  <a16:creationId xmlns:a16="http://schemas.microsoft.com/office/drawing/2014/main" id="{DB73C1B5-462F-77E8-412F-3414040B2B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91363" y="3284538"/>
              <a:ext cx="1008062" cy="1008062"/>
              <a:chOff x="4467" y="2160"/>
              <a:chExt cx="635" cy="635"/>
            </a:xfrm>
          </p:grpSpPr>
          <p:sp>
            <p:nvSpPr>
              <p:cNvPr id="19" name="Oval 10" descr="넓은 하향 대각선">
                <a:extLst>
                  <a:ext uri="{FF2B5EF4-FFF2-40B4-BE49-F238E27FC236}">
                    <a16:creationId xmlns:a16="http://schemas.microsoft.com/office/drawing/2014/main" id="{ABCC6E61-4D45-C6A4-19AB-6C51360E42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7" y="2160"/>
                <a:ext cx="635" cy="635"/>
              </a:xfrm>
              <a:prstGeom prst="ellipse">
                <a:avLst/>
              </a:prstGeom>
              <a:pattFill prst="wdDnDiag">
                <a:fgClr>
                  <a:srgbClr val="000000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ko-KR" sz="2400"/>
              </a:p>
            </p:txBody>
          </p:sp>
          <p:sp>
            <p:nvSpPr>
              <p:cNvPr id="20" name="Text Box 33">
                <a:extLst>
                  <a:ext uri="{FF2B5EF4-FFF2-40B4-BE49-F238E27FC236}">
                    <a16:creationId xmlns:a16="http://schemas.microsoft.com/office/drawing/2014/main" id="{2A22E519-51BA-BE8A-5807-785AF3DC6C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8" y="2402"/>
                <a:ext cx="216" cy="15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r>
                  <a:rPr lang="en-US" altLang="ko-KR" sz="1000"/>
                  <a:t>XY</a:t>
                </a:r>
              </a:p>
            </p:txBody>
          </p:sp>
        </p:grpSp>
        <p:sp>
          <p:nvSpPr>
            <p:cNvPr id="18" name="Rectangle 34">
              <a:extLst>
                <a:ext uri="{FF2B5EF4-FFF2-40B4-BE49-F238E27FC236}">
                  <a16:creationId xmlns:a16="http://schemas.microsoft.com/office/drawing/2014/main" id="{1E651199-0844-1B40-3634-C031F3C4F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550" y="2886075"/>
              <a:ext cx="7777163" cy="2054225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marL="0" lvl="0" indent="0">
              <a:buNone/>
            </a:pPr>
            <a:r>
              <a:t>상관관계의 종류</a:t>
            </a:r>
          </a:p>
        </p:txBody>
      </p:sp>
      <p:grpSp>
        <p:nvGrpSpPr>
          <p:cNvPr id="4" name="Group 62">
            <a:extLst>
              <a:ext uri="{FF2B5EF4-FFF2-40B4-BE49-F238E27FC236}">
                <a16:creationId xmlns:a16="http://schemas.microsoft.com/office/drawing/2014/main" id="{3836DB23-5EB5-C2BC-69A0-D4A6E307C892}"/>
              </a:ext>
            </a:extLst>
          </p:cNvPr>
          <p:cNvGrpSpPr>
            <a:grpSpLocks/>
          </p:cNvGrpSpPr>
          <p:nvPr/>
        </p:nvGrpSpPr>
        <p:grpSpPr bwMode="auto">
          <a:xfrm>
            <a:off x="1158893" y="1984775"/>
            <a:ext cx="6483350" cy="2592387"/>
            <a:chOff x="777" y="845"/>
            <a:chExt cx="4084" cy="1633"/>
          </a:xfrm>
        </p:grpSpPr>
        <p:sp>
          <p:nvSpPr>
            <p:cNvPr id="5" name="Text Box 36">
              <a:extLst>
                <a:ext uri="{FF2B5EF4-FFF2-40B4-BE49-F238E27FC236}">
                  <a16:creationId xmlns:a16="http://schemas.microsoft.com/office/drawing/2014/main" id="{15B1B124-B14E-070F-16CE-0710F399D2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" y="845"/>
              <a:ext cx="172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200" dirty="0"/>
                <a:t>(A) </a:t>
              </a:r>
              <a:r>
                <a:rPr lang="ko-KR" altLang="en-US" sz="1200" dirty="0"/>
                <a:t>단순상관계수</a:t>
              </a:r>
              <a:r>
                <a:rPr lang="en-US" altLang="ko-KR" sz="1200" dirty="0"/>
                <a:t>(simple correlation)</a:t>
              </a:r>
            </a:p>
          </p:txBody>
        </p:sp>
        <p:sp>
          <p:nvSpPr>
            <p:cNvPr id="6" name="Text Box 37">
              <a:extLst>
                <a:ext uri="{FF2B5EF4-FFF2-40B4-BE49-F238E27FC236}">
                  <a16:creationId xmlns:a16="http://schemas.microsoft.com/office/drawing/2014/main" id="{33928869-9233-EFDF-7CC7-DD320D3A90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6" y="1245"/>
              <a:ext cx="1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/>
                <a:t>X</a:t>
              </a:r>
            </a:p>
          </p:txBody>
        </p:sp>
        <p:sp>
          <p:nvSpPr>
            <p:cNvPr id="7" name="Text Box 38">
              <a:extLst>
                <a:ext uri="{FF2B5EF4-FFF2-40B4-BE49-F238E27FC236}">
                  <a16:creationId xmlns:a16="http://schemas.microsoft.com/office/drawing/2014/main" id="{8AECA607-14C8-9BB9-5BE8-7802036C21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9" y="1253"/>
              <a:ext cx="1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/>
                <a:t>Y</a:t>
              </a:r>
            </a:p>
          </p:txBody>
        </p:sp>
        <p:sp>
          <p:nvSpPr>
            <p:cNvPr id="8" name="Text Box 39">
              <a:extLst>
                <a:ext uri="{FF2B5EF4-FFF2-40B4-BE49-F238E27FC236}">
                  <a16:creationId xmlns:a16="http://schemas.microsoft.com/office/drawing/2014/main" id="{445C62CA-214C-D2A7-F324-5ACEDD6035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3" y="1933"/>
              <a:ext cx="22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/>
                <a:t>X</a:t>
              </a:r>
              <a:r>
                <a:rPr lang="en-US" altLang="ko-KR" sz="1400" baseline="-25000"/>
                <a:t>1</a:t>
              </a:r>
            </a:p>
          </p:txBody>
        </p:sp>
        <p:sp>
          <p:nvSpPr>
            <p:cNvPr id="9" name="Text Box 40">
              <a:extLst>
                <a:ext uri="{FF2B5EF4-FFF2-40B4-BE49-F238E27FC236}">
                  <a16:creationId xmlns:a16="http://schemas.microsoft.com/office/drawing/2014/main" id="{1C936714-BC48-B0E8-B5F2-BF40F68479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101"/>
              <a:ext cx="22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/>
                <a:t>X</a:t>
              </a:r>
              <a:r>
                <a:rPr lang="en-US" altLang="ko-KR" sz="1400" baseline="-25000"/>
                <a:t>2</a:t>
              </a:r>
            </a:p>
          </p:txBody>
        </p:sp>
        <p:sp>
          <p:nvSpPr>
            <p:cNvPr id="10" name="Text Box 41">
              <a:extLst>
                <a:ext uri="{FF2B5EF4-FFF2-40B4-BE49-F238E27FC236}">
                  <a16:creationId xmlns:a16="http://schemas.microsoft.com/office/drawing/2014/main" id="{CD9D5F15-0AD4-57AA-6FA3-86E74B76A2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2275"/>
              <a:ext cx="22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/>
                <a:t>X</a:t>
              </a:r>
              <a:r>
                <a:rPr lang="en-US" altLang="ko-KR" sz="1400" baseline="-25000"/>
                <a:t>3</a:t>
              </a:r>
            </a:p>
          </p:txBody>
        </p:sp>
        <p:sp>
          <p:nvSpPr>
            <p:cNvPr id="11" name="Text Box 42">
              <a:extLst>
                <a:ext uri="{FF2B5EF4-FFF2-40B4-BE49-F238E27FC236}">
                  <a16:creationId xmlns:a16="http://schemas.microsoft.com/office/drawing/2014/main" id="{0C972CC4-38EC-BEA5-ED65-EA23365ED0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5" y="845"/>
              <a:ext cx="178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200"/>
                <a:t>(B) </a:t>
              </a:r>
              <a:r>
                <a:rPr lang="ko-KR" altLang="en-US" sz="1200"/>
                <a:t>다중상관계수</a:t>
              </a:r>
              <a:r>
                <a:rPr lang="en-US" altLang="ko-KR" sz="1200"/>
                <a:t>(multiple correlation)</a:t>
              </a:r>
            </a:p>
          </p:txBody>
        </p:sp>
        <p:sp>
          <p:nvSpPr>
            <p:cNvPr id="12" name="Text Box 43">
              <a:extLst>
                <a:ext uri="{FF2B5EF4-FFF2-40B4-BE49-F238E27FC236}">
                  <a16:creationId xmlns:a16="http://schemas.microsoft.com/office/drawing/2014/main" id="{005FC298-6688-18EC-73BE-30028721E1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7" y="1162"/>
              <a:ext cx="22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/>
                <a:t>X</a:t>
              </a:r>
              <a:r>
                <a:rPr lang="en-US" altLang="ko-KR" sz="1400" baseline="-25000"/>
                <a:t>1</a:t>
              </a:r>
            </a:p>
          </p:txBody>
        </p:sp>
        <p:sp>
          <p:nvSpPr>
            <p:cNvPr id="13" name="Text Box 44">
              <a:extLst>
                <a:ext uri="{FF2B5EF4-FFF2-40B4-BE49-F238E27FC236}">
                  <a16:creationId xmlns:a16="http://schemas.microsoft.com/office/drawing/2014/main" id="{34D3EE3C-D399-CF26-FD80-96516B224D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1330"/>
              <a:ext cx="22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/>
                <a:t>X</a:t>
              </a:r>
              <a:r>
                <a:rPr lang="en-US" altLang="ko-KR" sz="1400" baseline="-25000"/>
                <a:t>2</a:t>
              </a:r>
            </a:p>
          </p:txBody>
        </p:sp>
        <p:sp>
          <p:nvSpPr>
            <p:cNvPr id="14" name="Text Box 45">
              <a:extLst>
                <a:ext uri="{FF2B5EF4-FFF2-40B4-BE49-F238E27FC236}">
                  <a16:creationId xmlns:a16="http://schemas.microsoft.com/office/drawing/2014/main" id="{35151E21-9EEA-E201-211D-19107BDF4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8" y="1253"/>
              <a:ext cx="1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/>
                <a:t>Y</a:t>
              </a:r>
            </a:p>
          </p:txBody>
        </p:sp>
        <p:sp>
          <p:nvSpPr>
            <p:cNvPr id="15" name="Text Box 46">
              <a:extLst>
                <a:ext uri="{FF2B5EF4-FFF2-40B4-BE49-F238E27FC236}">
                  <a16:creationId xmlns:a16="http://schemas.microsoft.com/office/drawing/2014/main" id="{1E9C8BFC-04AA-4E13-1504-B56CD694A1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933"/>
              <a:ext cx="1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/>
                <a:t>Y</a:t>
              </a:r>
            </a:p>
          </p:txBody>
        </p:sp>
        <p:sp>
          <p:nvSpPr>
            <p:cNvPr id="16" name="Line 47">
              <a:extLst>
                <a:ext uri="{FF2B5EF4-FFF2-40B4-BE49-F238E27FC236}">
                  <a16:creationId xmlns:a16="http://schemas.microsoft.com/office/drawing/2014/main" id="{721C6C40-E4A4-706B-0A13-9EC5DF0B2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2" y="1344"/>
              <a:ext cx="8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 dirty="0">
                <a:latin typeface="ChosunilboNM" panose="02030304000000000000" pitchFamily="18" charset="-128"/>
              </a:endParaRPr>
            </a:p>
          </p:txBody>
        </p:sp>
        <p:sp>
          <p:nvSpPr>
            <p:cNvPr id="17" name="Line 48">
              <a:extLst>
                <a:ext uri="{FF2B5EF4-FFF2-40B4-BE49-F238E27FC236}">
                  <a16:creationId xmlns:a16="http://schemas.microsoft.com/office/drawing/2014/main" id="{88FFE53A-F831-757A-7D79-86F4B70D42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1344"/>
              <a:ext cx="8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 dirty="0">
                <a:latin typeface="ChosunilboNM" panose="02030304000000000000" pitchFamily="18" charset="-128"/>
              </a:endParaRPr>
            </a:p>
          </p:txBody>
        </p:sp>
        <p:sp>
          <p:nvSpPr>
            <p:cNvPr id="18" name="Text Box 49">
              <a:extLst>
                <a:ext uri="{FF2B5EF4-FFF2-40B4-BE49-F238E27FC236}">
                  <a16:creationId xmlns:a16="http://schemas.microsoft.com/office/drawing/2014/main" id="{B2D3B97C-9263-56E0-318A-2B194F0022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1" y="1706"/>
              <a:ext cx="171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200"/>
                <a:t>(C) </a:t>
              </a:r>
              <a:r>
                <a:rPr lang="ko-KR" altLang="en-US" sz="1200"/>
                <a:t>부분상관계수</a:t>
              </a:r>
              <a:r>
                <a:rPr lang="en-US" altLang="ko-KR" sz="1200"/>
                <a:t>(partial correlation)</a:t>
              </a:r>
            </a:p>
          </p:txBody>
        </p:sp>
        <p:sp>
          <p:nvSpPr>
            <p:cNvPr id="19" name="Line 50">
              <a:extLst>
                <a:ext uri="{FF2B5EF4-FFF2-40B4-BE49-F238E27FC236}">
                  <a16:creationId xmlns:a16="http://schemas.microsoft.com/office/drawing/2014/main" id="{A4F37E09-1EE6-EC3B-7751-6835CFA19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2" y="2034"/>
              <a:ext cx="8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 dirty="0">
                <a:latin typeface="ChosunilboNM" panose="02030304000000000000" pitchFamily="18" charset="-128"/>
              </a:endParaRPr>
            </a:p>
          </p:txBody>
        </p:sp>
        <p:sp>
          <p:nvSpPr>
            <p:cNvPr id="20" name="Freeform 53">
              <a:extLst>
                <a:ext uri="{FF2B5EF4-FFF2-40B4-BE49-F238E27FC236}">
                  <a16:creationId xmlns:a16="http://schemas.microsoft.com/office/drawing/2014/main" id="{7AA9F0CC-E084-D046-F271-1A24058D3B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7" y="2205"/>
              <a:ext cx="182" cy="210"/>
            </a:xfrm>
            <a:custGeom>
              <a:avLst/>
              <a:gdLst>
                <a:gd name="T0" fmla="*/ 0 w 182"/>
                <a:gd name="T1" fmla="*/ 0 h 210"/>
                <a:gd name="T2" fmla="*/ 182 w 182"/>
                <a:gd name="T3" fmla="*/ 105 h 210"/>
                <a:gd name="T4" fmla="*/ 0 w 182"/>
                <a:gd name="T5" fmla="*/ 210 h 210"/>
                <a:gd name="T6" fmla="*/ 0 60000 65536"/>
                <a:gd name="T7" fmla="*/ 0 60000 65536"/>
                <a:gd name="T8" fmla="*/ 0 60000 65536"/>
                <a:gd name="T9" fmla="*/ 0 w 182"/>
                <a:gd name="T10" fmla="*/ 0 h 210"/>
                <a:gd name="T11" fmla="*/ 182 w 182"/>
                <a:gd name="T12" fmla="*/ 210 h 2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2" h="210">
                  <a:moveTo>
                    <a:pt x="0" y="0"/>
                  </a:moveTo>
                  <a:lnTo>
                    <a:pt x="182" y="105"/>
                  </a:lnTo>
                  <a:lnTo>
                    <a:pt x="0" y="21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ko-KR" altLang="en-US" dirty="0">
                <a:latin typeface="ChosunilboNM" panose="02030304000000000000" pitchFamily="18" charset="-128"/>
              </a:endParaRPr>
            </a:p>
          </p:txBody>
        </p:sp>
        <p:sp>
          <p:nvSpPr>
            <p:cNvPr id="21" name="Text Box 54">
              <a:extLst>
                <a:ext uri="{FF2B5EF4-FFF2-40B4-BE49-F238E27FC236}">
                  <a16:creationId xmlns:a16="http://schemas.microsoft.com/office/drawing/2014/main" id="{DFA97F82-A5BE-FD8B-82D4-F853F7A4BA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6" y="2205"/>
              <a:ext cx="3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400"/>
                <a:t>통제</a:t>
              </a:r>
            </a:p>
          </p:txBody>
        </p:sp>
        <p:sp>
          <p:nvSpPr>
            <p:cNvPr id="22" name="Text Box 55">
              <a:extLst>
                <a:ext uri="{FF2B5EF4-FFF2-40B4-BE49-F238E27FC236}">
                  <a16:creationId xmlns:a16="http://schemas.microsoft.com/office/drawing/2014/main" id="{F13245D2-3E56-A622-B073-AB84A984A0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1" y="1933"/>
              <a:ext cx="22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/>
                <a:t>X</a:t>
              </a:r>
              <a:r>
                <a:rPr lang="en-US" altLang="ko-KR" sz="1400" baseline="-25000"/>
                <a:t>1</a:t>
              </a:r>
            </a:p>
          </p:txBody>
        </p:sp>
        <p:sp>
          <p:nvSpPr>
            <p:cNvPr id="23" name="Text Box 56">
              <a:extLst>
                <a:ext uri="{FF2B5EF4-FFF2-40B4-BE49-F238E27FC236}">
                  <a16:creationId xmlns:a16="http://schemas.microsoft.com/office/drawing/2014/main" id="{8495D68E-A253-55ED-9FB3-10864A8A06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8" y="2101"/>
              <a:ext cx="22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/>
                <a:t>X</a:t>
              </a:r>
              <a:r>
                <a:rPr lang="en-US" altLang="ko-KR" sz="1400" baseline="-25000"/>
                <a:t>2</a:t>
              </a:r>
            </a:p>
          </p:txBody>
        </p:sp>
        <p:sp>
          <p:nvSpPr>
            <p:cNvPr id="24" name="Text Box 57">
              <a:extLst>
                <a:ext uri="{FF2B5EF4-FFF2-40B4-BE49-F238E27FC236}">
                  <a16:creationId xmlns:a16="http://schemas.microsoft.com/office/drawing/2014/main" id="{63B15693-359D-1C55-3C98-00A4314AAC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8" y="2275"/>
              <a:ext cx="22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/>
                <a:t>X</a:t>
              </a:r>
              <a:r>
                <a:rPr lang="en-US" altLang="ko-KR" sz="1400" baseline="-25000"/>
                <a:t>3</a:t>
              </a:r>
            </a:p>
          </p:txBody>
        </p:sp>
        <p:sp>
          <p:nvSpPr>
            <p:cNvPr id="25" name="Text Box 58">
              <a:extLst>
                <a:ext uri="{FF2B5EF4-FFF2-40B4-BE49-F238E27FC236}">
                  <a16:creationId xmlns:a16="http://schemas.microsoft.com/office/drawing/2014/main" id="{7FD9D65A-FEFB-C504-166E-6C137D0EEE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2" y="2286"/>
              <a:ext cx="1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/>
                <a:t>Y</a:t>
              </a:r>
            </a:p>
          </p:txBody>
        </p:sp>
        <p:sp>
          <p:nvSpPr>
            <p:cNvPr id="26" name="Line 59">
              <a:extLst>
                <a:ext uri="{FF2B5EF4-FFF2-40B4-BE49-F238E27FC236}">
                  <a16:creationId xmlns:a16="http://schemas.microsoft.com/office/drawing/2014/main" id="{278718D2-3B8F-3BD0-4DC2-14BA20AB37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0" y="2387"/>
              <a:ext cx="8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 dirty="0">
                <a:latin typeface="ChosunilboNM" panose="02030304000000000000" pitchFamily="18" charset="-128"/>
              </a:endParaRPr>
            </a:p>
          </p:txBody>
        </p:sp>
        <p:sp>
          <p:nvSpPr>
            <p:cNvPr id="27" name="Freeform 60">
              <a:extLst>
                <a:ext uri="{FF2B5EF4-FFF2-40B4-BE49-F238E27FC236}">
                  <a16:creationId xmlns:a16="http://schemas.microsoft.com/office/drawing/2014/main" id="{D1377E72-1196-52CB-20B9-3CBD5962A4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5" y="2041"/>
              <a:ext cx="182" cy="210"/>
            </a:xfrm>
            <a:custGeom>
              <a:avLst/>
              <a:gdLst>
                <a:gd name="T0" fmla="*/ 0 w 182"/>
                <a:gd name="T1" fmla="*/ 0 h 210"/>
                <a:gd name="T2" fmla="*/ 182 w 182"/>
                <a:gd name="T3" fmla="*/ 105 h 210"/>
                <a:gd name="T4" fmla="*/ 0 w 182"/>
                <a:gd name="T5" fmla="*/ 210 h 210"/>
                <a:gd name="T6" fmla="*/ 0 60000 65536"/>
                <a:gd name="T7" fmla="*/ 0 60000 65536"/>
                <a:gd name="T8" fmla="*/ 0 60000 65536"/>
                <a:gd name="T9" fmla="*/ 0 w 182"/>
                <a:gd name="T10" fmla="*/ 0 h 210"/>
                <a:gd name="T11" fmla="*/ 182 w 182"/>
                <a:gd name="T12" fmla="*/ 210 h 2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2" h="210">
                  <a:moveTo>
                    <a:pt x="0" y="0"/>
                  </a:moveTo>
                  <a:lnTo>
                    <a:pt x="182" y="105"/>
                  </a:lnTo>
                  <a:lnTo>
                    <a:pt x="0" y="21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ko-KR" altLang="en-US" dirty="0">
                <a:latin typeface="ChosunilboNM" panose="02030304000000000000" pitchFamily="18" charset="-128"/>
              </a:endParaRPr>
            </a:p>
          </p:txBody>
        </p:sp>
        <p:sp>
          <p:nvSpPr>
            <p:cNvPr id="28" name="Text Box 61">
              <a:extLst>
                <a:ext uri="{FF2B5EF4-FFF2-40B4-BE49-F238E27FC236}">
                  <a16:creationId xmlns:a16="http://schemas.microsoft.com/office/drawing/2014/main" id="{18B8A305-CF9D-CA55-CD9C-F1202DD692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4" y="2041"/>
              <a:ext cx="3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400"/>
                <a:t>통제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marL="0" lvl="0" indent="0">
              <a:buNone/>
            </a:pPr>
            <a:r>
              <a:t>기본모형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𝜌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 / </m:t>
                    </m:r>
                    <m:r>
                      <a:rPr>
                        <a:latin typeface="Cambria Math" panose="02040503050406030204" pitchFamily="18" charset="0"/>
                      </a:rPr>
                      <m:t>𝜎</m:t>
                    </m:r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  <m:r>
                      <a:rPr>
                        <a:latin typeface="Cambria Math" panose="02040503050406030204" pitchFamily="18" charset="0"/>
                      </a:rPr>
                      <m:t>⋅</m:t>
                    </m:r>
                    <m:r>
                      <a:rPr>
                        <a:latin typeface="Cambria Math" panose="02040503050406030204" pitchFamily="18" charset="0"/>
                      </a:rPr>
                      <m:t>𝜎</m:t>
                    </m:r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dirty="0"/>
              </a:p>
              <a:p>
                <a:pPr lvl="0"/>
                <a:endParaRPr lang="en-US" dirty="0"/>
              </a:p>
              <a:p>
                <a:pPr lvl="0">
                  <a:lnSpc>
                    <a:spcPct val="150000"/>
                  </a:lnSpc>
                </a:pPr>
                <a:r>
                  <a:rPr dirty="0"/>
                  <a:t>Where, Cov(X,Y): </a:t>
                </a:r>
                <a:r>
                  <a:rPr dirty="0" err="1"/>
                  <a:t>변수</a:t>
                </a:r>
                <a:r>
                  <a:rPr dirty="0"/>
                  <a:t> </a:t>
                </a:r>
                <a:r>
                  <a:rPr dirty="0" err="1"/>
                  <a:t>X와</a:t>
                </a:r>
                <a:r>
                  <a:rPr dirty="0"/>
                  <a:t> </a:t>
                </a:r>
                <a:r>
                  <a:rPr dirty="0" err="1"/>
                  <a:t>Y의</a:t>
                </a:r>
                <a:r>
                  <a:rPr dirty="0"/>
                  <a:t> </a:t>
                </a:r>
                <a:r>
                  <a:rPr dirty="0" err="1"/>
                  <a:t>모집단</a:t>
                </a:r>
                <a:r>
                  <a:rPr dirty="0"/>
                  <a:t> </a:t>
                </a:r>
                <a:r>
                  <a:rPr dirty="0" err="1"/>
                  <a:t>공분산</a:t>
                </a:r>
                <a:br>
                  <a:rPr lang="en-US" dirty="0"/>
                </a:br>
                <a:r>
                  <a:rPr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dirty="0"/>
                  <a:t> : </a:t>
                </a:r>
                <a:r>
                  <a:rPr dirty="0" err="1"/>
                  <a:t>변수</a:t>
                </a:r>
                <a:r>
                  <a:rPr dirty="0"/>
                  <a:t> </a:t>
                </a:r>
                <a:r>
                  <a:rPr dirty="0" err="1"/>
                  <a:t>X의</a:t>
                </a:r>
                <a:r>
                  <a:rPr dirty="0"/>
                  <a:t> </a:t>
                </a:r>
                <a:r>
                  <a:rPr dirty="0" err="1"/>
                  <a:t>모집단</a:t>
                </a:r>
                <a:r>
                  <a:rPr dirty="0"/>
                  <a:t> </a:t>
                </a:r>
                <a:r>
                  <a:rPr dirty="0" err="1"/>
                  <a:t>표준편차</a:t>
                </a:r>
                <a:br>
                  <a:rPr lang="en-US" dirty="0"/>
                </a:br>
                <a:r>
                  <a:rPr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dirty="0"/>
                  <a:t> : </a:t>
                </a:r>
                <a:r>
                  <a:rPr dirty="0" err="1"/>
                  <a:t>변수</a:t>
                </a:r>
                <a:r>
                  <a:rPr dirty="0"/>
                  <a:t> </a:t>
                </a:r>
                <a:r>
                  <a:rPr dirty="0" err="1"/>
                  <a:t>Y의</a:t>
                </a:r>
                <a:r>
                  <a:rPr dirty="0"/>
                  <a:t> </a:t>
                </a:r>
                <a:r>
                  <a:rPr dirty="0" err="1"/>
                  <a:t>모집단</a:t>
                </a:r>
                <a:r>
                  <a:rPr dirty="0"/>
                  <a:t> </a:t>
                </a:r>
                <a:r>
                  <a:rPr dirty="0" err="1"/>
                  <a:t>표준편차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dirty="0"/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EFAF37C6-4033-BE8F-E26C-25ED416CF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02" y="1745956"/>
            <a:ext cx="4022576" cy="2913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612E2351-BBCB-BE22-0483-04B35EA82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2561" y="1745659"/>
            <a:ext cx="3571359" cy="1652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marL="0" lvl="0" indent="0">
              <a:buNone/>
            </a:pPr>
            <a:r>
              <a:t>상관분석 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670" y="1745956"/>
            <a:ext cx="8282972" cy="314343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ko-KR" altLang="en-US" spc="0" dirty="0">
                <a:cs typeface="ChosunilboNM" panose="02030304000000000000" pitchFamily="18" charset="-128"/>
              </a:rPr>
              <a:t>상관계수 결과 해석 종류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rgbClr val="333399"/>
              </a:buClr>
              <a:buNone/>
            </a:pPr>
            <a:r>
              <a:rPr lang="ko-KR" altLang="en-US" spc="0" dirty="0">
                <a:cs typeface="ChosunilboNM" panose="02030304000000000000" pitchFamily="18" charset="-128"/>
              </a:rPr>
              <a:t>   </a:t>
            </a:r>
            <a:r>
              <a:rPr lang="en-US" altLang="ko-KR" spc="0" dirty="0">
                <a:cs typeface="ChosunilboNM" panose="02030304000000000000" pitchFamily="18" charset="-128"/>
              </a:rPr>
              <a:t>-  Pearson</a:t>
            </a:r>
            <a:r>
              <a:rPr lang="ko-KR" altLang="en-US" spc="0" dirty="0">
                <a:cs typeface="ChosunilboNM" panose="02030304000000000000" pitchFamily="18" charset="-128"/>
              </a:rPr>
              <a:t>의 </a:t>
            </a:r>
            <a:r>
              <a:rPr lang="en-US" altLang="ko-KR" spc="0" dirty="0">
                <a:cs typeface="ChosunilboNM" panose="02030304000000000000" pitchFamily="18" charset="-128"/>
              </a:rPr>
              <a:t>R  : </a:t>
            </a:r>
            <a:r>
              <a:rPr lang="ko-KR" altLang="en-US" spc="0" dirty="0" err="1">
                <a:cs typeface="ChosunilboNM" panose="02030304000000000000" pitchFamily="18" charset="-128"/>
              </a:rPr>
              <a:t>모수</a:t>
            </a:r>
            <a:r>
              <a:rPr lang="ko-KR" altLang="en-US" spc="0" dirty="0">
                <a:cs typeface="ChosunilboNM" panose="02030304000000000000" pitchFamily="18" charset="-128"/>
              </a:rPr>
              <a:t> 통계에서 상관계수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rgbClr val="333399"/>
              </a:buClr>
              <a:buNone/>
            </a:pPr>
            <a:r>
              <a:rPr lang="ko-KR" altLang="en-US" spc="0" dirty="0">
                <a:cs typeface="ChosunilboNM" panose="02030304000000000000" pitchFamily="18" charset="-128"/>
              </a:rPr>
              <a:t>   </a:t>
            </a:r>
            <a:r>
              <a:rPr lang="en-US" altLang="ko-KR" spc="0" dirty="0">
                <a:cs typeface="ChosunilboNM" panose="02030304000000000000" pitchFamily="18" charset="-128"/>
              </a:rPr>
              <a:t>-  </a:t>
            </a:r>
            <a:r>
              <a:rPr lang="en-US" altLang="ko-KR" spc="0" dirty="0" err="1">
                <a:cs typeface="ChosunilboNM" panose="02030304000000000000" pitchFamily="18" charset="-128"/>
              </a:rPr>
              <a:t>kendall</a:t>
            </a:r>
            <a:r>
              <a:rPr lang="ko-KR" altLang="en-US" spc="0" dirty="0">
                <a:cs typeface="ChosunilboNM" panose="02030304000000000000" pitchFamily="18" charset="-128"/>
              </a:rPr>
              <a:t>의 </a:t>
            </a:r>
            <a:r>
              <a:rPr lang="en-US" altLang="ko-KR" spc="0" dirty="0">
                <a:cs typeface="ChosunilboNM" panose="02030304000000000000" pitchFamily="18" charset="-128"/>
              </a:rPr>
              <a:t>tau –b (</a:t>
            </a:r>
            <a:r>
              <a:rPr lang="ko-KR" altLang="en-US" spc="0" dirty="0" err="1">
                <a:cs typeface="ChosunilboNM" panose="02030304000000000000" pitchFamily="18" charset="-128"/>
              </a:rPr>
              <a:t>타우</a:t>
            </a:r>
            <a:r>
              <a:rPr lang="en-US" altLang="ko-KR" spc="0" dirty="0">
                <a:cs typeface="ChosunilboNM" panose="02030304000000000000" pitchFamily="18" charset="-128"/>
              </a:rPr>
              <a:t>)  : </a:t>
            </a:r>
            <a:r>
              <a:rPr lang="ko-KR" altLang="en-US" spc="0" dirty="0" err="1">
                <a:cs typeface="ChosunilboNM" panose="02030304000000000000" pitchFamily="18" charset="-128"/>
              </a:rPr>
              <a:t>비모수</a:t>
            </a:r>
            <a:r>
              <a:rPr lang="ko-KR" altLang="en-US" spc="0" dirty="0">
                <a:cs typeface="ChosunilboNM" panose="02030304000000000000" pitchFamily="18" charset="-128"/>
              </a:rPr>
              <a:t> 통계에서의 상관계수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rgbClr val="333399"/>
              </a:buClr>
              <a:buNone/>
            </a:pPr>
            <a:r>
              <a:rPr lang="ko-KR" altLang="en-US" spc="0" dirty="0">
                <a:cs typeface="ChosunilboNM" panose="02030304000000000000" pitchFamily="18" charset="-128"/>
              </a:rPr>
              <a:t>                                                </a:t>
            </a:r>
            <a:r>
              <a:rPr lang="en-US" altLang="ko-KR" spc="0" dirty="0">
                <a:cs typeface="ChosunilboNM" panose="02030304000000000000" pitchFamily="18" charset="-128"/>
              </a:rPr>
              <a:t>	    (</a:t>
            </a:r>
            <a:r>
              <a:rPr lang="ko-KR" altLang="en-US" spc="0" dirty="0">
                <a:cs typeface="ChosunilboNM" panose="02030304000000000000" pitchFamily="18" charset="-128"/>
              </a:rPr>
              <a:t>순위상관계수</a:t>
            </a:r>
            <a:r>
              <a:rPr lang="en-US" altLang="ko-KR" spc="0" dirty="0">
                <a:cs typeface="ChosunilboNM" panose="02030304000000000000" pitchFamily="18" charset="-128"/>
              </a:rPr>
              <a:t>/ </a:t>
            </a:r>
            <a:r>
              <a:rPr lang="ko-KR" altLang="en-US" spc="0" dirty="0">
                <a:cs typeface="ChosunilboNM" panose="02030304000000000000" pitchFamily="18" charset="-128"/>
              </a:rPr>
              <a:t>변수가 서열변수 일 경우 사용</a:t>
            </a:r>
            <a:r>
              <a:rPr lang="en-US" altLang="ko-KR" spc="0" dirty="0">
                <a:cs typeface="ChosunilboNM" panose="02030304000000000000" pitchFamily="18" charset="-128"/>
              </a:rPr>
              <a:t>)</a:t>
            </a:r>
            <a:endParaRPr lang="ru-RU" altLang="ko-KR" spc="0" dirty="0">
              <a:cs typeface="ChosunilboNM" panose="02030304000000000000" pitchFamily="18" charset="-128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rgbClr val="333399"/>
              </a:buClr>
              <a:buNone/>
            </a:pPr>
            <a:r>
              <a:rPr lang="en-US" altLang="ko-KR" spc="0" dirty="0">
                <a:cs typeface="ChosunilboNM" panose="02030304000000000000" pitchFamily="18" charset="-128"/>
              </a:rPr>
              <a:t>   - spearman</a:t>
            </a:r>
            <a:r>
              <a:rPr lang="ko-KR" altLang="en-US" spc="0" dirty="0">
                <a:cs typeface="ChosunilboNM" panose="02030304000000000000" pitchFamily="18" charset="-128"/>
              </a:rPr>
              <a:t>의 </a:t>
            </a:r>
            <a:r>
              <a:rPr lang="en-US" altLang="ko-KR" spc="0" dirty="0">
                <a:cs typeface="ChosunilboNM" panose="02030304000000000000" pitchFamily="18" charset="-128"/>
              </a:rPr>
              <a:t>R  :</a:t>
            </a:r>
            <a:r>
              <a:rPr lang="ko-KR" altLang="en-US" spc="0" dirty="0" err="1">
                <a:cs typeface="ChosunilboNM" panose="02030304000000000000" pitchFamily="18" charset="-128"/>
              </a:rPr>
              <a:t>비모수</a:t>
            </a:r>
            <a:r>
              <a:rPr lang="ko-KR" altLang="en-US" spc="0" dirty="0">
                <a:cs typeface="ChosunilboNM" panose="02030304000000000000" pitchFamily="18" charset="-128"/>
              </a:rPr>
              <a:t> 통계에서의 순위상관계수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rgbClr val="333399"/>
              </a:buClr>
              <a:buNone/>
            </a:pPr>
            <a:endParaRPr lang="ko-KR" altLang="en-US" spc="0" dirty="0">
              <a:cs typeface="ChosunilboNM" panose="02030304000000000000" pitchFamily="18" charset="-128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ko-KR" spc="0" dirty="0">
                <a:cs typeface="ChosunilboNM" panose="02030304000000000000" pitchFamily="18" charset="-128"/>
              </a:rPr>
              <a:t>Test of Significance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rgbClr val="333399"/>
              </a:buClr>
              <a:buNone/>
            </a:pPr>
            <a:r>
              <a:rPr lang="en-US" altLang="ko-KR" spc="0" dirty="0">
                <a:cs typeface="ChosunilboNM" panose="02030304000000000000" pitchFamily="18" charset="-128"/>
              </a:rPr>
              <a:t>   - two-tailed : </a:t>
            </a:r>
            <a:r>
              <a:rPr lang="ko-KR" altLang="en-US" spc="0" dirty="0">
                <a:cs typeface="ChosunilboNM" panose="02030304000000000000" pitchFamily="18" charset="-128"/>
              </a:rPr>
              <a:t>가설검정에서 관련성의 방향을 미리 정하지 않은 경우 사용하며 기본설정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rgbClr val="333399"/>
              </a:buClr>
              <a:buNone/>
            </a:pPr>
            <a:r>
              <a:rPr lang="ko-KR" altLang="en-US" spc="0" dirty="0">
                <a:cs typeface="ChosunilboNM" panose="02030304000000000000" pitchFamily="18" charset="-128"/>
              </a:rPr>
              <a:t>   </a:t>
            </a:r>
            <a:r>
              <a:rPr lang="en-US" altLang="ko-KR" spc="0" dirty="0">
                <a:cs typeface="ChosunilboNM" panose="02030304000000000000" pitchFamily="18" charset="-128"/>
              </a:rPr>
              <a:t>- one-tailed : </a:t>
            </a:r>
            <a:r>
              <a:rPr lang="ko-KR" altLang="en-US" spc="0" dirty="0">
                <a:cs typeface="ChosunilboNM" panose="02030304000000000000" pitchFamily="18" charset="-128"/>
              </a:rPr>
              <a:t>두 변인간의 관련성의 방향을 미리 설정하는 경우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rgbClr val="333399"/>
              </a:buClr>
              <a:buNone/>
            </a:pPr>
            <a:r>
              <a:rPr lang="ko-KR" altLang="en-US" spc="0" dirty="0">
                <a:cs typeface="ChosunilboNM" panose="02030304000000000000" pitchFamily="18" charset="-128"/>
              </a:rPr>
              <a:t>   </a:t>
            </a:r>
            <a:r>
              <a:rPr lang="en-US" altLang="ko-KR" spc="0" dirty="0">
                <a:cs typeface="ChosunilboNM" panose="02030304000000000000" pitchFamily="18" charset="-128"/>
              </a:rPr>
              <a:t>- Flag significant correlation : </a:t>
            </a:r>
            <a:r>
              <a:rPr lang="ko-KR" altLang="en-US" spc="0" dirty="0">
                <a:cs typeface="ChosunilboNM" panose="02030304000000000000" pitchFamily="18" charset="-128"/>
              </a:rPr>
              <a:t>유의수준이 있는 항목을 * 표시 </a:t>
            </a:r>
            <a:br>
              <a:rPr lang="en-US" altLang="ko-KR" spc="0" dirty="0">
                <a:cs typeface="ChosunilboNM" panose="02030304000000000000" pitchFamily="18" charset="-128"/>
              </a:rPr>
            </a:br>
            <a:r>
              <a:rPr lang="en-US" altLang="ko-KR" spc="0" dirty="0">
                <a:cs typeface="ChosunilboNM" panose="02030304000000000000" pitchFamily="18" charset="-128"/>
              </a:rPr>
              <a:t>(* : 0.05</a:t>
            </a:r>
            <a:r>
              <a:rPr lang="ko-KR" altLang="en-US" spc="0" dirty="0">
                <a:cs typeface="ChosunilboNM" panose="02030304000000000000" pitchFamily="18" charset="-128"/>
              </a:rPr>
              <a:t>이하</a:t>
            </a:r>
            <a:r>
              <a:rPr lang="en-US" altLang="ko-KR" spc="0" dirty="0">
                <a:cs typeface="ChosunilboNM" panose="02030304000000000000" pitchFamily="18" charset="-128"/>
              </a:rPr>
              <a:t> /** :0.01</a:t>
            </a:r>
            <a:r>
              <a:rPr lang="ko-KR" altLang="en-US" spc="0" dirty="0">
                <a:cs typeface="ChosunilboNM" panose="02030304000000000000" pitchFamily="18" charset="-128"/>
              </a:rPr>
              <a:t>이하</a:t>
            </a:r>
            <a:r>
              <a:rPr lang="en-US" altLang="ko-KR" spc="0" dirty="0">
                <a:cs typeface="ChosunilboNM" panose="02030304000000000000" pitchFamily="18" charset="-128"/>
              </a:rPr>
              <a:t>/***:0.000)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marL="0" lvl="0" indent="0">
              <a:buNone/>
            </a:pPr>
            <a:r>
              <a:rPr dirty="0" err="1"/>
              <a:t>상관분석</a:t>
            </a:r>
            <a:r>
              <a:rPr dirty="0"/>
              <a:t>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60E70-6CD2-973D-6A38-3C0A97991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670" y="1745956"/>
            <a:ext cx="7847518" cy="3143439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kumimoji="1" lang="ko-KR" altLang="en-US" spc="0" dirty="0">
                <a:cs typeface="ChosunilboNM" panose="02030304000000000000" pitchFamily="18" charset="-128"/>
              </a:rPr>
              <a:t>상관계수와 </a:t>
            </a:r>
            <a:r>
              <a:rPr kumimoji="1" lang="ko-KR" altLang="en-US" spc="0" dirty="0" err="1">
                <a:cs typeface="ChosunilboNM" panose="02030304000000000000" pitchFamily="18" charset="-128"/>
              </a:rPr>
              <a:t>변수들간의</a:t>
            </a:r>
            <a:r>
              <a:rPr kumimoji="1" lang="ko-KR" altLang="en-US" spc="0" dirty="0">
                <a:cs typeface="ChosunilboNM" panose="02030304000000000000" pitchFamily="18" charset="-128"/>
              </a:rPr>
              <a:t> 관련정도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Clr>
                <a:srgbClr val="333399"/>
              </a:buClr>
              <a:buNone/>
            </a:pPr>
            <a:r>
              <a:rPr kumimoji="1" lang="ko-KR" altLang="en-US" spc="0" dirty="0">
                <a:cs typeface="ChosunilboNM" panose="02030304000000000000" pitchFamily="18" charset="-128"/>
              </a:rPr>
              <a:t>     </a:t>
            </a:r>
            <a:r>
              <a:rPr kumimoji="1" lang="en-US" altLang="ko-KR" spc="0" dirty="0">
                <a:cs typeface="ChosunilboNM" panose="02030304000000000000" pitchFamily="18" charset="-128"/>
              </a:rPr>
              <a:t>(1) 1.0 ~ 0.7 (-1.0 ~ -0.7) : </a:t>
            </a:r>
            <a:r>
              <a:rPr kumimoji="1" lang="ko-KR" altLang="en-US" spc="0" dirty="0">
                <a:cs typeface="ChosunilboNM" panose="02030304000000000000" pitchFamily="18" charset="-128"/>
              </a:rPr>
              <a:t>매우 강한 관련성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Clr>
                <a:srgbClr val="333399"/>
              </a:buClr>
              <a:buNone/>
            </a:pPr>
            <a:r>
              <a:rPr kumimoji="1" lang="ko-KR" altLang="en-US" spc="0" dirty="0">
                <a:cs typeface="ChosunilboNM" panose="02030304000000000000" pitchFamily="18" charset="-128"/>
              </a:rPr>
              <a:t>     </a:t>
            </a:r>
            <a:r>
              <a:rPr kumimoji="1" lang="en-US" altLang="ko-KR" spc="0" dirty="0">
                <a:cs typeface="ChosunilboNM" panose="02030304000000000000" pitchFamily="18" charset="-128"/>
              </a:rPr>
              <a:t>(2) 0.69 ~ 0.4 (-0.69 ~ -0.4) : </a:t>
            </a:r>
            <a:r>
              <a:rPr kumimoji="1" lang="ko-KR" altLang="en-US" spc="0" dirty="0">
                <a:cs typeface="ChosunilboNM" panose="02030304000000000000" pitchFamily="18" charset="-128"/>
              </a:rPr>
              <a:t>상당한 관련성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Clr>
                <a:srgbClr val="333399"/>
              </a:buClr>
              <a:buNone/>
            </a:pPr>
            <a:r>
              <a:rPr kumimoji="1" lang="ko-KR" altLang="en-US" spc="0" dirty="0">
                <a:cs typeface="ChosunilboNM" panose="02030304000000000000" pitchFamily="18" charset="-128"/>
              </a:rPr>
              <a:t>     </a:t>
            </a:r>
            <a:r>
              <a:rPr kumimoji="1" lang="en-US" altLang="ko-KR" spc="0" dirty="0">
                <a:cs typeface="ChosunilboNM" panose="02030304000000000000" pitchFamily="18" charset="-128"/>
              </a:rPr>
              <a:t>(3) 0.39 ~ 0.2 (-0.39 ~ 0.2) : </a:t>
            </a:r>
            <a:r>
              <a:rPr kumimoji="1" lang="ko-KR" altLang="en-US" spc="0" dirty="0">
                <a:cs typeface="ChosunilboNM" panose="02030304000000000000" pitchFamily="18" charset="-128"/>
              </a:rPr>
              <a:t>약간의 관련성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Clr>
                <a:srgbClr val="333399"/>
              </a:buClr>
              <a:buNone/>
            </a:pPr>
            <a:r>
              <a:rPr kumimoji="1" lang="ko-KR" altLang="en-US" spc="0" dirty="0">
                <a:cs typeface="ChosunilboNM" panose="02030304000000000000" pitchFamily="18" charset="-128"/>
              </a:rPr>
              <a:t>     </a:t>
            </a:r>
            <a:r>
              <a:rPr kumimoji="1" lang="en-US" altLang="ko-KR" spc="0" dirty="0">
                <a:cs typeface="ChosunilboNM" panose="02030304000000000000" pitchFamily="18" charset="-128"/>
              </a:rPr>
              <a:t>(4) 0.19 ~ 0.0 (-0.19 ~ 0.0) : </a:t>
            </a:r>
            <a:r>
              <a:rPr kumimoji="1" lang="ko-KR" altLang="en-US" spc="0" dirty="0">
                <a:cs typeface="ChosunilboNM" panose="02030304000000000000" pitchFamily="18" charset="-128"/>
              </a:rPr>
              <a:t>관련성 거의 없음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rgbClr val="333399"/>
              </a:buClr>
              <a:buNone/>
            </a:pPr>
            <a:r>
              <a:rPr kumimoji="1" lang="ko-KR" altLang="en-US" spc="0" dirty="0">
                <a:cs typeface="ChosunilboNM" panose="02030304000000000000" pitchFamily="18" charset="-128"/>
              </a:rPr>
              <a:t>   </a:t>
            </a:r>
            <a:endParaRPr kumimoji="1" lang="en-US" altLang="ko-KR" spc="0" dirty="0">
              <a:cs typeface="ChosunilboNM" panose="02030304000000000000" pitchFamily="18" charset="-128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rgbClr val="333399"/>
              </a:buClr>
              <a:buNone/>
            </a:pPr>
            <a:r>
              <a:rPr kumimoji="1" lang="en-US" altLang="ko-KR" spc="0" dirty="0">
                <a:cs typeface="ChosunilboNM" panose="02030304000000000000" pitchFamily="18" charset="-128"/>
              </a:rPr>
              <a:t>! </a:t>
            </a:r>
            <a:r>
              <a:rPr kumimoji="1" lang="ko-KR" altLang="en-US" spc="0" dirty="0">
                <a:cs typeface="ChosunilboNM" panose="02030304000000000000" pitchFamily="18" charset="-128"/>
              </a:rPr>
              <a:t>주의 </a:t>
            </a:r>
            <a:r>
              <a:rPr kumimoji="1" lang="en-US" altLang="ko-KR" spc="0" dirty="0">
                <a:cs typeface="ChosunilboNM" panose="02030304000000000000" pitchFamily="18" charset="-128"/>
              </a:rPr>
              <a:t>: </a:t>
            </a:r>
            <a:r>
              <a:rPr kumimoji="1" lang="ko-KR" altLang="en-US" spc="0" dirty="0">
                <a:cs typeface="ChosunilboNM" panose="02030304000000000000" pitchFamily="18" charset="-128"/>
              </a:rPr>
              <a:t>상관계수의 유의도는 결과표에 *로 표시가 되며</a:t>
            </a:r>
            <a:r>
              <a:rPr kumimoji="1" lang="en-US" altLang="ko-KR" spc="0" dirty="0">
                <a:cs typeface="ChosunilboNM" panose="02030304000000000000" pitchFamily="18" charset="-128"/>
              </a:rPr>
              <a:t>, </a:t>
            </a:r>
            <a:r>
              <a:rPr kumimoji="1" lang="ko-KR" altLang="en-US" spc="0" dirty="0">
                <a:cs typeface="ChosunilboNM" panose="02030304000000000000" pitchFamily="18" charset="-128"/>
              </a:rPr>
              <a:t>연구분야에 따라서는 위의 구분이 맞지 않는 경우가 있음</a:t>
            </a:r>
            <a:r>
              <a:rPr kumimoji="1" lang="en-US" altLang="ko-KR" spc="0" dirty="0">
                <a:cs typeface="ChosunilboNM" panose="02030304000000000000" pitchFamily="18" charset="-128"/>
              </a:rPr>
              <a:t>.</a:t>
            </a:r>
          </a:p>
          <a:p>
            <a:pPr lvl="0"/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marL="0" lvl="0" indent="0">
              <a:buNone/>
            </a:pPr>
            <a:r>
              <a:t>상관분석 Correlation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7588161-E3C5-A189-7192-6CD739C532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2925" y="1387085"/>
            <a:ext cx="5435600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5">
            <a:extLst>
              <a:ext uri="{FF2B5EF4-FFF2-40B4-BE49-F238E27FC236}">
                <a16:creationId xmlns:a16="http://schemas.microsoft.com/office/drawing/2014/main" id="{0CB38532-65E8-D5A3-50E7-51454EB3C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4088271"/>
            <a:ext cx="8045450" cy="88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82600" indent="-292100" eaLnBrk="0" hangingPunct="0"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90000"/>
              </a:lnSpc>
              <a:spcBef>
                <a:spcPct val="50000"/>
              </a:spcBef>
              <a:buClr>
                <a:srgbClr val="333399"/>
              </a:buClr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결과 해석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333399"/>
              </a:buClr>
            </a:pP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 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- </a:t>
            </a: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가설 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: H0 :</a:t>
            </a: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자동차 중량과 연비와 관련성이 없다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(</a:t>
            </a: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상관도가 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0</a:t>
            </a: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이다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333399"/>
              </a:buClr>
            </a:pP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               Ha : </a:t>
            </a: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자동차 중량과 연비와 상관성이 있을 것이다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marL="0" lvl="0" indent="0">
              <a:buNone/>
            </a:pPr>
            <a:r>
              <a:rPr dirty="0" err="1"/>
              <a:t>상관분석</a:t>
            </a:r>
            <a:r>
              <a:rPr dirty="0"/>
              <a:t> Correlation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5EE2C5-72F3-DFC6-10B6-EA01D1909B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4670" y="1745956"/>
                <a:ext cx="7847518" cy="3143439"/>
              </a:xfrm>
            </p:spPr>
            <p:txBody>
              <a:bodyPr/>
              <a:lstStyle/>
              <a:p>
                <a:r>
                  <a:rPr lang="ko-KR" altLang="en-US" dirty="0"/>
                  <a:t>연습문제 풀어보기</a:t>
                </a:r>
                <a:r>
                  <a:rPr lang="en-US" altLang="ko-KR" dirty="0"/>
                  <a:t>										</a:t>
                </a:r>
                <a:r>
                  <a:rPr lang="ar-AE" dirty="0">
                    <a:cs typeface="ChosunilboNM" panose="02030304000000000000" pitchFamily="18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𝑟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∑</m:t>
                            </m:r>
                            <m:d>
                              <m:dPr>
                                <m:ctrlPr>
                                  <a:rPr lang="ar-AE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‾"/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  <m:d>
                              <m:dPr>
                                <m:ctrlPr>
                                  <a:rPr lang="ar-AE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‾"/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</m:num>
                          <m:den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num>
                      <m:den>
                        <m:rad>
                          <m:radPr>
                            <m:degHide m:val="on"/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ar-AE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∑</m:t>
                                </m:r>
                                <m:sSup>
                                  <m:sSup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‾"/>
                                            <m:ctrlP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den>
                            </m:f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×</m:t>
                            </m:r>
                            <m:f>
                              <m:fPr>
                                <m:ctrlPr>
                                  <a:rPr lang="ar-AE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∑</m:t>
                                </m:r>
                                <m:sSup>
                                  <m:sSupPr>
                                    <m:ctrlPr>
                                      <a:rPr lang="ar-AE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ar-AE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‾"/>
                                            <m:ctrlP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ar-AE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den>
                            </m:f>
                          </m:e>
                        </m:rad>
                      </m:den>
                    </m:f>
                  </m:oMath>
                </a14:m>
                <a:endParaRPr lang="en-US" altLang="ko-KR" dirty="0"/>
              </a:p>
              <a:p>
                <a:pPr lvl="0"/>
                <a:endParaRPr lang="en-US" altLang="ko-KR" dirty="0"/>
              </a:p>
              <a:p>
                <a:pPr lvl="0"/>
                <a:endParaRPr lang="en-GB" altLang="ko-KR" dirty="0"/>
              </a:p>
              <a:p>
                <a:pPr lvl="0"/>
                <a:endParaRPr lang="en-GB" dirty="0"/>
              </a:p>
              <a:p>
                <a:pPr lvl="0"/>
                <a:endParaRPr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5EE2C5-72F3-DFC6-10B6-EA01D1909B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4670" y="1745956"/>
                <a:ext cx="7847518" cy="3143439"/>
              </a:xfrm>
              <a:blipFill>
                <a:blip r:embed="rId2"/>
                <a:stretch>
                  <a:fillRect l="-3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EB992E-FF98-5F9E-EE63-4CCC497B05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87191"/>
              </p:ext>
            </p:extLst>
          </p:nvPr>
        </p:nvGraphicFramePr>
        <p:xfrm>
          <a:off x="732226" y="2823408"/>
          <a:ext cx="2420482" cy="1834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0241">
                  <a:extLst>
                    <a:ext uri="{9D8B030D-6E8A-4147-A177-3AD203B41FA5}">
                      <a16:colId xmlns:a16="http://schemas.microsoft.com/office/drawing/2014/main" val="1016033976"/>
                    </a:ext>
                  </a:extLst>
                </a:gridCol>
                <a:gridCol w="1210241">
                  <a:extLst>
                    <a:ext uri="{9D8B030D-6E8A-4147-A177-3AD203B41FA5}">
                      <a16:colId xmlns:a16="http://schemas.microsoft.com/office/drawing/2014/main" val="2533957162"/>
                    </a:ext>
                  </a:extLst>
                </a:gridCol>
              </a:tblGrid>
              <a:tr h="305725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hosunilboNM" panose="02030304000000000000" pitchFamily="18" charset="-128"/>
                        </a:rPr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hosunilboNM" panose="02030304000000000000" pitchFamily="18" charset="-128"/>
                        </a:rPr>
                        <a:t>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219476"/>
                  </a:ext>
                </a:extLst>
              </a:tr>
              <a:tr h="305725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hosunilboNM" panose="02030304000000000000" pitchFamily="18" charset="-128"/>
                        </a:rPr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hosunilboNM" panose="02030304000000000000" pitchFamily="18" charset="-128"/>
                        </a:rPr>
                        <a:t>50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645080"/>
                  </a:ext>
                </a:extLst>
              </a:tr>
              <a:tr h="305725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hosunilboNM" panose="02030304000000000000" pitchFamily="18" charset="-128"/>
                        </a:rPr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hosunilboNM" panose="02030304000000000000" pitchFamily="18" charset="-128"/>
                        </a:rPr>
                        <a:t>40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379806"/>
                  </a:ext>
                </a:extLst>
              </a:tr>
              <a:tr h="305725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hosunilboNM" panose="02030304000000000000" pitchFamily="18" charset="-128"/>
                        </a:rPr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hosunilboNM" panose="02030304000000000000" pitchFamily="18" charset="-128"/>
                        </a:rPr>
                        <a:t>30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409652"/>
                  </a:ext>
                </a:extLst>
              </a:tr>
              <a:tr h="305725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hosunilboNM" panose="02030304000000000000" pitchFamily="18" charset="-128"/>
                        </a:rPr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hosunilboNM" panose="02030304000000000000" pitchFamily="18" charset="-128"/>
                        </a:rPr>
                        <a:t>20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987472"/>
                  </a:ext>
                </a:extLst>
              </a:tr>
              <a:tr h="305725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hosunilboNM" panose="02030304000000000000" pitchFamily="18" charset="-128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hosunilboNM" panose="02030304000000000000" pitchFamily="18" charset="-128"/>
                        </a:rPr>
                        <a:t>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23044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FC1C754-44ED-6953-9998-79CEA866A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068195"/>
              </p:ext>
            </p:extLst>
          </p:nvPr>
        </p:nvGraphicFramePr>
        <p:xfrm>
          <a:off x="3709516" y="2823408"/>
          <a:ext cx="2420482" cy="183435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10241">
                  <a:extLst>
                    <a:ext uri="{9D8B030D-6E8A-4147-A177-3AD203B41FA5}">
                      <a16:colId xmlns:a16="http://schemas.microsoft.com/office/drawing/2014/main" val="1016033976"/>
                    </a:ext>
                  </a:extLst>
                </a:gridCol>
                <a:gridCol w="1210241">
                  <a:extLst>
                    <a:ext uri="{9D8B030D-6E8A-4147-A177-3AD203B41FA5}">
                      <a16:colId xmlns:a16="http://schemas.microsoft.com/office/drawing/2014/main" val="2533957162"/>
                    </a:ext>
                  </a:extLst>
                </a:gridCol>
              </a:tblGrid>
              <a:tr h="305725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hosunilboNM" panose="02030304000000000000" pitchFamily="18" charset="-128"/>
                        </a:rPr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hosunilboNM" panose="02030304000000000000" pitchFamily="18" charset="-128"/>
                        </a:rPr>
                        <a:t>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219476"/>
                  </a:ext>
                </a:extLst>
              </a:tr>
              <a:tr h="305725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hosunilboNM" panose="02030304000000000000" pitchFamily="18" charset="-128"/>
                        </a:rPr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hosunilboNM" panose="02030304000000000000" pitchFamily="18" charset="-128"/>
                        </a:rPr>
                        <a:t>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645080"/>
                  </a:ext>
                </a:extLst>
              </a:tr>
              <a:tr h="305725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hosunilboNM" panose="02030304000000000000" pitchFamily="18" charset="-128"/>
                        </a:rPr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hosunilboNM" panose="02030304000000000000" pitchFamily="18" charset="-128"/>
                        </a:rPr>
                        <a:t>20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379806"/>
                  </a:ext>
                </a:extLst>
              </a:tr>
              <a:tr h="305725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hosunilboNM" panose="02030304000000000000" pitchFamily="18" charset="-128"/>
                        </a:rPr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hosunilboNM" panose="02030304000000000000" pitchFamily="18" charset="-128"/>
                        </a:rPr>
                        <a:t>30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409652"/>
                  </a:ext>
                </a:extLst>
              </a:tr>
              <a:tr h="305725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hosunilboNM" panose="02030304000000000000" pitchFamily="18" charset="-128"/>
                        </a:rPr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hosunilboNM" panose="02030304000000000000" pitchFamily="18" charset="-128"/>
                        </a:rPr>
                        <a:t>40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987472"/>
                  </a:ext>
                </a:extLst>
              </a:tr>
              <a:tr h="305725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hosunilboNM" panose="02030304000000000000" pitchFamily="18" charset="-128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hosunilboNM" panose="02030304000000000000" pitchFamily="18" charset="-128"/>
                        </a:rPr>
                        <a:t>50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23044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>
            <a:extLst>
              <a:ext uri="{FF2B5EF4-FFF2-40B4-BE49-F238E27FC236}">
                <a16:creationId xmlns:a16="http://schemas.microsoft.com/office/drawing/2014/main" id="{F1A27582-14EF-6FFF-F9FF-3DB360150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974" y="1403802"/>
            <a:ext cx="8227290" cy="2335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82600" indent="-292100" eaLnBrk="0" hangingPunct="0"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476250" lvl="1" indent="-285750" algn="l" eaLnBrk="1" hangingPunct="1">
              <a:lnSpc>
                <a:spcPct val="130000"/>
              </a:lnSpc>
              <a:spcBef>
                <a:spcPct val="50000"/>
              </a:spcBef>
              <a:buClr>
                <a:srgbClr val="333399"/>
              </a:buClr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사용목적</a:t>
            </a:r>
          </a:p>
          <a:p>
            <a:pPr lvl="1" algn="l" eaLnBrk="1" hangingPunct="1">
              <a:lnSpc>
                <a:spcPct val="130000"/>
              </a:lnSpc>
              <a:spcBef>
                <a:spcPct val="50000"/>
              </a:spcBef>
              <a:buClr>
                <a:srgbClr val="333399"/>
              </a:buClr>
              <a:buFont typeface="Wingdings" panose="05000000000000000000" pitchFamily="2" charset="2"/>
              <a:buNone/>
            </a:pPr>
            <a:r>
              <a:rPr lang="ko-KR" altLang="en-US" sz="1400" b="1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  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- </a:t>
            </a:r>
            <a:r>
              <a:rPr lang="ko-KR" altLang="en-US" sz="1400" dirty="0" err="1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변수들간의</a:t>
            </a: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상호관계를 분석하고 특정변수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(</a:t>
            </a: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독립변수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)</a:t>
            </a: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의 변화로 부터 다른 변수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(</a:t>
            </a: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종속변수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)</a:t>
            </a: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의 변화를 예측하기 위해 사용</a:t>
            </a:r>
          </a:p>
          <a:p>
            <a:pPr lvl="1" algn="l" eaLnBrk="1" hangingPunct="1">
              <a:lnSpc>
                <a:spcPct val="130000"/>
              </a:lnSpc>
              <a:spcBef>
                <a:spcPct val="50000"/>
              </a:spcBef>
              <a:buClr>
                <a:srgbClr val="333399"/>
              </a:buClr>
              <a:buFont typeface="Wingdings" panose="05000000000000000000" pitchFamily="2" charset="2"/>
              <a:buNone/>
            </a:pP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  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- </a:t>
            </a: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종속변수에 영향을 미치는 독립변수를 규명하고 이들 변수들에 의해 하나의 선형방정식을 도출한다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. </a:t>
            </a: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도출된 선형방정식을 </a:t>
            </a:r>
            <a:r>
              <a:rPr lang="ko-KR" altLang="en-US" sz="1400" dirty="0" err="1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회귀식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(regression equation)</a:t>
            </a: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이라 한다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.</a:t>
            </a:r>
          </a:p>
          <a:p>
            <a:pPr lvl="1" algn="l" eaLnBrk="1" hangingPunct="1">
              <a:lnSpc>
                <a:spcPct val="130000"/>
              </a:lnSpc>
              <a:spcBef>
                <a:spcPct val="50000"/>
              </a:spcBef>
              <a:buClr>
                <a:srgbClr val="333399"/>
              </a:buClr>
              <a:buFont typeface="Wingdings" panose="05000000000000000000" pitchFamily="2" charset="2"/>
              <a:buNone/>
            </a:pP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  - </a:t>
            </a: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예 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: </a:t>
            </a: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자동차 연비에 영향을 미치는 요인은 무엇인가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?</a:t>
            </a:r>
            <a:b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</a:b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(</a:t>
            </a: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종속변수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:</a:t>
            </a: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자동차연비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/</a:t>
            </a: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독립변수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:</a:t>
            </a: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영향을 주는 요인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(</a:t>
            </a: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중량 등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D055607-705B-4F7B-5983-233E16A7443F}"/>
              </a:ext>
            </a:extLst>
          </p:cNvPr>
          <p:cNvSpPr/>
          <p:nvPr/>
        </p:nvSpPr>
        <p:spPr>
          <a:xfrm>
            <a:off x="732226" y="960850"/>
            <a:ext cx="7679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u="sng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회귀분석</a:t>
            </a:r>
            <a:r>
              <a:rPr lang="ko-KR" altLang="en-US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Regression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E689D69-B6C6-866B-4FA2-A141A109380A}"/>
              </a:ext>
            </a:extLst>
          </p:cNvPr>
          <p:cNvSpPr/>
          <p:nvPr/>
        </p:nvSpPr>
        <p:spPr>
          <a:xfrm>
            <a:off x="500530" y="590968"/>
            <a:ext cx="6536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Section 04 |  </a:t>
            </a:r>
            <a:r>
              <a:rPr lang="ko-KR" altLang="en-US" sz="200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상관과 예측</a:t>
            </a:r>
          </a:p>
        </p:txBody>
      </p:sp>
    </p:spTree>
    <p:extLst>
      <p:ext uri="{BB962C8B-B14F-4D97-AF65-F5344CB8AC3E}">
        <p14:creationId xmlns:p14="http://schemas.microsoft.com/office/powerpoint/2010/main" val="2233854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798796C-DDD5-CABA-3277-CCEA27965E26}"/>
              </a:ext>
            </a:extLst>
          </p:cNvPr>
          <p:cNvSpPr txBox="1"/>
          <p:nvPr/>
        </p:nvSpPr>
        <p:spPr>
          <a:xfrm>
            <a:off x="809572" y="1395532"/>
            <a:ext cx="5918640" cy="339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  <a:buClr>
                <a:srgbClr val="333399"/>
              </a:buClr>
            </a:pP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회귀분석의 정식 명칭은 선형회귀분석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(linear</a:t>
            </a: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regression analysis)</a:t>
            </a:r>
            <a:endParaRPr lang="ko-KR" altLang="en-US" sz="1400" dirty="0">
              <a:latin typeface="ChosunilboNM" panose="02030304000000000000" pitchFamily="18" charset="-128"/>
              <a:ea typeface="ChosunilboNM" panose="02030304000000000000" pitchFamily="18" charset="-128"/>
              <a:cs typeface="ChosunilboNM" panose="02030304000000000000" pitchFamily="18" charset="-128"/>
            </a:endParaRPr>
          </a:p>
        </p:txBody>
      </p:sp>
      <p:sp>
        <p:nvSpPr>
          <p:cNvPr id="8" name="단순(simple)">
            <a:extLst>
              <a:ext uri="{FF2B5EF4-FFF2-40B4-BE49-F238E27FC236}">
                <a16:creationId xmlns:a16="http://schemas.microsoft.com/office/drawing/2014/main" id="{5E32EC09-CBC3-D6DD-E5F9-B1EC205A3391}"/>
              </a:ext>
            </a:extLst>
          </p:cNvPr>
          <p:cNvSpPr txBox="1"/>
          <p:nvPr/>
        </p:nvSpPr>
        <p:spPr>
          <a:xfrm>
            <a:off x="1498762" y="1770005"/>
            <a:ext cx="2645707" cy="705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/>
          <a:p>
            <a:r>
              <a:rPr sz="1400" dirty="0" err="1">
                <a:latin typeface="ChosunilboNM" panose="02030304000000000000" pitchFamily="18" charset="-128"/>
              </a:rPr>
              <a:t>단순</a:t>
            </a:r>
            <a:r>
              <a:rPr sz="1400" dirty="0">
                <a:latin typeface="ChosunilboNM" panose="02030304000000000000" pitchFamily="18" charset="-128"/>
              </a:rPr>
              <a:t>(simple)</a:t>
            </a:r>
          </a:p>
        </p:txBody>
      </p:sp>
      <p:sp>
        <p:nvSpPr>
          <p:cNvPr id="9" name="다중(multiple)">
            <a:extLst>
              <a:ext uri="{FF2B5EF4-FFF2-40B4-BE49-F238E27FC236}">
                <a16:creationId xmlns:a16="http://schemas.microsoft.com/office/drawing/2014/main" id="{885343A9-52F8-A451-DCCD-8F7C2C2C0C55}"/>
              </a:ext>
            </a:extLst>
          </p:cNvPr>
          <p:cNvSpPr txBox="1"/>
          <p:nvPr/>
        </p:nvSpPr>
        <p:spPr>
          <a:xfrm>
            <a:off x="4627716" y="1937949"/>
            <a:ext cx="1820758" cy="369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/>
          <a:p>
            <a:r>
              <a:rPr sz="1400" dirty="0" err="1">
                <a:latin typeface="ChosunilboNM" panose="02030304000000000000" pitchFamily="18" charset="-128"/>
              </a:rPr>
              <a:t>다중</a:t>
            </a:r>
            <a:r>
              <a:rPr sz="1400" dirty="0">
                <a:latin typeface="ChosunilboNM" panose="02030304000000000000" pitchFamily="18" charset="-128"/>
              </a:rPr>
              <a:t>(multiple)</a:t>
            </a:r>
          </a:p>
        </p:txBody>
      </p:sp>
      <p:sp>
        <p:nvSpPr>
          <p:cNvPr id="10" name="독립변수 1개">
            <a:extLst>
              <a:ext uri="{FF2B5EF4-FFF2-40B4-BE49-F238E27FC236}">
                <a16:creationId xmlns:a16="http://schemas.microsoft.com/office/drawing/2014/main" id="{9747A158-3249-879E-FEAF-B1C7783B96AA}"/>
              </a:ext>
            </a:extLst>
          </p:cNvPr>
          <p:cNvSpPr txBox="1"/>
          <p:nvPr/>
        </p:nvSpPr>
        <p:spPr>
          <a:xfrm>
            <a:off x="1750426" y="2235723"/>
            <a:ext cx="1060517" cy="309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>
              <a:defRPr sz="4200" spc="-210"/>
            </a:lvl1pPr>
          </a:lstStyle>
          <a:p>
            <a:r>
              <a:rPr sz="1200" spc="0" dirty="0" err="1">
                <a:latin typeface="ChosunilboNM" panose="02030304000000000000" pitchFamily="18" charset="-128"/>
              </a:rPr>
              <a:t>독립변수</a:t>
            </a:r>
            <a:r>
              <a:rPr sz="1200" spc="0" dirty="0">
                <a:latin typeface="ChosunilboNM" panose="02030304000000000000" pitchFamily="18" charset="-128"/>
              </a:rPr>
              <a:t> 1개</a:t>
            </a:r>
          </a:p>
        </p:txBody>
      </p:sp>
      <p:sp>
        <p:nvSpPr>
          <p:cNvPr id="11" name="독립변수 2개 이상">
            <a:extLst>
              <a:ext uri="{FF2B5EF4-FFF2-40B4-BE49-F238E27FC236}">
                <a16:creationId xmlns:a16="http://schemas.microsoft.com/office/drawing/2014/main" id="{AF9B2071-8EE4-B4B5-C293-663BEE728A0C}"/>
              </a:ext>
            </a:extLst>
          </p:cNvPr>
          <p:cNvSpPr txBox="1"/>
          <p:nvPr/>
        </p:nvSpPr>
        <p:spPr>
          <a:xfrm>
            <a:off x="4790985" y="2219904"/>
            <a:ext cx="1542073" cy="282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>
              <a:defRPr sz="4200" spc="-210"/>
            </a:lvl1pPr>
          </a:lstStyle>
          <a:p>
            <a:r>
              <a:rPr sz="1200" spc="0" dirty="0" err="1">
                <a:latin typeface="ChosunilboNM" panose="02030304000000000000" pitchFamily="18" charset="-128"/>
              </a:rPr>
              <a:t>독립변수</a:t>
            </a:r>
            <a:r>
              <a:rPr sz="1200" spc="0" dirty="0">
                <a:latin typeface="ChosunilboNM" panose="02030304000000000000" pitchFamily="18" charset="-128"/>
              </a:rPr>
              <a:t> 2개 </a:t>
            </a:r>
            <a:r>
              <a:rPr sz="1200" spc="0" dirty="0" err="1">
                <a:latin typeface="ChosunilboNM" panose="02030304000000000000" pitchFamily="18" charset="-128"/>
              </a:rPr>
              <a:t>이상</a:t>
            </a:r>
            <a:endParaRPr sz="1200" spc="0" dirty="0">
              <a:latin typeface="ChosunilboNM" panose="02030304000000000000" pitchFamily="18" charset="-128"/>
            </a:endParaRPr>
          </a:p>
        </p:txBody>
      </p:sp>
      <p:grpSp>
        <p:nvGrpSpPr>
          <p:cNvPr id="12" name="Group">
            <a:extLst>
              <a:ext uri="{FF2B5EF4-FFF2-40B4-BE49-F238E27FC236}">
                <a16:creationId xmlns:a16="http://schemas.microsoft.com/office/drawing/2014/main" id="{50223CD5-2424-3EB7-6A96-02FE3972FED9}"/>
              </a:ext>
            </a:extLst>
          </p:cNvPr>
          <p:cNvGrpSpPr/>
          <p:nvPr/>
        </p:nvGrpSpPr>
        <p:grpSpPr>
          <a:xfrm>
            <a:off x="1474308" y="2570949"/>
            <a:ext cx="2271151" cy="1995578"/>
            <a:chOff x="0" y="0"/>
            <a:chExt cx="6473966" cy="5601095"/>
          </a:xfrm>
        </p:grpSpPr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572FC8CB-9F94-778F-4B7E-7F103E051B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0504"/>
            <a:stretch>
              <a:fillRect/>
            </a:stretch>
          </p:blipFill>
          <p:spPr>
            <a:xfrm>
              <a:off x="0" y="0"/>
              <a:ext cx="6473966" cy="512662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" name="(a)선형방정식">
              <a:extLst>
                <a:ext uri="{FF2B5EF4-FFF2-40B4-BE49-F238E27FC236}">
                  <a16:creationId xmlns:a16="http://schemas.microsoft.com/office/drawing/2014/main" id="{DBE379AB-088D-E297-996D-544C5D9087F3}"/>
                </a:ext>
              </a:extLst>
            </p:cNvPr>
            <p:cNvSpPr txBox="1"/>
            <p:nvPr/>
          </p:nvSpPr>
          <p:spPr>
            <a:xfrm>
              <a:off x="1608753" y="5050195"/>
              <a:ext cx="3351348" cy="550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8100" tIns="38100" rIns="38100" bIns="38100" numCol="1" anchor="ctr">
              <a:noAutofit/>
            </a:bodyPr>
            <a:lstStyle>
              <a:lvl1pPr algn="ctr" defTabSz="584200">
                <a:spcBef>
                  <a:spcPts val="0"/>
                </a:spcBef>
                <a:defRPr sz="2400" spc="0">
                  <a:solidFill>
                    <a:srgbClr val="535353"/>
                  </a:solidFill>
                  <a:latin typeface="야놀자 야체 OTF Regular"/>
                  <a:ea typeface="야놀자 야체 OTF Regular"/>
                  <a:cs typeface="야놀자 야체 OTF Regular"/>
                  <a:sym typeface="야놀자 야체 OTF Regular"/>
                </a:defRPr>
              </a:lvl1pPr>
            </a:lstStyle>
            <a:p>
              <a:r>
                <a:rPr sz="1400" dirty="0"/>
                <a:t>(a)</a:t>
              </a:r>
              <a:r>
                <a:rPr sz="1400" dirty="0" err="1"/>
                <a:t>선형방정식</a:t>
              </a:r>
              <a:endParaRPr sz="1400" dirty="0"/>
            </a:p>
          </p:txBody>
        </p:sp>
      </p:grpSp>
      <p:grpSp>
        <p:nvGrpSpPr>
          <p:cNvPr id="15" name="Group">
            <a:extLst>
              <a:ext uri="{FF2B5EF4-FFF2-40B4-BE49-F238E27FC236}">
                <a16:creationId xmlns:a16="http://schemas.microsoft.com/office/drawing/2014/main" id="{7386B6BC-E308-7F74-E1B2-46546B7AC6D0}"/>
              </a:ext>
            </a:extLst>
          </p:cNvPr>
          <p:cNvGrpSpPr/>
          <p:nvPr/>
        </p:nvGrpSpPr>
        <p:grpSpPr>
          <a:xfrm>
            <a:off x="4790985" y="2545240"/>
            <a:ext cx="2557311" cy="2000852"/>
            <a:chOff x="0" y="0"/>
            <a:chExt cx="6473244" cy="5770938"/>
          </a:xfrm>
        </p:grpSpPr>
        <p:pic>
          <p:nvPicPr>
            <p:cNvPr id="16" name="Image" descr="Image">
              <a:extLst>
                <a:ext uri="{FF2B5EF4-FFF2-40B4-BE49-F238E27FC236}">
                  <a16:creationId xmlns:a16="http://schemas.microsoft.com/office/drawing/2014/main" id="{3B9D6A8B-033E-4A6C-EE66-040C90257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0317"/>
            <a:stretch>
              <a:fillRect/>
            </a:stretch>
          </p:blipFill>
          <p:spPr>
            <a:xfrm>
              <a:off x="0" y="0"/>
              <a:ext cx="6473244" cy="51367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7" name="(b)회귀방정식">
              <a:extLst>
                <a:ext uri="{FF2B5EF4-FFF2-40B4-BE49-F238E27FC236}">
                  <a16:creationId xmlns:a16="http://schemas.microsoft.com/office/drawing/2014/main" id="{D89EAA59-E7E6-77DA-AD5D-3F83FA70BB30}"/>
                </a:ext>
              </a:extLst>
            </p:cNvPr>
            <p:cNvSpPr txBox="1"/>
            <p:nvPr/>
          </p:nvSpPr>
          <p:spPr>
            <a:xfrm>
              <a:off x="2274867" y="5204828"/>
              <a:ext cx="2628776" cy="5661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8100" tIns="38100" rIns="38100" bIns="38100" numCol="1" anchor="ctr">
              <a:noAutofit/>
            </a:bodyPr>
            <a:lstStyle>
              <a:lvl1pPr algn="ctr" defTabSz="584200">
                <a:spcBef>
                  <a:spcPts val="0"/>
                </a:spcBef>
                <a:defRPr sz="2400" spc="0">
                  <a:solidFill>
                    <a:srgbClr val="535353"/>
                  </a:solidFill>
                  <a:latin typeface="야놀자 야체 OTF Regular"/>
                  <a:ea typeface="야놀자 야체 OTF Regular"/>
                  <a:cs typeface="야놀자 야체 OTF Regular"/>
                  <a:sym typeface="야놀자 야체 OTF Regular"/>
                </a:defRPr>
              </a:lvl1pPr>
            </a:lstStyle>
            <a:p>
              <a:r>
                <a:rPr sz="1400" dirty="0"/>
                <a:t>(b)</a:t>
              </a:r>
              <a:r>
                <a:rPr sz="1400" dirty="0" err="1"/>
                <a:t>회귀방정식</a:t>
              </a:r>
              <a:endParaRPr sz="1400" dirty="0"/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8EDA2AC1-9DCC-AF7D-72AB-02F306D1B9C1}"/>
              </a:ext>
            </a:extLst>
          </p:cNvPr>
          <p:cNvSpPr/>
          <p:nvPr/>
        </p:nvSpPr>
        <p:spPr>
          <a:xfrm>
            <a:off x="732226" y="960850"/>
            <a:ext cx="7679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u="sng" spc="-300" dirty="0">
                <a:solidFill>
                  <a:schemeClr val="bg1">
                    <a:lumMod val="7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회귀분석</a:t>
            </a:r>
            <a:r>
              <a:rPr lang="ko-KR" altLang="en-US" sz="2000" spc="-30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2000" spc="-30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Regression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F4B4637-A966-CBE6-C3F7-427AE11CA9A3}"/>
              </a:ext>
            </a:extLst>
          </p:cNvPr>
          <p:cNvSpPr/>
          <p:nvPr/>
        </p:nvSpPr>
        <p:spPr>
          <a:xfrm>
            <a:off x="500530" y="590968"/>
            <a:ext cx="6536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Section 04 |  </a:t>
            </a:r>
            <a:r>
              <a:rPr lang="ko-KR" altLang="en-US" sz="200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상관과 예측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B978A-ECD5-CC64-D4E5-FBEB052B8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분산_36170779_s-300x300.jpg" descr="분산_36170779_s-300x300.jpg">
            <a:extLst>
              <a:ext uri="{FF2B5EF4-FFF2-40B4-BE49-F238E27FC236}">
                <a16:creationId xmlns:a16="http://schemas.microsoft.com/office/drawing/2014/main" id="{6145C790-50D4-D259-86B8-9A73C119FE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30" t="9816" r="12708" b="9813"/>
          <a:stretch>
            <a:fillRect/>
          </a:stretch>
        </p:blipFill>
        <p:spPr>
          <a:xfrm>
            <a:off x="2474502" y="2032659"/>
            <a:ext cx="714070" cy="7555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5" h="21588" extrusionOk="0">
                <a:moveTo>
                  <a:pt x="13091" y="5"/>
                </a:moveTo>
                <a:cubicBezTo>
                  <a:pt x="13056" y="22"/>
                  <a:pt x="13055" y="79"/>
                  <a:pt x="13094" y="177"/>
                </a:cubicBezTo>
                <a:cubicBezTo>
                  <a:pt x="13129" y="262"/>
                  <a:pt x="13207" y="292"/>
                  <a:pt x="13305" y="257"/>
                </a:cubicBezTo>
                <a:cubicBezTo>
                  <a:pt x="13450" y="204"/>
                  <a:pt x="13452" y="188"/>
                  <a:pt x="13295" y="78"/>
                </a:cubicBezTo>
                <a:cubicBezTo>
                  <a:pt x="13196" y="10"/>
                  <a:pt x="13126" y="-12"/>
                  <a:pt x="13091" y="5"/>
                </a:cubicBezTo>
                <a:close/>
                <a:moveTo>
                  <a:pt x="12840" y="613"/>
                </a:moveTo>
                <a:cubicBezTo>
                  <a:pt x="12757" y="603"/>
                  <a:pt x="12683" y="741"/>
                  <a:pt x="12727" y="909"/>
                </a:cubicBezTo>
                <a:cubicBezTo>
                  <a:pt x="12772" y="1079"/>
                  <a:pt x="12741" y="1145"/>
                  <a:pt x="12573" y="1206"/>
                </a:cubicBezTo>
                <a:cubicBezTo>
                  <a:pt x="12448" y="1251"/>
                  <a:pt x="12313" y="1248"/>
                  <a:pt x="12249" y="1199"/>
                </a:cubicBezTo>
                <a:cubicBezTo>
                  <a:pt x="12180" y="1146"/>
                  <a:pt x="12116" y="1152"/>
                  <a:pt x="12075" y="1215"/>
                </a:cubicBezTo>
                <a:cubicBezTo>
                  <a:pt x="12039" y="1270"/>
                  <a:pt x="11952" y="1295"/>
                  <a:pt x="11881" y="1269"/>
                </a:cubicBezTo>
                <a:cubicBezTo>
                  <a:pt x="11811" y="1243"/>
                  <a:pt x="11730" y="1256"/>
                  <a:pt x="11701" y="1301"/>
                </a:cubicBezTo>
                <a:cubicBezTo>
                  <a:pt x="11672" y="1346"/>
                  <a:pt x="11586" y="1363"/>
                  <a:pt x="11514" y="1336"/>
                </a:cubicBezTo>
                <a:cubicBezTo>
                  <a:pt x="11369" y="1283"/>
                  <a:pt x="10715" y="1550"/>
                  <a:pt x="10715" y="1661"/>
                </a:cubicBezTo>
                <a:cubicBezTo>
                  <a:pt x="10715" y="1756"/>
                  <a:pt x="10993" y="1852"/>
                  <a:pt x="11096" y="1792"/>
                </a:cubicBezTo>
                <a:cubicBezTo>
                  <a:pt x="11142" y="1764"/>
                  <a:pt x="11309" y="1832"/>
                  <a:pt x="11464" y="1941"/>
                </a:cubicBezTo>
                <a:cubicBezTo>
                  <a:pt x="11679" y="2093"/>
                  <a:pt x="11719" y="2166"/>
                  <a:pt x="11641" y="2256"/>
                </a:cubicBezTo>
                <a:cubicBezTo>
                  <a:pt x="11584" y="2321"/>
                  <a:pt x="11489" y="2347"/>
                  <a:pt x="11430" y="2314"/>
                </a:cubicBezTo>
                <a:cubicBezTo>
                  <a:pt x="11371" y="2280"/>
                  <a:pt x="11383" y="2320"/>
                  <a:pt x="11454" y="2403"/>
                </a:cubicBezTo>
                <a:cubicBezTo>
                  <a:pt x="11564" y="2533"/>
                  <a:pt x="11558" y="2563"/>
                  <a:pt x="11407" y="2610"/>
                </a:cubicBezTo>
                <a:cubicBezTo>
                  <a:pt x="11311" y="2640"/>
                  <a:pt x="11167" y="2684"/>
                  <a:pt x="11089" y="2712"/>
                </a:cubicBezTo>
                <a:cubicBezTo>
                  <a:pt x="11012" y="2739"/>
                  <a:pt x="10915" y="2756"/>
                  <a:pt x="10872" y="2747"/>
                </a:cubicBezTo>
                <a:cubicBezTo>
                  <a:pt x="10829" y="2738"/>
                  <a:pt x="10820" y="2771"/>
                  <a:pt x="10852" y="2820"/>
                </a:cubicBezTo>
                <a:cubicBezTo>
                  <a:pt x="10884" y="2869"/>
                  <a:pt x="10820" y="2961"/>
                  <a:pt x="10715" y="3024"/>
                </a:cubicBezTo>
                <a:cubicBezTo>
                  <a:pt x="10610" y="3087"/>
                  <a:pt x="10524" y="3171"/>
                  <a:pt x="10524" y="3212"/>
                </a:cubicBezTo>
                <a:cubicBezTo>
                  <a:pt x="10524" y="3252"/>
                  <a:pt x="10562" y="3261"/>
                  <a:pt x="10608" y="3234"/>
                </a:cubicBezTo>
                <a:cubicBezTo>
                  <a:pt x="10654" y="3207"/>
                  <a:pt x="10741" y="3241"/>
                  <a:pt x="10802" y="3310"/>
                </a:cubicBezTo>
                <a:cubicBezTo>
                  <a:pt x="10888" y="3410"/>
                  <a:pt x="10875" y="3456"/>
                  <a:pt x="10742" y="3530"/>
                </a:cubicBezTo>
                <a:cubicBezTo>
                  <a:pt x="10648" y="3582"/>
                  <a:pt x="10610" y="3627"/>
                  <a:pt x="10655" y="3629"/>
                </a:cubicBezTo>
                <a:cubicBezTo>
                  <a:pt x="10700" y="3630"/>
                  <a:pt x="10693" y="3684"/>
                  <a:pt x="10638" y="3747"/>
                </a:cubicBezTo>
                <a:cubicBezTo>
                  <a:pt x="10583" y="3810"/>
                  <a:pt x="10517" y="3975"/>
                  <a:pt x="10491" y="4113"/>
                </a:cubicBezTo>
                <a:cubicBezTo>
                  <a:pt x="10465" y="4251"/>
                  <a:pt x="10394" y="4417"/>
                  <a:pt x="10337" y="4482"/>
                </a:cubicBezTo>
                <a:cubicBezTo>
                  <a:pt x="10262" y="4568"/>
                  <a:pt x="10265" y="4616"/>
                  <a:pt x="10341" y="4661"/>
                </a:cubicBezTo>
                <a:cubicBezTo>
                  <a:pt x="10457" y="4729"/>
                  <a:pt x="10196" y="5062"/>
                  <a:pt x="10027" y="5062"/>
                </a:cubicBezTo>
                <a:cubicBezTo>
                  <a:pt x="9974" y="5062"/>
                  <a:pt x="9853" y="5128"/>
                  <a:pt x="9759" y="5208"/>
                </a:cubicBezTo>
                <a:cubicBezTo>
                  <a:pt x="9601" y="5344"/>
                  <a:pt x="9588" y="5343"/>
                  <a:pt x="9529" y="5186"/>
                </a:cubicBezTo>
                <a:cubicBezTo>
                  <a:pt x="9408" y="4866"/>
                  <a:pt x="9290" y="4781"/>
                  <a:pt x="9141" y="4899"/>
                </a:cubicBezTo>
                <a:cubicBezTo>
                  <a:pt x="9030" y="4987"/>
                  <a:pt x="8963" y="4953"/>
                  <a:pt x="8770" y="4718"/>
                </a:cubicBezTo>
                <a:cubicBezTo>
                  <a:pt x="8597" y="4507"/>
                  <a:pt x="8500" y="4454"/>
                  <a:pt x="8416" y="4520"/>
                </a:cubicBezTo>
                <a:cubicBezTo>
                  <a:pt x="8332" y="4586"/>
                  <a:pt x="8245" y="4554"/>
                  <a:pt x="8098" y="4406"/>
                </a:cubicBezTo>
                <a:cubicBezTo>
                  <a:pt x="7986" y="4292"/>
                  <a:pt x="7918" y="4176"/>
                  <a:pt x="7948" y="4148"/>
                </a:cubicBezTo>
                <a:cubicBezTo>
                  <a:pt x="7978" y="4120"/>
                  <a:pt x="7925" y="4102"/>
                  <a:pt x="7834" y="4110"/>
                </a:cubicBezTo>
                <a:cubicBezTo>
                  <a:pt x="7586" y="4130"/>
                  <a:pt x="7478" y="3555"/>
                  <a:pt x="7687" y="3320"/>
                </a:cubicBezTo>
                <a:cubicBezTo>
                  <a:pt x="7705" y="3300"/>
                  <a:pt x="7701" y="3300"/>
                  <a:pt x="7714" y="3285"/>
                </a:cubicBezTo>
                <a:cubicBezTo>
                  <a:pt x="7728" y="3263"/>
                  <a:pt x="7741" y="3243"/>
                  <a:pt x="7741" y="3224"/>
                </a:cubicBezTo>
                <a:cubicBezTo>
                  <a:pt x="7725" y="3235"/>
                  <a:pt x="7725" y="3230"/>
                  <a:pt x="7694" y="3253"/>
                </a:cubicBezTo>
                <a:cubicBezTo>
                  <a:pt x="7572" y="3343"/>
                  <a:pt x="7525" y="3338"/>
                  <a:pt x="7440" y="3240"/>
                </a:cubicBezTo>
                <a:cubicBezTo>
                  <a:pt x="7382" y="3174"/>
                  <a:pt x="7351" y="3102"/>
                  <a:pt x="7376" y="3078"/>
                </a:cubicBezTo>
                <a:cubicBezTo>
                  <a:pt x="7402" y="3054"/>
                  <a:pt x="7360" y="3033"/>
                  <a:pt x="7283" y="3033"/>
                </a:cubicBezTo>
                <a:cubicBezTo>
                  <a:pt x="7205" y="3033"/>
                  <a:pt x="7142" y="3080"/>
                  <a:pt x="7142" y="3138"/>
                </a:cubicBezTo>
                <a:cubicBezTo>
                  <a:pt x="7142" y="3283"/>
                  <a:pt x="6812" y="3556"/>
                  <a:pt x="6731" y="3479"/>
                </a:cubicBezTo>
                <a:cubicBezTo>
                  <a:pt x="6695" y="3445"/>
                  <a:pt x="6594" y="3409"/>
                  <a:pt x="6507" y="3396"/>
                </a:cubicBezTo>
                <a:cubicBezTo>
                  <a:pt x="6421" y="3384"/>
                  <a:pt x="6253" y="3322"/>
                  <a:pt x="6130" y="3259"/>
                </a:cubicBezTo>
                <a:cubicBezTo>
                  <a:pt x="5938" y="3161"/>
                  <a:pt x="5893" y="3166"/>
                  <a:pt x="5816" y="3298"/>
                </a:cubicBezTo>
                <a:cubicBezTo>
                  <a:pt x="5766" y="3382"/>
                  <a:pt x="5661" y="3451"/>
                  <a:pt x="5582" y="3451"/>
                </a:cubicBezTo>
                <a:cubicBezTo>
                  <a:pt x="5503" y="3451"/>
                  <a:pt x="5318" y="3565"/>
                  <a:pt x="5171" y="3705"/>
                </a:cubicBezTo>
                <a:lnTo>
                  <a:pt x="4903" y="3960"/>
                </a:lnTo>
                <a:lnTo>
                  <a:pt x="5228" y="3973"/>
                </a:lnTo>
                <a:cubicBezTo>
                  <a:pt x="5637" y="3987"/>
                  <a:pt x="5788" y="4063"/>
                  <a:pt x="5652" y="4192"/>
                </a:cubicBezTo>
                <a:cubicBezTo>
                  <a:pt x="5581" y="4260"/>
                  <a:pt x="5580" y="4324"/>
                  <a:pt x="5652" y="4406"/>
                </a:cubicBezTo>
                <a:cubicBezTo>
                  <a:pt x="5729" y="4494"/>
                  <a:pt x="5689" y="4549"/>
                  <a:pt x="5485" y="4635"/>
                </a:cubicBezTo>
                <a:cubicBezTo>
                  <a:pt x="5337" y="4697"/>
                  <a:pt x="5171" y="4807"/>
                  <a:pt x="5114" y="4877"/>
                </a:cubicBezTo>
                <a:cubicBezTo>
                  <a:pt x="5054" y="4950"/>
                  <a:pt x="4941" y="4977"/>
                  <a:pt x="4850" y="4944"/>
                </a:cubicBezTo>
                <a:cubicBezTo>
                  <a:pt x="4744" y="4905"/>
                  <a:pt x="4712" y="4921"/>
                  <a:pt x="4756" y="4989"/>
                </a:cubicBezTo>
                <a:cubicBezTo>
                  <a:pt x="4793" y="5045"/>
                  <a:pt x="4750" y="5138"/>
                  <a:pt x="4663" y="5199"/>
                </a:cubicBezTo>
                <a:cubicBezTo>
                  <a:pt x="4525" y="5295"/>
                  <a:pt x="4525" y="5316"/>
                  <a:pt x="4649" y="5361"/>
                </a:cubicBezTo>
                <a:cubicBezTo>
                  <a:pt x="4758" y="5401"/>
                  <a:pt x="4772" y="5467"/>
                  <a:pt x="4706" y="5632"/>
                </a:cubicBezTo>
                <a:cubicBezTo>
                  <a:pt x="4569" y="5974"/>
                  <a:pt x="4641" y="6183"/>
                  <a:pt x="4897" y="6183"/>
                </a:cubicBezTo>
                <a:cubicBezTo>
                  <a:pt x="5020" y="6183"/>
                  <a:pt x="5122" y="6223"/>
                  <a:pt x="5124" y="6272"/>
                </a:cubicBezTo>
                <a:cubicBezTo>
                  <a:pt x="5126" y="6321"/>
                  <a:pt x="5181" y="6451"/>
                  <a:pt x="5244" y="6558"/>
                </a:cubicBezTo>
                <a:cubicBezTo>
                  <a:pt x="5410" y="6843"/>
                  <a:pt x="5224" y="6905"/>
                  <a:pt x="4887" y="6676"/>
                </a:cubicBezTo>
                <a:cubicBezTo>
                  <a:pt x="4529" y="6433"/>
                  <a:pt x="4530" y="6496"/>
                  <a:pt x="4890" y="6886"/>
                </a:cubicBezTo>
                <a:cubicBezTo>
                  <a:pt x="5046" y="7056"/>
                  <a:pt x="5162" y="7250"/>
                  <a:pt x="5147" y="7316"/>
                </a:cubicBezTo>
                <a:cubicBezTo>
                  <a:pt x="5131" y="7390"/>
                  <a:pt x="5212" y="7436"/>
                  <a:pt x="5358" y="7437"/>
                </a:cubicBezTo>
                <a:cubicBezTo>
                  <a:pt x="5555" y="7439"/>
                  <a:pt x="5592" y="7483"/>
                  <a:pt x="5592" y="7708"/>
                </a:cubicBezTo>
                <a:cubicBezTo>
                  <a:pt x="5592" y="7855"/>
                  <a:pt x="5652" y="8019"/>
                  <a:pt x="5725" y="8074"/>
                </a:cubicBezTo>
                <a:cubicBezTo>
                  <a:pt x="5838" y="8158"/>
                  <a:pt x="5825" y="8215"/>
                  <a:pt x="5645" y="8456"/>
                </a:cubicBezTo>
                <a:cubicBezTo>
                  <a:pt x="5475" y="8684"/>
                  <a:pt x="5406" y="8721"/>
                  <a:pt x="5301" y="8638"/>
                </a:cubicBezTo>
                <a:cubicBezTo>
                  <a:pt x="5201" y="8558"/>
                  <a:pt x="5138" y="8558"/>
                  <a:pt x="5037" y="8638"/>
                </a:cubicBezTo>
                <a:cubicBezTo>
                  <a:pt x="4945" y="8710"/>
                  <a:pt x="4886" y="8713"/>
                  <a:pt x="4843" y="8647"/>
                </a:cubicBezTo>
                <a:cubicBezTo>
                  <a:pt x="4809" y="8595"/>
                  <a:pt x="4666" y="8561"/>
                  <a:pt x="4526" y="8571"/>
                </a:cubicBezTo>
                <a:cubicBezTo>
                  <a:pt x="4385" y="8581"/>
                  <a:pt x="4224" y="8561"/>
                  <a:pt x="4165" y="8526"/>
                </a:cubicBezTo>
                <a:cubicBezTo>
                  <a:pt x="4106" y="8492"/>
                  <a:pt x="3939" y="8507"/>
                  <a:pt x="3797" y="8558"/>
                </a:cubicBezTo>
                <a:cubicBezTo>
                  <a:pt x="3619" y="8623"/>
                  <a:pt x="3510" y="8622"/>
                  <a:pt x="3443" y="8558"/>
                </a:cubicBezTo>
                <a:cubicBezTo>
                  <a:pt x="3300" y="8422"/>
                  <a:pt x="3168" y="8443"/>
                  <a:pt x="3229" y="8593"/>
                </a:cubicBezTo>
                <a:cubicBezTo>
                  <a:pt x="3263" y="8676"/>
                  <a:pt x="3179" y="8775"/>
                  <a:pt x="2998" y="8861"/>
                </a:cubicBezTo>
                <a:cubicBezTo>
                  <a:pt x="2732" y="8987"/>
                  <a:pt x="2711" y="8982"/>
                  <a:pt x="2641" y="8800"/>
                </a:cubicBezTo>
                <a:cubicBezTo>
                  <a:pt x="2567" y="8611"/>
                  <a:pt x="2565" y="8612"/>
                  <a:pt x="2400" y="8851"/>
                </a:cubicBezTo>
                <a:cubicBezTo>
                  <a:pt x="2272" y="9038"/>
                  <a:pt x="2202" y="9073"/>
                  <a:pt x="2106" y="8997"/>
                </a:cubicBezTo>
                <a:cubicBezTo>
                  <a:pt x="2037" y="8943"/>
                  <a:pt x="1935" y="8926"/>
                  <a:pt x="1879" y="8959"/>
                </a:cubicBezTo>
                <a:cubicBezTo>
                  <a:pt x="1823" y="8992"/>
                  <a:pt x="1720" y="8971"/>
                  <a:pt x="1648" y="8915"/>
                </a:cubicBezTo>
                <a:cubicBezTo>
                  <a:pt x="1546" y="8834"/>
                  <a:pt x="1497" y="8854"/>
                  <a:pt x="1414" y="9001"/>
                </a:cubicBezTo>
                <a:cubicBezTo>
                  <a:pt x="1352" y="9111"/>
                  <a:pt x="1260" y="9160"/>
                  <a:pt x="1194" y="9122"/>
                </a:cubicBezTo>
                <a:cubicBezTo>
                  <a:pt x="1106" y="9072"/>
                  <a:pt x="1106" y="9088"/>
                  <a:pt x="1194" y="9192"/>
                </a:cubicBezTo>
                <a:cubicBezTo>
                  <a:pt x="1285" y="9300"/>
                  <a:pt x="1246" y="9383"/>
                  <a:pt x="987" y="9653"/>
                </a:cubicBezTo>
                <a:cubicBezTo>
                  <a:pt x="720" y="9930"/>
                  <a:pt x="633" y="9972"/>
                  <a:pt x="452" y="9908"/>
                </a:cubicBezTo>
                <a:cubicBezTo>
                  <a:pt x="31" y="9760"/>
                  <a:pt x="-177" y="10019"/>
                  <a:pt x="188" y="10236"/>
                </a:cubicBezTo>
                <a:cubicBezTo>
                  <a:pt x="364" y="10341"/>
                  <a:pt x="368" y="10365"/>
                  <a:pt x="231" y="10564"/>
                </a:cubicBezTo>
                <a:cubicBezTo>
                  <a:pt x="76" y="10789"/>
                  <a:pt x="161" y="10920"/>
                  <a:pt x="402" y="10832"/>
                </a:cubicBezTo>
                <a:cubicBezTo>
                  <a:pt x="554" y="10776"/>
                  <a:pt x="1337" y="11133"/>
                  <a:pt x="1274" y="11230"/>
                </a:cubicBezTo>
                <a:cubicBezTo>
                  <a:pt x="1252" y="11263"/>
                  <a:pt x="1350" y="11292"/>
                  <a:pt x="1488" y="11290"/>
                </a:cubicBezTo>
                <a:cubicBezTo>
                  <a:pt x="1628" y="11288"/>
                  <a:pt x="1730" y="11331"/>
                  <a:pt x="1718" y="11389"/>
                </a:cubicBezTo>
                <a:cubicBezTo>
                  <a:pt x="1682" y="11575"/>
                  <a:pt x="1958" y="11706"/>
                  <a:pt x="2464" y="11739"/>
                </a:cubicBezTo>
                <a:cubicBezTo>
                  <a:pt x="2826" y="11763"/>
                  <a:pt x="3002" y="11822"/>
                  <a:pt x="3119" y="11959"/>
                </a:cubicBezTo>
                <a:cubicBezTo>
                  <a:pt x="3206" y="12062"/>
                  <a:pt x="3302" y="12144"/>
                  <a:pt x="3329" y="12144"/>
                </a:cubicBezTo>
                <a:cubicBezTo>
                  <a:pt x="3357" y="12143"/>
                  <a:pt x="3522" y="12201"/>
                  <a:pt x="3697" y="12271"/>
                </a:cubicBezTo>
                <a:cubicBezTo>
                  <a:pt x="3958" y="12375"/>
                  <a:pt x="4010" y="12438"/>
                  <a:pt x="3988" y="12631"/>
                </a:cubicBezTo>
                <a:cubicBezTo>
                  <a:pt x="3955" y="12916"/>
                  <a:pt x="3698" y="13210"/>
                  <a:pt x="3476" y="13210"/>
                </a:cubicBezTo>
                <a:cubicBezTo>
                  <a:pt x="3387" y="13210"/>
                  <a:pt x="3287" y="13295"/>
                  <a:pt x="3259" y="13398"/>
                </a:cubicBezTo>
                <a:cubicBezTo>
                  <a:pt x="3190" y="13651"/>
                  <a:pt x="3009" y="13531"/>
                  <a:pt x="3005" y="13229"/>
                </a:cubicBezTo>
                <a:cubicBezTo>
                  <a:pt x="3002" y="12995"/>
                  <a:pt x="2997" y="12991"/>
                  <a:pt x="2858" y="13166"/>
                </a:cubicBezTo>
                <a:cubicBezTo>
                  <a:pt x="2779" y="13264"/>
                  <a:pt x="2649" y="13335"/>
                  <a:pt x="2567" y="13319"/>
                </a:cubicBezTo>
                <a:cubicBezTo>
                  <a:pt x="2466" y="13299"/>
                  <a:pt x="2435" y="13331"/>
                  <a:pt x="2474" y="13427"/>
                </a:cubicBezTo>
                <a:cubicBezTo>
                  <a:pt x="2509" y="13513"/>
                  <a:pt x="2458" y="13605"/>
                  <a:pt x="2340" y="13666"/>
                </a:cubicBezTo>
                <a:cubicBezTo>
                  <a:pt x="2217" y="13729"/>
                  <a:pt x="2180" y="13798"/>
                  <a:pt x="2233" y="13866"/>
                </a:cubicBezTo>
                <a:cubicBezTo>
                  <a:pt x="2386" y="14065"/>
                  <a:pt x="2375" y="14550"/>
                  <a:pt x="2216" y="14608"/>
                </a:cubicBezTo>
                <a:cubicBezTo>
                  <a:pt x="2135" y="14638"/>
                  <a:pt x="2069" y="14698"/>
                  <a:pt x="2069" y="14742"/>
                </a:cubicBezTo>
                <a:cubicBezTo>
                  <a:pt x="2069" y="14848"/>
                  <a:pt x="2418" y="14845"/>
                  <a:pt x="2487" y="14739"/>
                </a:cubicBezTo>
                <a:cubicBezTo>
                  <a:pt x="2546" y="14648"/>
                  <a:pt x="3053" y="14865"/>
                  <a:pt x="3055" y="14981"/>
                </a:cubicBezTo>
                <a:cubicBezTo>
                  <a:pt x="3056" y="15018"/>
                  <a:pt x="3090" y="15094"/>
                  <a:pt x="3129" y="15153"/>
                </a:cubicBezTo>
                <a:cubicBezTo>
                  <a:pt x="3168" y="15211"/>
                  <a:pt x="3159" y="15282"/>
                  <a:pt x="3109" y="15312"/>
                </a:cubicBezTo>
                <a:cubicBezTo>
                  <a:pt x="2974" y="15391"/>
                  <a:pt x="3105" y="15646"/>
                  <a:pt x="3252" y="15592"/>
                </a:cubicBezTo>
                <a:cubicBezTo>
                  <a:pt x="3322" y="15567"/>
                  <a:pt x="3401" y="15583"/>
                  <a:pt x="3430" y="15627"/>
                </a:cubicBezTo>
                <a:cubicBezTo>
                  <a:pt x="3488" y="15717"/>
                  <a:pt x="3752" y="15685"/>
                  <a:pt x="4011" y="15557"/>
                </a:cubicBezTo>
                <a:cubicBezTo>
                  <a:pt x="4214" y="15457"/>
                  <a:pt x="4940" y="15513"/>
                  <a:pt x="5207" y="15649"/>
                </a:cubicBezTo>
                <a:cubicBezTo>
                  <a:pt x="5396" y="15745"/>
                  <a:pt x="5396" y="15746"/>
                  <a:pt x="5187" y="15879"/>
                </a:cubicBezTo>
                <a:cubicBezTo>
                  <a:pt x="4993" y="16002"/>
                  <a:pt x="4986" y="16023"/>
                  <a:pt x="5124" y="16168"/>
                </a:cubicBezTo>
                <a:cubicBezTo>
                  <a:pt x="5318" y="16373"/>
                  <a:pt x="5331" y="16815"/>
                  <a:pt x="5147" y="17082"/>
                </a:cubicBezTo>
                <a:cubicBezTo>
                  <a:pt x="4924" y="17407"/>
                  <a:pt x="5036" y="17759"/>
                  <a:pt x="5415" y="17910"/>
                </a:cubicBezTo>
                <a:cubicBezTo>
                  <a:pt x="5709" y="18027"/>
                  <a:pt x="5732" y="18067"/>
                  <a:pt x="5732" y="18442"/>
                </a:cubicBezTo>
                <a:cubicBezTo>
                  <a:pt x="5732" y="18756"/>
                  <a:pt x="5765" y="18833"/>
                  <a:pt x="5869" y="18795"/>
                </a:cubicBezTo>
                <a:cubicBezTo>
                  <a:pt x="6063" y="18724"/>
                  <a:pt x="6331" y="19160"/>
                  <a:pt x="6260" y="19429"/>
                </a:cubicBezTo>
                <a:cubicBezTo>
                  <a:pt x="6229" y="19549"/>
                  <a:pt x="6251" y="19758"/>
                  <a:pt x="6310" y="19897"/>
                </a:cubicBezTo>
                <a:cubicBezTo>
                  <a:pt x="6370" y="20036"/>
                  <a:pt x="6435" y="20227"/>
                  <a:pt x="6454" y="20321"/>
                </a:cubicBezTo>
                <a:cubicBezTo>
                  <a:pt x="6473" y="20414"/>
                  <a:pt x="6583" y="20577"/>
                  <a:pt x="6698" y="20684"/>
                </a:cubicBezTo>
                <a:cubicBezTo>
                  <a:pt x="6813" y="20790"/>
                  <a:pt x="6980" y="21007"/>
                  <a:pt x="7069" y="21164"/>
                </a:cubicBezTo>
                <a:cubicBezTo>
                  <a:pt x="7158" y="21322"/>
                  <a:pt x="7328" y="21489"/>
                  <a:pt x="7447" y="21534"/>
                </a:cubicBezTo>
                <a:cubicBezTo>
                  <a:pt x="7518" y="21561"/>
                  <a:pt x="7576" y="21575"/>
                  <a:pt x="7637" y="21588"/>
                </a:cubicBezTo>
                <a:lnTo>
                  <a:pt x="7955" y="21588"/>
                </a:lnTo>
                <a:cubicBezTo>
                  <a:pt x="8112" y="21539"/>
                  <a:pt x="8280" y="21418"/>
                  <a:pt x="8513" y="21206"/>
                </a:cubicBezTo>
                <a:cubicBezTo>
                  <a:pt x="8767" y="20973"/>
                  <a:pt x="8980" y="20740"/>
                  <a:pt x="8987" y="20690"/>
                </a:cubicBezTo>
                <a:cubicBezTo>
                  <a:pt x="8994" y="20640"/>
                  <a:pt x="9008" y="20568"/>
                  <a:pt x="9021" y="20531"/>
                </a:cubicBezTo>
                <a:cubicBezTo>
                  <a:pt x="9033" y="20494"/>
                  <a:pt x="9052" y="20434"/>
                  <a:pt x="9061" y="20397"/>
                </a:cubicBezTo>
                <a:cubicBezTo>
                  <a:pt x="9143" y="20030"/>
                  <a:pt x="9566" y="19764"/>
                  <a:pt x="9766" y="19954"/>
                </a:cubicBezTo>
                <a:cubicBezTo>
                  <a:pt x="9822" y="20008"/>
                  <a:pt x="9866" y="20017"/>
                  <a:pt x="9866" y="19977"/>
                </a:cubicBezTo>
                <a:cubicBezTo>
                  <a:pt x="9866" y="19936"/>
                  <a:pt x="9932" y="19957"/>
                  <a:pt x="10013" y="20021"/>
                </a:cubicBezTo>
                <a:cubicBezTo>
                  <a:pt x="10157" y="20135"/>
                  <a:pt x="10710" y="20243"/>
                  <a:pt x="11748" y="20362"/>
                </a:cubicBezTo>
                <a:cubicBezTo>
                  <a:pt x="12114" y="20404"/>
                  <a:pt x="12325" y="20385"/>
                  <a:pt x="12473" y="20298"/>
                </a:cubicBezTo>
                <a:cubicBezTo>
                  <a:pt x="12795" y="20110"/>
                  <a:pt x="13268" y="20107"/>
                  <a:pt x="13318" y="20292"/>
                </a:cubicBezTo>
                <a:cubicBezTo>
                  <a:pt x="13348" y="20398"/>
                  <a:pt x="13440" y="20437"/>
                  <a:pt x="13612" y="20419"/>
                </a:cubicBezTo>
                <a:cubicBezTo>
                  <a:pt x="13790" y="20401"/>
                  <a:pt x="13967" y="20481"/>
                  <a:pt x="14224" y="20703"/>
                </a:cubicBezTo>
                <a:cubicBezTo>
                  <a:pt x="14459" y="20905"/>
                  <a:pt x="14646" y="21002"/>
                  <a:pt x="14762" y="20973"/>
                </a:cubicBezTo>
                <a:cubicBezTo>
                  <a:pt x="14860" y="20949"/>
                  <a:pt x="14968" y="20967"/>
                  <a:pt x="14999" y="21015"/>
                </a:cubicBezTo>
                <a:cubicBezTo>
                  <a:pt x="15030" y="21062"/>
                  <a:pt x="15166" y="21140"/>
                  <a:pt x="15303" y="21190"/>
                </a:cubicBezTo>
                <a:cubicBezTo>
                  <a:pt x="15537" y="21275"/>
                  <a:pt x="15543" y="21289"/>
                  <a:pt x="15384" y="21400"/>
                </a:cubicBezTo>
                <a:cubicBezTo>
                  <a:pt x="15236" y="21503"/>
                  <a:pt x="15274" y="21582"/>
                  <a:pt x="15387" y="21588"/>
                </a:cubicBezTo>
                <a:lnTo>
                  <a:pt x="15444" y="21588"/>
                </a:lnTo>
                <a:cubicBezTo>
                  <a:pt x="15489" y="21581"/>
                  <a:pt x="15541" y="21566"/>
                  <a:pt x="15598" y="21537"/>
                </a:cubicBezTo>
                <a:cubicBezTo>
                  <a:pt x="15702" y="21484"/>
                  <a:pt x="15790" y="21473"/>
                  <a:pt x="15791" y="21512"/>
                </a:cubicBezTo>
                <a:cubicBezTo>
                  <a:pt x="15793" y="21550"/>
                  <a:pt x="15873" y="21482"/>
                  <a:pt x="15972" y="21359"/>
                </a:cubicBezTo>
                <a:lnTo>
                  <a:pt x="16152" y="21136"/>
                </a:lnTo>
                <a:lnTo>
                  <a:pt x="16229" y="21333"/>
                </a:lnTo>
                <a:lnTo>
                  <a:pt x="16309" y="21534"/>
                </a:lnTo>
                <a:lnTo>
                  <a:pt x="16610" y="21305"/>
                </a:lnTo>
                <a:cubicBezTo>
                  <a:pt x="16862" y="21117"/>
                  <a:pt x="16907" y="21038"/>
                  <a:pt x="16857" y="20840"/>
                </a:cubicBezTo>
                <a:cubicBezTo>
                  <a:pt x="16825" y="20708"/>
                  <a:pt x="16734" y="20529"/>
                  <a:pt x="16657" y="20445"/>
                </a:cubicBezTo>
                <a:cubicBezTo>
                  <a:pt x="16533" y="20309"/>
                  <a:pt x="16532" y="20250"/>
                  <a:pt x="16660" y="19945"/>
                </a:cubicBezTo>
                <a:cubicBezTo>
                  <a:pt x="16780" y="19660"/>
                  <a:pt x="16784" y="19588"/>
                  <a:pt x="16680" y="19518"/>
                </a:cubicBezTo>
                <a:cubicBezTo>
                  <a:pt x="16590" y="19458"/>
                  <a:pt x="16581" y="19374"/>
                  <a:pt x="16644" y="19222"/>
                </a:cubicBezTo>
                <a:cubicBezTo>
                  <a:pt x="16714" y="19050"/>
                  <a:pt x="16754" y="19030"/>
                  <a:pt x="16864" y="19117"/>
                </a:cubicBezTo>
                <a:cubicBezTo>
                  <a:pt x="16939" y="19176"/>
                  <a:pt x="17048" y="19198"/>
                  <a:pt x="17105" y="19165"/>
                </a:cubicBezTo>
                <a:cubicBezTo>
                  <a:pt x="17161" y="19131"/>
                  <a:pt x="17357" y="19172"/>
                  <a:pt x="17539" y="19254"/>
                </a:cubicBezTo>
                <a:cubicBezTo>
                  <a:pt x="17850" y="19394"/>
                  <a:pt x="17881" y="19394"/>
                  <a:pt x="18047" y="19251"/>
                </a:cubicBezTo>
                <a:cubicBezTo>
                  <a:pt x="18243" y="19082"/>
                  <a:pt x="18570" y="19138"/>
                  <a:pt x="18455" y="19321"/>
                </a:cubicBezTo>
                <a:cubicBezTo>
                  <a:pt x="18413" y="19387"/>
                  <a:pt x="18457" y="19377"/>
                  <a:pt x="18559" y="19299"/>
                </a:cubicBezTo>
                <a:cubicBezTo>
                  <a:pt x="18654" y="19225"/>
                  <a:pt x="18755" y="19175"/>
                  <a:pt x="18786" y="19187"/>
                </a:cubicBezTo>
                <a:cubicBezTo>
                  <a:pt x="18817" y="19199"/>
                  <a:pt x="18843" y="19175"/>
                  <a:pt x="18843" y="19130"/>
                </a:cubicBezTo>
                <a:cubicBezTo>
                  <a:pt x="18843" y="18987"/>
                  <a:pt x="18965" y="18920"/>
                  <a:pt x="19093" y="18996"/>
                </a:cubicBezTo>
                <a:cubicBezTo>
                  <a:pt x="19429" y="19196"/>
                  <a:pt x="19795" y="18910"/>
                  <a:pt x="19748" y="18483"/>
                </a:cubicBezTo>
                <a:cubicBezTo>
                  <a:pt x="19713" y="18165"/>
                  <a:pt x="19901" y="18068"/>
                  <a:pt x="20012" y="18346"/>
                </a:cubicBezTo>
                <a:cubicBezTo>
                  <a:pt x="20142" y="18672"/>
                  <a:pt x="20259" y="18698"/>
                  <a:pt x="20433" y="18445"/>
                </a:cubicBezTo>
                <a:cubicBezTo>
                  <a:pt x="20519" y="18321"/>
                  <a:pt x="20625" y="18243"/>
                  <a:pt x="20671" y="18270"/>
                </a:cubicBezTo>
                <a:cubicBezTo>
                  <a:pt x="20716" y="18297"/>
                  <a:pt x="20869" y="18218"/>
                  <a:pt x="21005" y="18098"/>
                </a:cubicBezTo>
                <a:cubicBezTo>
                  <a:pt x="21248" y="17884"/>
                  <a:pt x="21248" y="17878"/>
                  <a:pt x="21062" y="17783"/>
                </a:cubicBezTo>
                <a:cubicBezTo>
                  <a:pt x="20904" y="17703"/>
                  <a:pt x="20851" y="17717"/>
                  <a:pt x="20764" y="17872"/>
                </a:cubicBezTo>
                <a:cubicBezTo>
                  <a:pt x="20662" y="18053"/>
                  <a:pt x="20654" y="18056"/>
                  <a:pt x="20473" y="17901"/>
                </a:cubicBezTo>
                <a:cubicBezTo>
                  <a:pt x="20313" y="17762"/>
                  <a:pt x="20304" y="17726"/>
                  <a:pt x="20423" y="17643"/>
                </a:cubicBezTo>
                <a:cubicBezTo>
                  <a:pt x="20524" y="17573"/>
                  <a:pt x="20538" y="17503"/>
                  <a:pt x="20470" y="17388"/>
                </a:cubicBezTo>
                <a:cubicBezTo>
                  <a:pt x="20397" y="17263"/>
                  <a:pt x="20348" y="17251"/>
                  <a:pt x="20243" y="17334"/>
                </a:cubicBezTo>
                <a:cubicBezTo>
                  <a:pt x="20062" y="17477"/>
                  <a:pt x="19776" y="17272"/>
                  <a:pt x="19922" y="17105"/>
                </a:cubicBezTo>
                <a:cubicBezTo>
                  <a:pt x="19993" y="17024"/>
                  <a:pt x="19957" y="16954"/>
                  <a:pt x="19785" y="16847"/>
                </a:cubicBezTo>
                <a:cubicBezTo>
                  <a:pt x="19488" y="16661"/>
                  <a:pt x="19483" y="16541"/>
                  <a:pt x="19772" y="16436"/>
                </a:cubicBezTo>
                <a:cubicBezTo>
                  <a:pt x="20092" y="16320"/>
                  <a:pt x="20146" y="16190"/>
                  <a:pt x="19922" y="16076"/>
                </a:cubicBezTo>
                <a:cubicBezTo>
                  <a:pt x="19815" y="16022"/>
                  <a:pt x="19759" y="15934"/>
                  <a:pt x="19795" y="15879"/>
                </a:cubicBezTo>
                <a:cubicBezTo>
                  <a:pt x="19837" y="15814"/>
                  <a:pt x="19804" y="15798"/>
                  <a:pt x="19705" y="15834"/>
                </a:cubicBezTo>
                <a:cubicBezTo>
                  <a:pt x="19620" y="15865"/>
                  <a:pt x="19528" y="15852"/>
                  <a:pt x="19498" y="15805"/>
                </a:cubicBezTo>
                <a:cubicBezTo>
                  <a:pt x="19467" y="15758"/>
                  <a:pt x="19367" y="15719"/>
                  <a:pt x="19277" y="15719"/>
                </a:cubicBezTo>
                <a:cubicBezTo>
                  <a:pt x="19187" y="15719"/>
                  <a:pt x="18972" y="15581"/>
                  <a:pt x="18803" y="15414"/>
                </a:cubicBezTo>
                <a:cubicBezTo>
                  <a:pt x="18503" y="15119"/>
                  <a:pt x="18503" y="15105"/>
                  <a:pt x="18652" y="14888"/>
                </a:cubicBezTo>
                <a:cubicBezTo>
                  <a:pt x="18797" y="14678"/>
                  <a:pt x="18794" y="14663"/>
                  <a:pt x="18635" y="14675"/>
                </a:cubicBezTo>
                <a:cubicBezTo>
                  <a:pt x="18531" y="14683"/>
                  <a:pt x="18471" y="14634"/>
                  <a:pt x="18478" y="14541"/>
                </a:cubicBezTo>
                <a:cubicBezTo>
                  <a:pt x="18486" y="14449"/>
                  <a:pt x="18440" y="14407"/>
                  <a:pt x="18361" y="14436"/>
                </a:cubicBezTo>
                <a:cubicBezTo>
                  <a:pt x="18284" y="14465"/>
                  <a:pt x="18197" y="14389"/>
                  <a:pt x="18141" y="14248"/>
                </a:cubicBezTo>
                <a:cubicBezTo>
                  <a:pt x="18032" y="13976"/>
                  <a:pt x="18039" y="13979"/>
                  <a:pt x="17619" y="14146"/>
                </a:cubicBezTo>
                <a:cubicBezTo>
                  <a:pt x="17416" y="14227"/>
                  <a:pt x="17274" y="14243"/>
                  <a:pt x="17238" y="14188"/>
                </a:cubicBezTo>
                <a:cubicBezTo>
                  <a:pt x="17174" y="14088"/>
                  <a:pt x="17359" y="13838"/>
                  <a:pt x="17499" y="13838"/>
                </a:cubicBezTo>
                <a:cubicBezTo>
                  <a:pt x="17550" y="13838"/>
                  <a:pt x="17680" y="13736"/>
                  <a:pt x="17783" y="13611"/>
                </a:cubicBezTo>
                <a:cubicBezTo>
                  <a:pt x="17925" y="13440"/>
                  <a:pt x="17998" y="13407"/>
                  <a:pt x="18091" y="13481"/>
                </a:cubicBezTo>
                <a:cubicBezTo>
                  <a:pt x="18177" y="13549"/>
                  <a:pt x="18231" y="13548"/>
                  <a:pt x="18274" y="13481"/>
                </a:cubicBezTo>
                <a:cubicBezTo>
                  <a:pt x="18308" y="13428"/>
                  <a:pt x="18371" y="13406"/>
                  <a:pt x="18411" y="13430"/>
                </a:cubicBezTo>
                <a:cubicBezTo>
                  <a:pt x="18452" y="13454"/>
                  <a:pt x="18564" y="13415"/>
                  <a:pt x="18662" y="13344"/>
                </a:cubicBezTo>
                <a:cubicBezTo>
                  <a:pt x="18760" y="13273"/>
                  <a:pt x="18912" y="13215"/>
                  <a:pt x="18996" y="13213"/>
                </a:cubicBezTo>
                <a:cubicBezTo>
                  <a:pt x="19080" y="13212"/>
                  <a:pt x="19194" y="13157"/>
                  <a:pt x="19250" y="13092"/>
                </a:cubicBezTo>
                <a:cubicBezTo>
                  <a:pt x="19382" y="12942"/>
                  <a:pt x="19248" y="12449"/>
                  <a:pt x="19077" y="12449"/>
                </a:cubicBezTo>
                <a:cubicBezTo>
                  <a:pt x="18854" y="12449"/>
                  <a:pt x="18866" y="12231"/>
                  <a:pt x="19093" y="12144"/>
                </a:cubicBezTo>
                <a:lnTo>
                  <a:pt x="19310" y="12054"/>
                </a:lnTo>
                <a:lnTo>
                  <a:pt x="19103" y="11997"/>
                </a:lnTo>
                <a:cubicBezTo>
                  <a:pt x="18624" y="11861"/>
                  <a:pt x="18505" y="10920"/>
                  <a:pt x="18970" y="10937"/>
                </a:cubicBezTo>
                <a:cubicBezTo>
                  <a:pt x="19198" y="10945"/>
                  <a:pt x="19225" y="10880"/>
                  <a:pt x="19060" y="10723"/>
                </a:cubicBezTo>
                <a:cubicBezTo>
                  <a:pt x="18973" y="10641"/>
                  <a:pt x="19007" y="10553"/>
                  <a:pt x="19217" y="10344"/>
                </a:cubicBezTo>
                <a:cubicBezTo>
                  <a:pt x="19366" y="10196"/>
                  <a:pt x="19539" y="10077"/>
                  <a:pt x="19601" y="10077"/>
                </a:cubicBezTo>
                <a:cubicBezTo>
                  <a:pt x="19663" y="10077"/>
                  <a:pt x="19705" y="10007"/>
                  <a:pt x="19698" y="9921"/>
                </a:cubicBezTo>
                <a:cubicBezTo>
                  <a:pt x="19689" y="9806"/>
                  <a:pt x="19750" y="9770"/>
                  <a:pt x="19915" y="9787"/>
                </a:cubicBezTo>
                <a:cubicBezTo>
                  <a:pt x="20040" y="9800"/>
                  <a:pt x="20207" y="9760"/>
                  <a:pt x="20290" y="9695"/>
                </a:cubicBezTo>
                <a:cubicBezTo>
                  <a:pt x="20372" y="9630"/>
                  <a:pt x="20551" y="9578"/>
                  <a:pt x="20691" y="9583"/>
                </a:cubicBezTo>
                <a:cubicBezTo>
                  <a:pt x="20871" y="9590"/>
                  <a:pt x="20924" y="9563"/>
                  <a:pt x="20861" y="9491"/>
                </a:cubicBezTo>
                <a:cubicBezTo>
                  <a:pt x="20812" y="9435"/>
                  <a:pt x="20798" y="9360"/>
                  <a:pt x="20834" y="9325"/>
                </a:cubicBezTo>
                <a:cubicBezTo>
                  <a:pt x="20871" y="9290"/>
                  <a:pt x="20840" y="9284"/>
                  <a:pt x="20761" y="9313"/>
                </a:cubicBezTo>
                <a:cubicBezTo>
                  <a:pt x="20679" y="9343"/>
                  <a:pt x="20544" y="9291"/>
                  <a:pt x="20447" y="9189"/>
                </a:cubicBezTo>
                <a:cubicBezTo>
                  <a:pt x="20309" y="9043"/>
                  <a:pt x="20298" y="8998"/>
                  <a:pt x="20403" y="8959"/>
                </a:cubicBezTo>
                <a:cubicBezTo>
                  <a:pt x="20475" y="8933"/>
                  <a:pt x="20539" y="8802"/>
                  <a:pt x="20547" y="8669"/>
                </a:cubicBezTo>
                <a:cubicBezTo>
                  <a:pt x="20555" y="8537"/>
                  <a:pt x="20624" y="8389"/>
                  <a:pt x="20701" y="8335"/>
                </a:cubicBezTo>
                <a:cubicBezTo>
                  <a:pt x="20821" y="8252"/>
                  <a:pt x="20810" y="8201"/>
                  <a:pt x="20624" y="7994"/>
                </a:cubicBezTo>
                <a:cubicBezTo>
                  <a:pt x="20476" y="7830"/>
                  <a:pt x="20426" y="7692"/>
                  <a:pt x="20463" y="7552"/>
                </a:cubicBezTo>
                <a:cubicBezTo>
                  <a:pt x="20511" y="7377"/>
                  <a:pt x="20498" y="7365"/>
                  <a:pt x="20377" y="7459"/>
                </a:cubicBezTo>
                <a:cubicBezTo>
                  <a:pt x="20208" y="7591"/>
                  <a:pt x="20109" y="7520"/>
                  <a:pt x="20109" y="7272"/>
                </a:cubicBezTo>
                <a:cubicBezTo>
                  <a:pt x="20109" y="7173"/>
                  <a:pt x="20077" y="7124"/>
                  <a:pt x="20039" y="7160"/>
                </a:cubicBezTo>
                <a:cubicBezTo>
                  <a:pt x="20001" y="7196"/>
                  <a:pt x="19970" y="7292"/>
                  <a:pt x="19969" y="7374"/>
                </a:cubicBezTo>
                <a:cubicBezTo>
                  <a:pt x="19967" y="7603"/>
                  <a:pt x="19640" y="7622"/>
                  <a:pt x="19578" y="7396"/>
                </a:cubicBezTo>
                <a:cubicBezTo>
                  <a:pt x="19529" y="7219"/>
                  <a:pt x="19514" y="7213"/>
                  <a:pt x="19357" y="7348"/>
                </a:cubicBezTo>
                <a:cubicBezTo>
                  <a:pt x="19201" y="7483"/>
                  <a:pt x="19174" y="7483"/>
                  <a:pt x="18993" y="7310"/>
                </a:cubicBezTo>
                <a:cubicBezTo>
                  <a:pt x="18739" y="7068"/>
                  <a:pt x="18550" y="7072"/>
                  <a:pt x="18482" y="7323"/>
                </a:cubicBezTo>
                <a:cubicBezTo>
                  <a:pt x="18416" y="7562"/>
                  <a:pt x="18231" y="7437"/>
                  <a:pt x="18208" y="7138"/>
                </a:cubicBezTo>
                <a:cubicBezTo>
                  <a:pt x="18199" y="7033"/>
                  <a:pt x="18134" y="6928"/>
                  <a:pt x="18064" y="6902"/>
                </a:cubicBezTo>
                <a:cubicBezTo>
                  <a:pt x="17991" y="6875"/>
                  <a:pt x="17966" y="6808"/>
                  <a:pt x="18007" y="6743"/>
                </a:cubicBezTo>
                <a:cubicBezTo>
                  <a:pt x="18105" y="6588"/>
                  <a:pt x="17759" y="6839"/>
                  <a:pt x="17559" y="7068"/>
                </a:cubicBezTo>
                <a:cubicBezTo>
                  <a:pt x="17427" y="7220"/>
                  <a:pt x="17380" y="7230"/>
                  <a:pt x="17252" y="7128"/>
                </a:cubicBezTo>
                <a:cubicBezTo>
                  <a:pt x="17128" y="7031"/>
                  <a:pt x="17125" y="6985"/>
                  <a:pt x="17222" y="6870"/>
                </a:cubicBezTo>
                <a:cubicBezTo>
                  <a:pt x="17289" y="6792"/>
                  <a:pt x="17291" y="6757"/>
                  <a:pt x="17232" y="6791"/>
                </a:cubicBezTo>
                <a:cubicBezTo>
                  <a:pt x="17077" y="6879"/>
                  <a:pt x="16804" y="6544"/>
                  <a:pt x="16834" y="6304"/>
                </a:cubicBezTo>
                <a:cubicBezTo>
                  <a:pt x="16866" y="6049"/>
                  <a:pt x="16603" y="5551"/>
                  <a:pt x="16396" y="5476"/>
                </a:cubicBezTo>
                <a:cubicBezTo>
                  <a:pt x="16211" y="5408"/>
                  <a:pt x="16000" y="5512"/>
                  <a:pt x="15701" y="5816"/>
                </a:cubicBezTo>
                <a:cubicBezTo>
                  <a:pt x="15576" y="5944"/>
                  <a:pt x="15426" y="6047"/>
                  <a:pt x="15370" y="6046"/>
                </a:cubicBezTo>
                <a:cubicBezTo>
                  <a:pt x="15315" y="6045"/>
                  <a:pt x="15064" y="5923"/>
                  <a:pt x="14812" y="5772"/>
                </a:cubicBezTo>
                <a:lnTo>
                  <a:pt x="14354" y="5498"/>
                </a:lnTo>
                <a:lnTo>
                  <a:pt x="14682" y="5240"/>
                </a:lnTo>
                <a:cubicBezTo>
                  <a:pt x="14956" y="5025"/>
                  <a:pt x="15007" y="4928"/>
                  <a:pt x="14993" y="4654"/>
                </a:cubicBezTo>
                <a:cubicBezTo>
                  <a:pt x="14982" y="4447"/>
                  <a:pt x="15020" y="4312"/>
                  <a:pt x="15103" y="4282"/>
                </a:cubicBezTo>
                <a:cubicBezTo>
                  <a:pt x="15182" y="4253"/>
                  <a:pt x="15209" y="4179"/>
                  <a:pt x="15170" y="4091"/>
                </a:cubicBezTo>
                <a:cubicBezTo>
                  <a:pt x="15134" y="4011"/>
                  <a:pt x="15110" y="3855"/>
                  <a:pt x="15116" y="3747"/>
                </a:cubicBezTo>
                <a:cubicBezTo>
                  <a:pt x="15123" y="3638"/>
                  <a:pt x="15088" y="3524"/>
                  <a:pt x="15039" y="3495"/>
                </a:cubicBezTo>
                <a:cubicBezTo>
                  <a:pt x="14984" y="3462"/>
                  <a:pt x="14983" y="3360"/>
                  <a:pt x="15039" y="3218"/>
                </a:cubicBezTo>
                <a:cubicBezTo>
                  <a:pt x="15164" y="2905"/>
                  <a:pt x="15152" y="2823"/>
                  <a:pt x="14983" y="2823"/>
                </a:cubicBezTo>
                <a:cubicBezTo>
                  <a:pt x="14903" y="2823"/>
                  <a:pt x="14688" y="2684"/>
                  <a:pt x="14501" y="2511"/>
                </a:cubicBezTo>
                <a:cubicBezTo>
                  <a:pt x="14315" y="2339"/>
                  <a:pt x="14187" y="2199"/>
                  <a:pt x="14217" y="2199"/>
                </a:cubicBezTo>
                <a:cubicBezTo>
                  <a:pt x="14248" y="2199"/>
                  <a:pt x="14213" y="2090"/>
                  <a:pt x="14140" y="1957"/>
                </a:cubicBezTo>
                <a:cubicBezTo>
                  <a:pt x="14046" y="1784"/>
                  <a:pt x="14039" y="1683"/>
                  <a:pt x="14110" y="1600"/>
                </a:cubicBezTo>
                <a:cubicBezTo>
                  <a:pt x="14181" y="1520"/>
                  <a:pt x="14180" y="1405"/>
                  <a:pt x="14110" y="1215"/>
                </a:cubicBezTo>
                <a:cubicBezTo>
                  <a:pt x="14056" y="1066"/>
                  <a:pt x="14044" y="941"/>
                  <a:pt x="14080" y="938"/>
                </a:cubicBezTo>
                <a:cubicBezTo>
                  <a:pt x="14116" y="935"/>
                  <a:pt x="13952" y="877"/>
                  <a:pt x="13719" y="808"/>
                </a:cubicBezTo>
                <a:cubicBezTo>
                  <a:pt x="13487" y="738"/>
                  <a:pt x="13227" y="699"/>
                  <a:pt x="13141" y="725"/>
                </a:cubicBezTo>
                <a:cubicBezTo>
                  <a:pt x="13055" y="750"/>
                  <a:pt x="12954" y="729"/>
                  <a:pt x="12921" y="677"/>
                </a:cubicBezTo>
                <a:cubicBezTo>
                  <a:pt x="12894" y="636"/>
                  <a:pt x="12868" y="617"/>
                  <a:pt x="12840" y="613"/>
                </a:cubicBezTo>
                <a:close/>
                <a:moveTo>
                  <a:pt x="6217" y="2693"/>
                </a:moveTo>
                <a:cubicBezTo>
                  <a:pt x="6191" y="2717"/>
                  <a:pt x="6251" y="2795"/>
                  <a:pt x="6350" y="2865"/>
                </a:cubicBezTo>
                <a:cubicBezTo>
                  <a:pt x="6450" y="2934"/>
                  <a:pt x="6552" y="2969"/>
                  <a:pt x="6578" y="2944"/>
                </a:cubicBezTo>
                <a:cubicBezTo>
                  <a:pt x="6603" y="2920"/>
                  <a:pt x="6543" y="2845"/>
                  <a:pt x="6444" y="2775"/>
                </a:cubicBezTo>
                <a:cubicBezTo>
                  <a:pt x="6344" y="2706"/>
                  <a:pt x="6243" y="2668"/>
                  <a:pt x="6217" y="2693"/>
                </a:cubicBezTo>
                <a:close/>
                <a:moveTo>
                  <a:pt x="4038" y="5609"/>
                </a:moveTo>
                <a:cubicBezTo>
                  <a:pt x="3995" y="5612"/>
                  <a:pt x="3953" y="5648"/>
                  <a:pt x="3877" y="5721"/>
                </a:cubicBezTo>
                <a:cubicBezTo>
                  <a:pt x="3733" y="5860"/>
                  <a:pt x="3731" y="5872"/>
                  <a:pt x="3867" y="5823"/>
                </a:cubicBezTo>
                <a:cubicBezTo>
                  <a:pt x="3953" y="5792"/>
                  <a:pt x="4050" y="5811"/>
                  <a:pt x="4085" y="5864"/>
                </a:cubicBezTo>
                <a:cubicBezTo>
                  <a:pt x="4119" y="5918"/>
                  <a:pt x="4192" y="5937"/>
                  <a:pt x="4245" y="5906"/>
                </a:cubicBezTo>
                <a:cubicBezTo>
                  <a:pt x="4306" y="5870"/>
                  <a:pt x="4286" y="5795"/>
                  <a:pt x="4192" y="5705"/>
                </a:cubicBezTo>
                <a:cubicBezTo>
                  <a:pt x="4123" y="5640"/>
                  <a:pt x="4080" y="5607"/>
                  <a:pt x="4038" y="5609"/>
                </a:cubicBezTo>
                <a:close/>
                <a:moveTo>
                  <a:pt x="4188" y="6049"/>
                </a:moveTo>
                <a:cubicBezTo>
                  <a:pt x="4165" y="6049"/>
                  <a:pt x="4120" y="6089"/>
                  <a:pt x="4088" y="6138"/>
                </a:cubicBezTo>
                <a:cubicBezTo>
                  <a:pt x="4056" y="6187"/>
                  <a:pt x="4073" y="6227"/>
                  <a:pt x="4128" y="6227"/>
                </a:cubicBezTo>
                <a:cubicBezTo>
                  <a:pt x="4183" y="6227"/>
                  <a:pt x="4228" y="6187"/>
                  <a:pt x="4228" y="6138"/>
                </a:cubicBezTo>
                <a:cubicBezTo>
                  <a:pt x="4228" y="6089"/>
                  <a:pt x="4211" y="6049"/>
                  <a:pt x="4188" y="6049"/>
                </a:cubicBezTo>
                <a:close/>
                <a:moveTo>
                  <a:pt x="4031" y="7749"/>
                </a:moveTo>
                <a:cubicBezTo>
                  <a:pt x="4007" y="7749"/>
                  <a:pt x="3992" y="7757"/>
                  <a:pt x="3984" y="7772"/>
                </a:cubicBezTo>
                <a:cubicBezTo>
                  <a:pt x="3993" y="7801"/>
                  <a:pt x="4010" y="7831"/>
                  <a:pt x="4031" y="7861"/>
                </a:cubicBezTo>
                <a:cubicBezTo>
                  <a:pt x="4066" y="7893"/>
                  <a:pt x="4109" y="7928"/>
                  <a:pt x="4148" y="7928"/>
                </a:cubicBezTo>
                <a:cubicBezTo>
                  <a:pt x="4200" y="7928"/>
                  <a:pt x="4213" y="7888"/>
                  <a:pt x="4181" y="7838"/>
                </a:cubicBezTo>
                <a:cubicBezTo>
                  <a:pt x="4150" y="7789"/>
                  <a:pt x="4083" y="7749"/>
                  <a:pt x="4031" y="7749"/>
                </a:cubicBezTo>
                <a:close/>
                <a:moveTo>
                  <a:pt x="21359" y="7784"/>
                </a:moveTo>
                <a:cubicBezTo>
                  <a:pt x="21349" y="7794"/>
                  <a:pt x="21345" y="7824"/>
                  <a:pt x="21342" y="7877"/>
                </a:cubicBezTo>
                <a:cubicBezTo>
                  <a:pt x="21338" y="7971"/>
                  <a:pt x="21358" y="8021"/>
                  <a:pt x="21389" y="7991"/>
                </a:cubicBezTo>
                <a:cubicBezTo>
                  <a:pt x="21420" y="7961"/>
                  <a:pt x="21423" y="7887"/>
                  <a:pt x="21396" y="7822"/>
                </a:cubicBezTo>
                <a:cubicBezTo>
                  <a:pt x="21381" y="7787"/>
                  <a:pt x="21369" y="7775"/>
                  <a:pt x="21359" y="7784"/>
                </a:cubicBezTo>
                <a:close/>
                <a:moveTo>
                  <a:pt x="2631" y="8377"/>
                </a:moveTo>
                <a:cubicBezTo>
                  <a:pt x="2579" y="8377"/>
                  <a:pt x="2537" y="8416"/>
                  <a:pt x="2537" y="8466"/>
                </a:cubicBezTo>
                <a:cubicBezTo>
                  <a:pt x="2537" y="8515"/>
                  <a:pt x="2579" y="8555"/>
                  <a:pt x="2631" y="8555"/>
                </a:cubicBezTo>
                <a:cubicBezTo>
                  <a:pt x="2682" y="8555"/>
                  <a:pt x="2724" y="8515"/>
                  <a:pt x="2724" y="8466"/>
                </a:cubicBezTo>
                <a:cubicBezTo>
                  <a:pt x="2724" y="8416"/>
                  <a:pt x="2682" y="8377"/>
                  <a:pt x="2631" y="8377"/>
                </a:cubicBezTo>
                <a:close/>
                <a:moveTo>
                  <a:pt x="21215" y="8513"/>
                </a:moveTo>
                <a:cubicBezTo>
                  <a:pt x="21057" y="8551"/>
                  <a:pt x="20857" y="8698"/>
                  <a:pt x="20928" y="8765"/>
                </a:cubicBezTo>
                <a:cubicBezTo>
                  <a:pt x="21018" y="8851"/>
                  <a:pt x="21088" y="8840"/>
                  <a:pt x="21282" y="8705"/>
                </a:cubicBezTo>
                <a:cubicBezTo>
                  <a:pt x="21402" y="8621"/>
                  <a:pt x="21420" y="8564"/>
                  <a:pt x="21346" y="8520"/>
                </a:cubicBezTo>
                <a:cubicBezTo>
                  <a:pt x="21315" y="8502"/>
                  <a:pt x="21268" y="8501"/>
                  <a:pt x="21215" y="8513"/>
                </a:cubicBezTo>
                <a:close/>
                <a:moveTo>
                  <a:pt x="1274" y="15003"/>
                </a:moveTo>
                <a:cubicBezTo>
                  <a:pt x="1255" y="15003"/>
                  <a:pt x="1223" y="15036"/>
                  <a:pt x="1194" y="15073"/>
                </a:cubicBezTo>
                <a:cubicBezTo>
                  <a:pt x="1184" y="15085"/>
                  <a:pt x="1170" y="15098"/>
                  <a:pt x="1174" y="15111"/>
                </a:cubicBezTo>
                <a:cubicBezTo>
                  <a:pt x="1179" y="15131"/>
                  <a:pt x="1197" y="15150"/>
                  <a:pt x="1227" y="15172"/>
                </a:cubicBezTo>
                <a:cubicBezTo>
                  <a:pt x="1253" y="15170"/>
                  <a:pt x="1273" y="15142"/>
                  <a:pt x="1297" y="15127"/>
                </a:cubicBezTo>
                <a:cubicBezTo>
                  <a:pt x="1304" y="15115"/>
                  <a:pt x="1317" y="15106"/>
                  <a:pt x="1317" y="15092"/>
                </a:cubicBezTo>
                <a:cubicBezTo>
                  <a:pt x="1317" y="15043"/>
                  <a:pt x="1297" y="15003"/>
                  <a:pt x="1274" y="15003"/>
                </a:cubicBezTo>
                <a:close/>
                <a:moveTo>
                  <a:pt x="16868" y="21578"/>
                </a:moveTo>
                <a:cubicBezTo>
                  <a:pt x="16858" y="21575"/>
                  <a:pt x="16834" y="21584"/>
                  <a:pt x="16814" y="21588"/>
                </a:cubicBezTo>
                <a:lnTo>
                  <a:pt x="16868" y="21588"/>
                </a:lnTo>
                <a:cubicBezTo>
                  <a:pt x="16866" y="21586"/>
                  <a:pt x="16871" y="21580"/>
                  <a:pt x="16868" y="2157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8" name="분산_36170779_s-300x300.jpg" descr="분산_36170779_s-300x300.jpg">
            <a:extLst>
              <a:ext uri="{FF2B5EF4-FFF2-40B4-BE49-F238E27FC236}">
                <a16:creationId xmlns:a16="http://schemas.microsoft.com/office/drawing/2014/main" id="{AA2E1191-4FE5-E355-E1BE-4FCB58231B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32" t="9815" r="12706" b="9327"/>
          <a:stretch>
            <a:fillRect/>
          </a:stretch>
        </p:blipFill>
        <p:spPr>
          <a:xfrm>
            <a:off x="5402994" y="1878113"/>
            <a:ext cx="944545" cy="10054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7" h="21554" extrusionOk="0">
                <a:moveTo>
                  <a:pt x="13197" y="5"/>
                </a:moveTo>
                <a:cubicBezTo>
                  <a:pt x="13162" y="22"/>
                  <a:pt x="13162" y="80"/>
                  <a:pt x="13201" y="177"/>
                </a:cubicBezTo>
                <a:cubicBezTo>
                  <a:pt x="13236" y="261"/>
                  <a:pt x="13314" y="290"/>
                  <a:pt x="13413" y="254"/>
                </a:cubicBezTo>
                <a:cubicBezTo>
                  <a:pt x="13559" y="202"/>
                  <a:pt x="13560" y="187"/>
                  <a:pt x="13402" y="79"/>
                </a:cubicBezTo>
                <a:cubicBezTo>
                  <a:pt x="13302" y="10"/>
                  <a:pt x="13232" y="-12"/>
                  <a:pt x="13197" y="5"/>
                </a:cubicBezTo>
                <a:close/>
                <a:moveTo>
                  <a:pt x="12942" y="610"/>
                </a:moveTo>
                <a:cubicBezTo>
                  <a:pt x="12858" y="600"/>
                  <a:pt x="12786" y="737"/>
                  <a:pt x="12831" y="904"/>
                </a:cubicBezTo>
                <a:cubicBezTo>
                  <a:pt x="12876" y="1073"/>
                  <a:pt x="12843" y="1134"/>
                  <a:pt x="12674" y="1194"/>
                </a:cubicBezTo>
                <a:cubicBezTo>
                  <a:pt x="12548" y="1239"/>
                  <a:pt x="12412" y="1239"/>
                  <a:pt x="12347" y="1190"/>
                </a:cubicBezTo>
                <a:cubicBezTo>
                  <a:pt x="12277" y="1138"/>
                  <a:pt x="12214" y="1144"/>
                  <a:pt x="12173" y="1207"/>
                </a:cubicBezTo>
                <a:cubicBezTo>
                  <a:pt x="12137" y="1261"/>
                  <a:pt x="12048" y="1285"/>
                  <a:pt x="11977" y="1260"/>
                </a:cubicBezTo>
                <a:cubicBezTo>
                  <a:pt x="11906" y="1234"/>
                  <a:pt x="11823" y="1248"/>
                  <a:pt x="11794" y="1292"/>
                </a:cubicBezTo>
                <a:cubicBezTo>
                  <a:pt x="11764" y="1337"/>
                  <a:pt x="11682" y="1351"/>
                  <a:pt x="11609" y="1325"/>
                </a:cubicBezTo>
                <a:cubicBezTo>
                  <a:pt x="11463" y="1273"/>
                  <a:pt x="10800" y="1538"/>
                  <a:pt x="10800" y="1648"/>
                </a:cubicBezTo>
                <a:cubicBezTo>
                  <a:pt x="10800" y="1743"/>
                  <a:pt x="11080" y="1839"/>
                  <a:pt x="11184" y="1779"/>
                </a:cubicBezTo>
                <a:cubicBezTo>
                  <a:pt x="11230" y="1752"/>
                  <a:pt x="11398" y="1818"/>
                  <a:pt x="11554" y="1926"/>
                </a:cubicBezTo>
                <a:cubicBezTo>
                  <a:pt x="11771" y="2077"/>
                  <a:pt x="11814" y="2149"/>
                  <a:pt x="11735" y="2239"/>
                </a:cubicBezTo>
                <a:cubicBezTo>
                  <a:pt x="11678" y="2303"/>
                  <a:pt x="11581" y="2331"/>
                  <a:pt x="11522" y="2298"/>
                </a:cubicBezTo>
                <a:cubicBezTo>
                  <a:pt x="11462" y="2265"/>
                  <a:pt x="11474" y="2302"/>
                  <a:pt x="11545" y="2384"/>
                </a:cubicBezTo>
                <a:cubicBezTo>
                  <a:pt x="11657" y="2513"/>
                  <a:pt x="11650" y="2544"/>
                  <a:pt x="11498" y="2590"/>
                </a:cubicBezTo>
                <a:cubicBezTo>
                  <a:pt x="11401" y="2620"/>
                  <a:pt x="11258" y="2665"/>
                  <a:pt x="11179" y="2692"/>
                </a:cubicBezTo>
                <a:cubicBezTo>
                  <a:pt x="11101" y="2720"/>
                  <a:pt x="11002" y="2734"/>
                  <a:pt x="10959" y="2725"/>
                </a:cubicBezTo>
                <a:cubicBezTo>
                  <a:pt x="10916" y="2716"/>
                  <a:pt x="10908" y="2748"/>
                  <a:pt x="10940" y="2797"/>
                </a:cubicBezTo>
                <a:cubicBezTo>
                  <a:pt x="10972" y="2845"/>
                  <a:pt x="10909" y="2939"/>
                  <a:pt x="10803" y="3001"/>
                </a:cubicBezTo>
                <a:cubicBezTo>
                  <a:pt x="10696" y="3063"/>
                  <a:pt x="10611" y="3147"/>
                  <a:pt x="10611" y="3187"/>
                </a:cubicBezTo>
                <a:cubicBezTo>
                  <a:pt x="10611" y="3227"/>
                  <a:pt x="10647" y="3236"/>
                  <a:pt x="10694" y="3209"/>
                </a:cubicBezTo>
                <a:cubicBezTo>
                  <a:pt x="10740" y="3183"/>
                  <a:pt x="10827" y="3218"/>
                  <a:pt x="10888" y="3287"/>
                </a:cubicBezTo>
                <a:cubicBezTo>
                  <a:pt x="10975" y="3385"/>
                  <a:pt x="10963" y="3430"/>
                  <a:pt x="10829" y="3504"/>
                </a:cubicBezTo>
                <a:cubicBezTo>
                  <a:pt x="10735" y="3555"/>
                  <a:pt x="10696" y="3598"/>
                  <a:pt x="10742" y="3600"/>
                </a:cubicBezTo>
                <a:cubicBezTo>
                  <a:pt x="10787" y="3601"/>
                  <a:pt x="10777" y="3654"/>
                  <a:pt x="10722" y="3716"/>
                </a:cubicBezTo>
                <a:cubicBezTo>
                  <a:pt x="10667" y="3779"/>
                  <a:pt x="10600" y="3943"/>
                  <a:pt x="10574" y="4080"/>
                </a:cubicBezTo>
                <a:cubicBezTo>
                  <a:pt x="10547" y="4217"/>
                  <a:pt x="10479" y="4383"/>
                  <a:pt x="10421" y="4448"/>
                </a:cubicBezTo>
                <a:cubicBezTo>
                  <a:pt x="10346" y="4533"/>
                  <a:pt x="10347" y="4581"/>
                  <a:pt x="10423" y="4626"/>
                </a:cubicBezTo>
                <a:cubicBezTo>
                  <a:pt x="10540" y="4693"/>
                  <a:pt x="10278" y="5024"/>
                  <a:pt x="10108" y="5024"/>
                </a:cubicBezTo>
                <a:cubicBezTo>
                  <a:pt x="10055" y="5024"/>
                  <a:pt x="9932" y="5089"/>
                  <a:pt x="9837" y="5169"/>
                </a:cubicBezTo>
                <a:cubicBezTo>
                  <a:pt x="9678" y="5304"/>
                  <a:pt x="9664" y="5303"/>
                  <a:pt x="9604" y="5147"/>
                </a:cubicBezTo>
                <a:cubicBezTo>
                  <a:pt x="9483" y="4829"/>
                  <a:pt x="9367" y="4746"/>
                  <a:pt x="9216" y="4863"/>
                </a:cubicBezTo>
                <a:cubicBezTo>
                  <a:pt x="9105" y="4949"/>
                  <a:pt x="9034" y="4916"/>
                  <a:pt x="8840" y="4683"/>
                </a:cubicBezTo>
                <a:cubicBezTo>
                  <a:pt x="8665" y="4474"/>
                  <a:pt x="8570" y="4420"/>
                  <a:pt x="8484" y="4487"/>
                </a:cubicBezTo>
                <a:cubicBezTo>
                  <a:pt x="8400" y="4552"/>
                  <a:pt x="8310" y="4520"/>
                  <a:pt x="8162" y="4372"/>
                </a:cubicBezTo>
                <a:cubicBezTo>
                  <a:pt x="8049" y="4259"/>
                  <a:pt x="7982" y="4145"/>
                  <a:pt x="8012" y="4117"/>
                </a:cubicBezTo>
                <a:cubicBezTo>
                  <a:pt x="8042" y="4089"/>
                  <a:pt x="7990" y="4071"/>
                  <a:pt x="7898" y="4078"/>
                </a:cubicBezTo>
                <a:cubicBezTo>
                  <a:pt x="7648" y="4098"/>
                  <a:pt x="7540" y="3529"/>
                  <a:pt x="7750" y="3295"/>
                </a:cubicBezTo>
                <a:cubicBezTo>
                  <a:pt x="7768" y="3276"/>
                  <a:pt x="7763" y="3275"/>
                  <a:pt x="7776" y="3260"/>
                </a:cubicBezTo>
                <a:cubicBezTo>
                  <a:pt x="7791" y="3239"/>
                  <a:pt x="7805" y="3219"/>
                  <a:pt x="7805" y="3201"/>
                </a:cubicBezTo>
                <a:cubicBezTo>
                  <a:pt x="7788" y="3212"/>
                  <a:pt x="7788" y="3205"/>
                  <a:pt x="7757" y="3228"/>
                </a:cubicBezTo>
                <a:cubicBezTo>
                  <a:pt x="7634" y="3317"/>
                  <a:pt x="7585" y="3314"/>
                  <a:pt x="7500" y="3218"/>
                </a:cubicBezTo>
                <a:cubicBezTo>
                  <a:pt x="7441" y="3151"/>
                  <a:pt x="7411" y="3076"/>
                  <a:pt x="7436" y="3052"/>
                </a:cubicBezTo>
                <a:cubicBezTo>
                  <a:pt x="7462" y="3028"/>
                  <a:pt x="7421" y="3011"/>
                  <a:pt x="7343" y="3011"/>
                </a:cubicBezTo>
                <a:cubicBezTo>
                  <a:pt x="7265" y="3011"/>
                  <a:pt x="7199" y="3056"/>
                  <a:pt x="7199" y="3113"/>
                </a:cubicBezTo>
                <a:cubicBezTo>
                  <a:pt x="7199" y="3257"/>
                  <a:pt x="6867" y="3529"/>
                  <a:pt x="6785" y="3453"/>
                </a:cubicBezTo>
                <a:cubicBezTo>
                  <a:pt x="6749" y="3418"/>
                  <a:pt x="6648" y="3381"/>
                  <a:pt x="6561" y="3369"/>
                </a:cubicBezTo>
                <a:cubicBezTo>
                  <a:pt x="6473" y="3357"/>
                  <a:pt x="6303" y="3296"/>
                  <a:pt x="6179" y="3234"/>
                </a:cubicBezTo>
                <a:cubicBezTo>
                  <a:pt x="5986" y="3137"/>
                  <a:pt x="5939" y="3142"/>
                  <a:pt x="5861" y="3273"/>
                </a:cubicBezTo>
                <a:cubicBezTo>
                  <a:pt x="5811" y="3357"/>
                  <a:pt x="5705" y="3426"/>
                  <a:pt x="5626" y="3426"/>
                </a:cubicBezTo>
                <a:cubicBezTo>
                  <a:pt x="5546" y="3426"/>
                  <a:pt x="5358" y="3539"/>
                  <a:pt x="5210" y="3677"/>
                </a:cubicBezTo>
                <a:lnTo>
                  <a:pt x="4942" y="3931"/>
                </a:lnTo>
                <a:lnTo>
                  <a:pt x="5271" y="3941"/>
                </a:lnTo>
                <a:cubicBezTo>
                  <a:pt x="5684" y="3956"/>
                  <a:pt x="5833" y="4033"/>
                  <a:pt x="5696" y="4162"/>
                </a:cubicBezTo>
                <a:cubicBezTo>
                  <a:pt x="5624" y="4228"/>
                  <a:pt x="5623" y="4291"/>
                  <a:pt x="5696" y="4372"/>
                </a:cubicBezTo>
                <a:cubicBezTo>
                  <a:pt x="5774" y="4460"/>
                  <a:pt x="5734" y="4513"/>
                  <a:pt x="5528" y="4599"/>
                </a:cubicBezTo>
                <a:cubicBezTo>
                  <a:pt x="5379" y="4661"/>
                  <a:pt x="5213" y="4769"/>
                  <a:pt x="5155" y="4838"/>
                </a:cubicBezTo>
                <a:cubicBezTo>
                  <a:pt x="5095" y="4911"/>
                  <a:pt x="4979" y="4941"/>
                  <a:pt x="4887" y="4908"/>
                </a:cubicBezTo>
                <a:cubicBezTo>
                  <a:pt x="4781" y="4869"/>
                  <a:pt x="4749" y="4883"/>
                  <a:pt x="4794" y="4951"/>
                </a:cubicBezTo>
                <a:cubicBezTo>
                  <a:pt x="4830" y="5006"/>
                  <a:pt x="4790" y="5101"/>
                  <a:pt x="4702" y="5161"/>
                </a:cubicBezTo>
                <a:cubicBezTo>
                  <a:pt x="4563" y="5256"/>
                  <a:pt x="4562" y="5277"/>
                  <a:pt x="4687" y="5322"/>
                </a:cubicBezTo>
                <a:cubicBezTo>
                  <a:pt x="4797" y="5362"/>
                  <a:pt x="4810" y="5425"/>
                  <a:pt x="4744" y="5588"/>
                </a:cubicBezTo>
                <a:cubicBezTo>
                  <a:pt x="4606" y="5928"/>
                  <a:pt x="4678" y="6136"/>
                  <a:pt x="4935" y="6136"/>
                </a:cubicBezTo>
                <a:cubicBezTo>
                  <a:pt x="5060" y="6136"/>
                  <a:pt x="5164" y="6175"/>
                  <a:pt x="5166" y="6224"/>
                </a:cubicBezTo>
                <a:cubicBezTo>
                  <a:pt x="5168" y="6273"/>
                  <a:pt x="5220" y="6401"/>
                  <a:pt x="5284" y="6508"/>
                </a:cubicBezTo>
                <a:cubicBezTo>
                  <a:pt x="5451" y="6790"/>
                  <a:pt x="5266" y="6851"/>
                  <a:pt x="4927" y="6624"/>
                </a:cubicBezTo>
                <a:cubicBezTo>
                  <a:pt x="4566" y="6383"/>
                  <a:pt x="4566" y="6447"/>
                  <a:pt x="4929" y="6835"/>
                </a:cubicBezTo>
                <a:cubicBezTo>
                  <a:pt x="5087" y="7003"/>
                  <a:pt x="5205" y="7195"/>
                  <a:pt x="5190" y="7260"/>
                </a:cubicBezTo>
                <a:cubicBezTo>
                  <a:pt x="5174" y="7333"/>
                  <a:pt x="5252" y="7381"/>
                  <a:pt x="5399" y="7382"/>
                </a:cubicBezTo>
                <a:cubicBezTo>
                  <a:pt x="5599" y="7384"/>
                  <a:pt x="5637" y="7425"/>
                  <a:pt x="5637" y="7648"/>
                </a:cubicBezTo>
                <a:cubicBezTo>
                  <a:pt x="5637" y="7794"/>
                  <a:pt x="5696" y="7958"/>
                  <a:pt x="5770" y="8012"/>
                </a:cubicBezTo>
                <a:cubicBezTo>
                  <a:pt x="5883" y="8095"/>
                  <a:pt x="5871" y="8153"/>
                  <a:pt x="5689" y="8392"/>
                </a:cubicBezTo>
                <a:cubicBezTo>
                  <a:pt x="5518" y="8618"/>
                  <a:pt x="5451" y="8652"/>
                  <a:pt x="5345" y="8570"/>
                </a:cubicBezTo>
                <a:cubicBezTo>
                  <a:pt x="5244" y="8491"/>
                  <a:pt x="5179" y="8495"/>
                  <a:pt x="5077" y="8574"/>
                </a:cubicBezTo>
                <a:cubicBezTo>
                  <a:pt x="4984" y="8646"/>
                  <a:pt x="4926" y="8647"/>
                  <a:pt x="4883" y="8582"/>
                </a:cubicBezTo>
                <a:cubicBezTo>
                  <a:pt x="4849" y="8530"/>
                  <a:pt x="4704" y="8496"/>
                  <a:pt x="4563" y="8506"/>
                </a:cubicBezTo>
                <a:cubicBezTo>
                  <a:pt x="4421" y="8517"/>
                  <a:pt x="4258" y="8496"/>
                  <a:pt x="4199" y="8461"/>
                </a:cubicBezTo>
                <a:cubicBezTo>
                  <a:pt x="4140" y="8427"/>
                  <a:pt x="3972" y="8441"/>
                  <a:pt x="3828" y="8492"/>
                </a:cubicBezTo>
                <a:cubicBezTo>
                  <a:pt x="3649" y="8556"/>
                  <a:pt x="3537" y="8556"/>
                  <a:pt x="3469" y="8492"/>
                </a:cubicBezTo>
                <a:cubicBezTo>
                  <a:pt x="3325" y="8357"/>
                  <a:pt x="3192" y="8380"/>
                  <a:pt x="3253" y="8529"/>
                </a:cubicBezTo>
                <a:cubicBezTo>
                  <a:pt x="3287" y="8612"/>
                  <a:pt x="3204" y="8707"/>
                  <a:pt x="3022" y="8793"/>
                </a:cubicBezTo>
                <a:cubicBezTo>
                  <a:pt x="2754" y="8918"/>
                  <a:pt x="2732" y="8914"/>
                  <a:pt x="2661" y="8733"/>
                </a:cubicBezTo>
                <a:cubicBezTo>
                  <a:pt x="2587" y="8546"/>
                  <a:pt x="2585" y="8547"/>
                  <a:pt x="2419" y="8784"/>
                </a:cubicBezTo>
                <a:cubicBezTo>
                  <a:pt x="2289" y="8970"/>
                  <a:pt x="2219" y="9005"/>
                  <a:pt x="2123" y="8929"/>
                </a:cubicBezTo>
                <a:cubicBezTo>
                  <a:pt x="2053" y="8876"/>
                  <a:pt x="1953" y="8858"/>
                  <a:pt x="1896" y="8891"/>
                </a:cubicBezTo>
                <a:cubicBezTo>
                  <a:pt x="1839" y="8923"/>
                  <a:pt x="1733" y="8904"/>
                  <a:pt x="1661" y="8848"/>
                </a:cubicBezTo>
                <a:cubicBezTo>
                  <a:pt x="1558" y="8767"/>
                  <a:pt x="1509" y="8786"/>
                  <a:pt x="1425" y="8931"/>
                </a:cubicBezTo>
                <a:cubicBezTo>
                  <a:pt x="1363" y="9041"/>
                  <a:pt x="1270" y="9092"/>
                  <a:pt x="1203" y="9054"/>
                </a:cubicBezTo>
                <a:cubicBezTo>
                  <a:pt x="1115" y="9004"/>
                  <a:pt x="1115" y="9017"/>
                  <a:pt x="1203" y="9120"/>
                </a:cubicBezTo>
                <a:cubicBezTo>
                  <a:pt x="1296" y="9227"/>
                  <a:pt x="1258" y="9313"/>
                  <a:pt x="996" y="9581"/>
                </a:cubicBezTo>
                <a:cubicBezTo>
                  <a:pt x="728" y="9856"/>
                  <a:pt x="638" y="9898"/>
                  <a:pt x="456" y="9835"/>
                </a:cubicBezTo>
                <a:cubicBezTo>
                  <a:pt x="191" y="9743"/>
                  <a:pt x="10" y="9808"/>
                  <a:pt x="0" y="9923"/>
                </a:cubicBezTo>
                <a:cubicBezTo>
                  <a:pt x="-5" y="9992"/>
                  <a:pt x="52" y="10079"/>
                  <a:pt x="190" y="10160"/>
                </a:cubicBezTo>
                <a:cubicBezTo>
                  <a:pt x="367" y="10264"/>
                  <a:pt x="372" y="10285"/>
                  <a:pt x="234" y="10483"/>
                </a:cubicBezTo>
                <a:cubicBezTo>
                  <a:pt x="77" y="10706"/>
                  <a:pt x="163" y="10838"/>
                  <a:pt x="406" y="10750"/>
                </a:cubicBezTo>
                <a:cubicBezTo>
                  <a:pt x="559" y="10695"/>
                  <a:pt x="1349" y="11049"/>
                  <a:pt x="1286" y="11145"/>
                </a:cubicBezTo>
                <a:cubicBezTo>
                  <a:pt x="1264" y="11178"/>
                  <a:pt x="1360" y="11204"/>
                  <a:pt x="1499" y="11202"/>
                </a:cubicBezTo>
                <a:cubicBezTo>
                  <a:pt x="1641" y="11200"/>
                  <a:pt x="1744" y="11245"/>
                  <a:pt x="1733" y="11302"/>
                </a:cubicBezTo>
                <a:cubicBezTo>
                  <a:pt x="1695" y="11487"/>
                  <a:pt x="1975" y="11617"/>
                  <a:pt x="2484" y="11649"/>
                </a:cubicBezTo>
                <a:cubicBezTo>
                  <a:pt x="2849" y="11673"/>
                  <a:pt x="3027" y="11731"/>
                  <a:pt x="3144" y="11866"/>
                </a:cubicBezTo>
                <a:cubicBezTo>
                  <a:pt x="3233" y="11968"/>
                  <a:pt x="3330" y="12052"/>
                  <a:pt x="3358" y="12052"/>
                </a:cubicBezTo>
                <a:cubicBezTo>
                  <a:pt x="3386" y="12052"/>
                  <a:pt x="3552" y="12108"/>
                  <a:pt x="3728" y="12177"/>
                </a:cubicBezTo>
                <a:cubicBezTo>
                  <a:pt x="3992" y="12280"/>
                  <a:pt x="4043" y="12345"/>
                  <a:pt x="4020" y="12536"/>
                </a:cubicBezTo>
                <a:cubicBezTo>
                  <a:pt x="3987" y="12820"/>
                  <a:pt x="3725" y="13111"/>
                  <a:pt x="3502" y="13111"/>
                </a:cubicBezTo>
                <a:cubicBezTo>
                  <a:pt x="3412" y="13111"/>
                  <a:pt x="3315" y="13194"/>
                  <a:pt x="3286" y="13297"/>
                </a:cubicBezTo>
                <a:cubicBezTo>
                  <a:pt x="3216" y="13547"/>
                  <a:pt x="3033" y="13426"/>
                  <a:pt x="3029" y="13127"/>
                </a:cubicBezTo>
                <a:cubicBezTo>
                  <a:pt x="3026" y="12894"/>
                  <a:pt x="3021" y="12893"/>
                  <a:pt x="2881" y="13066"/>
                </a:cubicBezTo>
                <a:cubicBezTo>
                  <a:pt x="2801" y="13163"/>
                  <a:pt x="2671" y="13231"/>
                  <a:pt x="2589" y="13215"/>
                </a:cubicBezTo>
                <a:cubicBezTo>
                  <a:pt x="2487" y="13195"/>
                  <a:pt x="2454" y="13229"/>
                  <a:pt x="2493" y="13323"/>
                </a:cubicBezTo>
                <a:cubicBezTo>
                  <a:pt x="2528" y="13409"/>
                  <a:pt x="2479" y="13500"/>
                  <a:pt x="2360" y="13560"/>
                </a:cubicBezTo>
                <a:cubicBezTo>
                  <a:pt x="2236" y="13623"/>
                  <a:pt x="2198" y="13693"/>
                  <a:pt x="2251" y="13761"/>
                </a:cubicBezTo>
                <a:cubicBezTo>
                  <a:pt x="2405" y="13957"/>
                  <a:pt x="2391" y="14439"/>
                  <a:pt x="2231" y="14496"/>
                </a:cubicBezTo>
                <a:cubicBezTo>
                  <a:pt x="2149" y="14526"/>
                  <a:pt x="2085" y="14585"/>
                  <a:pt x="2085" y="14629"/>
                </a:cubicBezTo>
                <a:cubicBezTo>
                  <a:pt x="2085" y="14734"/>
                  <a:pt x="2438" y="14733"/>
                  <a:pt x="2508" y="14627"/>
                </a:cubicBezTo>
                <a:cubicBezTo>
                  <a:pt x="2567" y="14538"/>
                  <a:pt x="3077" y="14751"/>
                  <a:pt x="3079" y="14866"/>
                </a:cubicBezTo>
                <a:cubicBezTo>
                  <a:pt x="3080" y="14903"/>
                  <a:pt x="3114" y="14980"/>
                  <a:pt x="3153" y="15038"/>
                </a:cubicBezTo>
                <a:cubicBezTo>
                  <a:pt x="3192" y="15096"/>
                  <a:pt x="3184" y="15166"/>
                  <a:pt x="3133" y="15195"/>
                </a:cubicBezTo>
                <a:cubicBezTo>
                  <a:pt x="2998" y="15274"/>
                  <a:pt x="3129" y="15527"/>
                  <a:pt x="3277" y="15473"/>
                </a:cubicBezTo>
                <a:cubicBezTo>
                  <a:pt x="3347" y="15448"/>
                  <a:pt x="3429" y="15462"/>
                  <a:pt x="3458" y="15506"/>
                </a:cubicBezTo>
                <a:cubicBezTo>
                  <a:pt x="3517" y="15595"/>
                  <a:pt x="3783" y="15563"/>
                  <a:pt x="4044" y="15436"/>
                </a:cubicBezTo>
                <a:cubicBezTo>
                  <a:pt x="4249" y="15337"/>
                  <a:pt x="4980" y="15393"/>
                  <a:pt x="5249" y="15528"/>
                </a:cubicBezTo>
                <a:cubicBezTo>
                  <a:pt x="5439" y="15624"/>
                  <a:pt x="5440" y="15626"/>
                  <a:pt x="5229" y="15757"/>
                </a:cubicBezTo>
                <a:cubicBezTo>
                  <a:pt x="5033" y="15879"/>
                  <a:pt x="5027" y="15901"/>
                  <a:pt x="5166" y="16045"/>
                </a:cubicBezTo>
                <a:cubicBezTo>
                  <a:pt x="5362" y="16249"/>
                  <a:pt x="5373" y="16687"/>
                  <a:pt x="5188" y="16953"/>
                </a:cubicBezTo>
                <a:cubicBezTo>
                  <a:pt x="4963" y="17275"/>
                  <a:pt x="5079" y="17627"/>
                  <a:pt x="5460" y="17776"/>
                </a:cubicBezTo>
                <a:cubicBezTo>
                  <a:pt x="5757" y="17892"/>
                  <a:pt x="5778" y="17927"/>
                  <a:pt x="5778" y="18299"/>
                </a:cubicBezTo>
                <a:cubicBezTo>
                  <a:pt x="5778" y="18611"/>
                  <a:pt x="5811" y="18691"/>
                  <a:pt x="5916" y="18653"/>
                </a:cubicBezTo>
                <a:cubicBezTo>
                  <a:pt x="6111" y="18583"/>
                  <a:pt x="6379" y="19014"/>
                  <a:pt x="6308" y="19280"/>
                </a:cubicBezTo>
                <a:cubicBezTo>
                  <a:pt x="6276" y="19399"/>
                  <a:pt x="6302" y="19608"/>
                  <a:pt x="6362" y="19746"/>
                </a:cubicBezTo>
                <a:cubicBezTo>
                  <a:pt x="6422" y="19884"/>
                  <a:pt x="6485" y="20072"/>
                  <a:pt x="6504" y="20165"/>
                </a:cubicBezTo>
                <a:cubicBezTo>
                  <a:pt x="6523" y="20258"/>
                  <a:pt x="6636" y="20421"/>
                  <a:pt x="6752" y="20527"/>
                </a:cubicBezTo>
                <a:cubicBezTo>
                  <a:pt x="6869" y="20633"/>
                  <a:pt x="7036" y="20849"/>
                  <a:pt x="7125" y="21005"/>
                </a:cubicBezTo>
                <a:cubicBezTo>
                  <a:pt x="7214" y="21162"/>
                  <a:pt x="7385" y="21326"/>
                  <a:pt x="7504" y="21371"/>
                </a:cubicBezTo>
                <a:cubicBezTo>
                  <a:pt x="7914" y="21525"/>
                  <a:pt x="8112" y="21465"/>
                  <a:pt x="8580" y="21044"/>
                </a:cubicBezTo>
                <a:cubicBezTo>
                  <a:pt x="8837" y="20813"/>
                  <a:pt x="9053" y="20583"/>
                  <a:pt x="9060" y="20533"/>
                </a:cubicBezTo>
                <a:cubicBezTo>
                  <a:pt x="9067" y="20483"/>
                  <a:pt x="9082" y="20410"/>
                  <a:pt x="9094" y="20374"/>
                </a:cubicBezTo>
                <a:cubicBezTo>
                  <a:pt x="9107" y="20337"/>
                  <a:pt x="9125" y="20277"/>
                  <a:pt x="9134" y="20241"/>
                </a:cubicBezTo>
                <a:cubicBezTo>
                  <a:pt x="9217" y="19876"/>
                  <a:pt x="9642" y="19612"/>
                  <a:pt x="9844" y="19801"/>
                </a:cubicBezTo>
                <a:cubicBezTo>
                  <a:pt x="9900" y="19854"/>
                  <a:pt x="9946" y="19864"/>
                  <a:pt x="9946" y="19824"/>
                </a:cubicBezTo>
                <a:cubicBezTo>
                  <a:pt x="9946" y="19784"/>
                  <a:pt x="10013" y="19805"/>
                  <a:pt x="10094" y="19869"/>
                </a:cubicBezTo>
                <a:cubicBezTo>
                  <a:pt x="10239" y="19982"/>
                  <a:pt x="10796" y="20090"/>
                  <a:pt x="11842" y="20208"/>
                </a:cubicBezTo>
                <a:cubicBezTo>
                  <a:pt x="12211" y="20250"/>
                  <a:pt x="12425" y="20231"/>
                  <a:pt x="12574" y="20145"/>
                </a:cubicBezTo>
                <a:cubicBezTo>
                  <a:pt x="12898" y="19958"/>
                  <a:pt x="13375" y="19955"/>
                  <a:pt x="13426" y="20139"/>
                </a:cubicBezTo>
                <a:cubicBezTo>
                  <a:pt x="13455" y="20244"/>
                  <a:pt x="13548" y="20281"/>
                  <a:pt x="13722" y="20263"/>
                </a:cubicBezTo>
                <a:cubicBezTo>
                  <a:pt x="13901" y="20245"/>
                  <a:pt x="14077" y="20328"/>
                  <a:pt x="14336" y="20547"/>
                </a:cubicBezTo>
                <a:cubicBezTo>
                  <a:pt x="14573" y="20748"/>
                  <a:pt x="14764" y="20842"/>
                  <a:pt x="14881" y="20813"/>
                </a:cubicBezTo>
                <a:cubicBezTo>
                  <a:pt x="14980" y="20789"/>
                  <a:pt x="15087" y="20807"/>
                  <a:pt x="15119" y="20854"/>
                </a:cubicBezTo>
                <a:cubicBezTo>
                  <a:pt x="15150" y="20901"/>
                  <a:pt x="15288" y="20980"/>
                  <a:pt x="15426" y="21030"/>
                </a:cubicBezTo>
                <a:cubicBezTo>
                  <a:pt x="15661" y="21114"/>
                  <a:pt x="15667" y="21127"/>
                  <a:pt x="15506" y="21238"/>
                </a:cubicBezTo>
                <a:cubicBezTo>
                  <a:pt x="15284" y="21391"/>
                  <a:pt x="15463" y="21503"/>
                  <a:pt x="15722" y="21373"/>
                </a:cubicBezTo>
                <a:cubicBezTo>
                  <a:pt x="15827" y="21320"/>
                  <a:pt x="15917" y="21310"/>
                  <a:pt x="15918" y="21348"/>
                </a:cubicBezTo>
                <a:cubicBezTo>
                  <a:pt x="15919" y="21387"/>
                  <a:pt x="16001" y="21319"/>
                  <a:pt x="16101" y="21197"/>
                </a:cubicBezTo>
                <a:lnTo>
                  <a:pt x="16282" y="20974"/>
                </a:lnTo>
                <a:lnTo>
                  <a:pt x="16358" y="21171"/>
                </a:lnTo>
                <a:lnTo>
                  <a:pt x="16439" y="21369"/>
                </a:lnTo>
                <a:lnTo>
                  <a:pt x="16744" y="21144"/>
                </a:lnTo>
                <a:cubicBezTo>
                  <a:pt x="16998" y="20958"/>
                  <a:pt x="17042" y="20877"/>
                  <a:pt x="16992" y="20680"/>
                </a:cubicBezTo>
                <a:cubicBezTo>
                  <a:pt x="16959" y="20549"/>
                  <a:pt x="16869" y="20372"/>
                  <a:pt x="16792" y="20288"/>
                </a:cubicBezTo>
                <a:cubicBezTo>
                  <a:pt x="16667" y="20153"/>
                  <a:pt x="16665" y="20096"/>
                  <a:pt x="16794" y="19793"/>
                </a:cubicBezTo>
                <a:cubicBezTo>
                  <a:pt x="16914" y="19511"/>
                  <a:pt x="16920" y="19437"/>
                  <a:pt x="16816" y="19368"/>
                </a:cubicBezTo>
                <a:cubicBezTo>
                  <a:pt x="16725" y="19308"/>
                  <a:pt x="16714" y="19225"/>
                  <a:pt x="16777" y="19074"/>
                </a:cubicBezTo>
                <a:cubicBezTo>
                  <a:pt x="16848" y="18903"/>
                  <a:pt x="16890" y="18885"/>
                  <a:pt x="17001" y="18972"/>
                </a:cubicBezTo>
                <a:cubicBezTo>
                  <a:pt x="17076" y="19030"/>
                  <a:pt x="17184" y="19052"/>
                  <a:pt x="17241" y="19019"/>
                </a:cubicBezTo>
                <a:cubicBezTo>
                  <a:pt x="17298" y="18986"/>
                  <a:pt x="17495" y="19027"/>
                  <a:pt x="17679" y="19109"/>
                </a:cubicBezTo>
                <a:cubicBezTo>
                  <a:pt x="17992" y="19248"/>
                  <a:pt x="18023" y="19247"/>
                  <a:pt x="18191" y="19105"/>
                </a:cubicBezTo>
                <a:cubicBezTo>
                  <a:pt x="18388" y="18937"/>
                  <a:pt x="18719" y="18993"/>
                  <a:pt x="18602" y="19174"/>
                </a:cubicBezTo>
                <a:cubicBezTo>
                  <a:pt x="18561" y="19239"/>
                  <a:pt x="18605" y="19229"/>
                  <a:pt x="18707" y="19152"/>
                </a:cubicBezTo>
                <a:cubicBezTo>
                  <a:pt x="18803" y="19078"/>
                  <a:pt x="18907" y="19029"/>
                  <a:pt x="18938" y="19041"/>
                </a:cubicBezTo>
                <a:cubicBezTo>
                  <a:pt x="18969" y="19053"/>
                  <a:pt x="18995" y="19029"/>
                  <a:pt x="18995" y="18984"/>
                </a:cubicBezTo>
                <a:cubicBezTo>
                  <a:pt x="18995" y="18842"/>
                  <a:pt x="19120" y="18777"/>
                  <a:pt x="19249" y="18853"/>
                </a:cubicBezTo>
                <a:cubicBezTo>
                  <a:pt x="19588" y="19052"/>
                  <a:pt x="19957" y="18766"/>
                  <a:pt x="19910" y="18342"/>
                </a:cubicBezTo>
                <a:cubicBezTo>
                  <a:pt x="19874" y="18026"/>
                  <a:pt x="20059" y="17929"/>
                  <a:pt x="20171" y="18205"/>
                </a:cubicBezTo>
                <a:cubicBezTo>
                  <a:pt x="20302" y="18528"/>
                  <a:pt x="20422" y="18557"/>
                  <a:pt x="20598" y="18306"/>
                </a:cubicBezTo>
                <a:cubicBezTo>
                  <a:pt x="20684" y="18182"/>
                  <a:pt x="20792" y="18103"/>
                  <a:pt x="20838" y="18130"/>
                </a:cubicBezTo>
                <a:cubicBezTo>
                  <a:pt x="20884" y="18157"/>
                  <a:pt x="21036" y="18082"/>
                  <a:pt x="21173" y="17962"/>
                </a:cubicBezTo>
                <a:cubicBezTo>
                  <a:pt x="21418" y="17749"/>
                  <a:pt x="21420" y="17742"/>
                  <a:pt x="21232" y="17647"/>
                </a:cubicBezTo>
                <a:cubicBezTo>
                  <a:pt x="21074" y="17568"/>
                  <a:pt x="21021" y="17584"/>
                  <a:pt x="20934" y="17737"/>
                </a:cubicBezTo>
                <a:cubicBezTo>
                  <a:pt x="20831" y="17917"/>
                  <a:pt x="20819" y="17918"/>
                  <a:pt x="20637" y="17764"/>
                </a:cubicBezTo>
                <a:cubicBezTo>
                  <a:pt x="20475" y="17626"/>
                  <a:pt x="20469" y="17591"/>
                  <a:pt x="20589" y="17509"/>
                </a:cubicBezTo>
                <a:cubicBezTo>
                  <a:pt x="20691" y="17439"/>
                  <a:pt x="20701" y="17369"/>
                  <a:pt x="20633" y="17255"/>
                </a:cubicBezTo>
                <a:cubicBezTo>
                  <a:pt x="20559" y="17131"/>
                  <a:pt x="20512" y="17121"/>
                  <a:pt x="20406" y="17204"/>
                </a:cubicBezTo>
                <a:cubicBezTo>
                  <a:pt x="20224" y="17346"/>
                  <a:pt x="19936" y="17142"/>
                  <a:pt x="20084" y="16975"/>
                </a:cubicBezTo>
                <a:cubicBezTo>
                  <a:pt x="20155" y="16895"/>
                  <a:pt x="20118" y="16824"/>
                  <a:pt x="19944" y="16718"/>
                </a:cubicBezTo>
                <a:cubicBezTo>
                  <a:pt x="19645" y="16534"/>
                  <a:pt x="19640" y="16415"/>
                  <a:pt x="19931" y="16311"/>
                </a:cubicBezTo>
                <a:cubicBezTo>
                  <a:pt x="20254" y="16196"/>
                  <a:pt x="20310" y="16067"/>
                  <a:pt x="20084" y="15953"/>
                </a:cubicBezTo>
                <a:cubicBezTo>
                  <a:pt x="19976" y="15899"/>
                  <a:pt x="19917" y="15812"/>
                  <a:pt x="19953" y="15757"/>
                </a:cubicBezTo>
                <a:cubicBezTo>
                  <a:pt x="19996" y="15693"/>
                  <a:pt x="19964" y="15676"/>
                  <a:pt x="19864" y="15712"/>
                </a:cubicBezTo>
                <a:cubicBezTo>
                  <a:pt x="19779" y="15743"/>
                  <a:pt x="19685" y="15730"/>
                  <a:pt x="19655" y="15684"/>
                </a:cubicBezTo>
                <a:cubicBezTo>
                  <a:pt x="19624" y="15637"/>
                  <a:pt x="19523" y="15598"/>
                  <a:pt x="19432" y="15598"/>
                </a:cubicBezTo>
                <a:cubicBezTo>
                  <a:pt x="19342" y="15598"/>
                  <a:pt x="19127" y="15461"/>
                  <a:pt x="18955" y="15295"/>
                </a:cubicBezTo>
                <a:cubicBezTo>
                  <a:pt x="18653" y="15003"/>
                  <a:pt x="18650" y="14990"/>
                  <a:pt x="18801" y="14774"/>
                </a:cubicBezTo>
                <a:cubicBezTo>
                  <a:pt x="18947" y="14565"/>
                  <a:pt x="18948" y="14549"/>
                  <a:pt x="18788" y="14562"/>
                </a:cubicBezTo>
                <a:cubicBezTo>
                  <a:pt x="18682" y="14570"/>
                  <a:pt x="18619" y="14521"/>
                  <a:pt x="18626" y="14429"/>
                </a:cubicBezTo>
                <a:cubicBezTo>
                  <a:pt x="18634" y="14338"/>
                  <a:pt x="18588" y="14298"/>
                  <a:pt x="18509" y="14327"/>
                </a:cubicBezTo>
                <a:cubicBezTo>
                  <a:pt x="18431" y="14355"/>
                  <a:pt x="18343" y="14281"/>
                  <a:pt x="18286" y="14141"/>
                </a:cubicBezTo>
                <a:cubicBezTo>
                  <a:pt x="18177" y="13870"/>
                  <a:pt x="18184" y="13873"/>
                  <a:pt x="17761" y="14038"/>
                </a:cubicBezTo>
                <a:cubicBezTo>
                  <a:pt x="17556" y="14119"/>
                  <a:pt x="17414" y="14134"/>
                  <a:pt x="17378" y="14079"/>
                </a:cubicBezTo>
                <a:cubicBezTo>
                  <a:pt x="17313" y="13980"/>
                  <a:pt x="17500" y="13732"/>
                  <a:pt x="17642" y="13732"/>
                </a:cubicBezTo>
                <a:cubicBezTo>
                  <a:pt x="17693" y="13732"/>
                  <a:pt x="17821" y="13631"/>
                  <a:pt x="17925" y="13507"/>
                </a:cubicBezTo>
                <a:cubicBezTo>
                  <a:pt x="18068" y="13337"/>
                  <a:pt x="18143" y="13303"/>
                  <a:pt x="18236" y="13376"/>
                </a:cubicBezTo>
                <a:cubicBezTo>
                  <a:pt x="18324" y="13444"/>
                  <a:pt x="18378" y="13447"/>
                  <a:pt x="18422" y="13380"/>
                </a:cubicBezTo>
                <a:cubicBezTo>
                  <a:pt x="18456" y="13328"/>
                  <a:pt x="18518" y="13304"/>
                  <a:pt x="18559" y="13327"/>
                </a:cubicBezTo>
                <a:cubicBezTo>
                  <a:pt x="18600" y="13351"/>
                  <a:pt x="18715" y="13314"/>
                  <a:pt x="18814" y="13244"/>
                </a:cubicBezTo>
                <a:cubicBezTo>
                  <a:pt x="18913" y="13173"/>
                  <a:pt x="19062" y="13114"/>
                  <a:pt x="19147" y="13113"/>
                </a:cubicBezTo>
                <a:cubicBezTo>
                  <a:pt x="19232" y="13111"/>
                  <a:pt x="19350" y="13058"/>
                  <a:pt x="19406" y="12994"/>
                </a:cubicBezTo>
                <a:cubicBezTo>
                  <a:pt x="19539" y="12845"/>
                  <a:pt x="19403" y="12355"/>
                  <a:pt x="19230" y="12355"/>
                </a:cubicBezTo>
                <a:cubicBezTo>
                  <a:pt x="19005" y="12355"/>
                  <a:pt x="19016" y="12137"/>
                  <a:pt x="19245" y="12050"/>
                </a:cubicBezTo>
                <a:lnTo>
                  <a:pt x="19467" y="11964"/>
                </a:lnTo>
                <a:lnTo>
                  <a:pt x="19258" y="11905"/>
                </a:lnTo>
                <a:cubicBezTo>
                  <a:pt x="18775" y="11770"/>
                  <a:pt x="18653" y="10836"/>
                  <a:pt x="19121" y="10852"/>
                </a:cubicBezTo>
                <a:cubicBezTo>
                  <a:pt x="19351" y="10860"/>
                  <a:pt x="19379" y="10798"/>
                  <a:pt x="19212" y="10642"/>
                </a:cubicBezTo>
                <a:cubicBezTo>
                  <a:pt x="19125" y="10560"/>
                  <a:pt x="19162" y="10475"/>
                  <a:pt x="19374" y="10268"/>
                </a:cubicBezTo>
                <a:cubicBezTo>
                  <a:pt x="19524" y="10121"/>
                  <a:pt x="19694" y="10000"/>
                  <a:pt x="19757" y="10000"/>
                </a:cubicBezTo>
                <a:cubicBezTo>
                  <a:pt x="19820" y="10000"/>
                  <a:pt x="19865" y="9931"/>
                  <a:pt x="19857" y="9845"/>
                </a:cubicBezTo>
                <a:cubicBezTo>
                  <a:pt x="19848" y="9731"/>
                  <a:pt x="19908" y="9695"/>
                  <a:pt x="20075" y="9712"/>
                </a:cubicBezTo>
                <a:cubicBezTo>
                  <a:pt x="20200" y="9725"/>
                  <a:pt x="20371" y="9685"/>
                  <a:pt x="20454" y="9620"/>
                </a:cubicBezTo>
                <a:cubicBezTo>
                  <a:pt x="20537" y="9555"/>
                  <a:pt x="20719" y="9507"/>
                  <a:pt x="20860" y="9512"/>
                </a:cubicBezTo>
                <a:cubicBezTo>
                  <a:pt x="21041" y="9518"/>
                  <a:pt x="21091" y="9492"/>
                  <a:pt x="21027" y="9420"/>
                </a:cubicBezTo>
                <a:cubicBezTo>
                  <a:pt x="20978" y="9364"/>
                  <a:pt x="20966" y="9289"/>
                  <a:pt x="21003" y="9254"/>
                </a:cubicBezTo>
                <a:cubicBezTo>
                  <a:pt x="21040" y="9220"/>
                  <a:pt x="21007" y="9213"/>
                  <a:pt x="20927" y="9242"/>
                </a:cubicBezTo>
                <a:cubicBezTo>
                  <a:pt x="20845" y="9272"/>
                  <a:pt x="20709" y="9219"/>
                  <a:pt x="20611" y="9117"/>
                </a:cubicBezTo>
                <a:cubicBezTo>
                  <a:pt x="20472" y="8973"/>
                  <a:pt x="20464" y="8929"/>
                  <a:pt x="20570" y="8891"/>
                </a:cubicBezTo>
                <a:cubicBezTo>
                  <a:pt x="20642" y="8865"/>
                  <a:pt x="20705" y="8736"/>
                  <a:pt x="20714" y="8605"/>
                </a:cubicBezTo>
                <a:cubicBezTo>
                  <a:pt x="20722" y="8473"/>
                  <a:pt x="20791" y="8324"/>
                  <a:pt x="20868" y="8271"/>
                </a:cubicBezTo>
                <a:cubicBezTo>
                  <a:pt x="20989" y="8189"/>
                  <a:pt x="20978" y="8139"/>
                  <a:pt x="20790" y="7934"/>
                </a:cubicBezTo>
                <a:cubicBezTo>
                  <a:pt x="20640" y="7771"/>
                  <a:pt x="20590" y="7632"/>
                  <a:pt x="20629" y="7493"/>
                </a:cubicBezTo>
                <a:cubicBezTo>
                  <a:pt x="20676" y="7319"/>
                  <a:pt x="20664" y="7307"/>
                  <a:pt x="20541" y="7401"/>
                </a:cubicBezTo>
                <a:cubicBezTo>
                  <a:pt x="20372" y="7531"/>
                  <a:pt x="20273" y="7462"/>
                  <a:pt x="20273" y="7215"/>
                </a:cubicBezTo>
                <a:cubicBezTo>
                  <a:pt x="20273" y="7117"/>
                  <a:pt x="20240" y="7068"/>
                  <a:pt x="20202" y="7105"/>
                </a:cubicBezTo>
                <a:cubicBezTo>
                  <a:pt x="20163" y="7141"/>
                  <a:pt x="20130" y="7238"/>
                  <a:pt x="20130" y="7319"/>
                </a:cubicBezTo>
                <a:cubicBezTo>
                  <a:pt x="20128" y="7547"/>
                  <a:pt x="19796" y="7564"/>
                  <a:pt x="19733" y="7340"/>
                </a:cubicBezTo>
                <a:cubicBezTo>
                  <a:pt x="19684" y="7164"/>
                  <a:pt x="19669" y="7159"/>
                  <a:pt x="19511" y="7293"/>
                </a:cubicBezTo>
                <a:cubicBezTo>
                  <a:pt x="19354" y="7426"/>
                  <a:pt x="19328" y="7425"/>
                  <a:pt x="19145" y="7254"/>
                </a:cubicBezTo>
                <a:cubicBezTo>
                  <a:pt x="18889" y="7014"/>
                  <a:pt x="18700" y="7018"/>
                  <a:pt x="18631" y="7266"/>
                </a:cubicBezTo>
                <a:cubicBezTo>
                  <a:pt x="18565" y="7503"/>
                  <a:pt x="18378" y="7381"/>
                  <a:pt x="18354" y="7084"/>
                </a:cubicBezTo>
                <a:cubicBezTo>
                  <a:pt x="18346" y="6980"/>
                  <a:pt x="18281" y="6874"/>
                  <a:pt x="18210" y="6849"/>
                </a:cubicBezTo>
                <a:cubicBezTo>
                  <a:pt x="18136" y="6822"/>
                  <a:pt x="18112" y="6754"/>
                  <a:pt x="18154" y="6690"/>
                </a:cubicBezTo>
                <a:cubicBezTo>
                  <a:pt x="18252" y="6536"/>
                  <a:pt x="17902" y="6787"/>
                  <a:pt x="17700" y="7015"/>
                </a:cubicBezTo>
                <a:cubicBezTo>
                  <a:pt x="17567" y="7165"/>
                  <a:pt x="17523" y="7175"/>
                  <a:pt x="17393" y="7074"/>
                </a:cubicBezTo>
                <a:cubicBezTo>
                  <a:pt x="17269" y="6977"/>
                  <a:pt x="17263" y="6932"/>
                  <a:pt x="17360" y="6818"/>
                </a:cubicBezTo>
                <a:cubicBezTo>
                  <a:pt x="17428" y="6740"/>
                  <a:pt x="17431" y="6705"/>
                  <a:pt x="17371" y="6739"/>
                </a:cubicBezTo>
                <a:cubicBezTo>
                  <a:pt x="17215" y="6827"/>
                  <a:pt x="16938" y="6493"/>
                  <a:pt x="16968" y="6254"/>
                </a:cubicBezTo>
                <a:cubicBezTo>
                  <a:pt x="17000" y="6001"/>
                  <a:pt x="16737" y="5510"/>
                  <a:pt x="16528" y="5435"/>
                </a:cubicBezTo>
                <a:cubicBezTo>
                  <a:pt x="16341" y="5367"/>
                  <a:pt x="16128" y="5470"/>
                  <a:pt x="15827" y="5772"/>
                </a:cubicBezTo>
                <a:cubicBezTo>
                  <a:pt x="15700" y="5899"/>
                  <a:pt x="15552" y="6000"/>
                  <a:pt x="15496" y="5999"/>
                </a:cubicBezTo>
                <a:cubicBezTo>
                  <a:pt x="15439" y="5998"/>
                  <a:pt x="15185" y="5877"/>
                  <a:pt x="14931" y="5727"/>
                </a:cubicBezTo>
                <a:lnTo>
                  <a:pt x="14472" y="5455"/>
                </a:lnTo>
                <a:lnTo>
                  <a:pt x="14798" y="5200"/>
                </a:lnTo>
                <a:cubicBezTo>
                  <a:pt x="15075" y="4986"/>
                  <a:pt x="15126" y="4891"/>
                  <a:pt x="15112" y="4619"/>
                </a:cubicBezTo>
                <a:cubicBezTo>
                  <a:pt x="15101" y="4414"/>
                  <a:pt x="15142" y="4280"/>
                  <a:pt x="15225" y="4250"/>
                </a:cubicBezTo>
                <a:cubicBezTo>
                  <a:pt x="15305" y="4221"/>
                  <a:pt x="15333" y="4145"/>
                  <a:pt x="15293" y="4057"/>
                </a:cubicBezTo>
                <a:cubicBezTo>
                  <a:pt x="15257" y="3978"/>
                  <a:pt x="15230" y="3828"/>
                  <a:pt x="15236" y="3720"/>
                </a:cubicBezTo>
                <a:cubicBezTo>
                  <a:pt x="15242" y="3613"/>
                  <a:pt x="15209" y="3498"/>
                  <a:pt x="15160" y="3469"/>
                </a:cubicBezTo>
                <a:cubicBezTo>
                  <a:pt x="15104" y="3436"/>
                  <a:pt x="15103" y="3336"/>
                  <a:pt x="15160" y="3195"/>
                </a:cubicBezTo>
                <a:cubicBezTo>
                  <a:pt x="15286" y="2884"/>
                  <a:pt x="15274" y="2803"/>
                  <a:pt x="15103" y="2803"/>
                </a:cubicBezTo>
                <a:cubicBezTo>
                  <a:pt x="15023" y="2803"/>
                  <a:pt x="14805" y="2663"/>
                  <a:pt x="14617" y="2492"/>
                </a:cubicBezTo>
                <a:cubicBezTo>
                  <a:pt x="14430" y="2321"/>
                  <a:pt x="14301" y="2181"/>
                  <a:pt x="14332" y="2181"/>
                </a:cubicBezTo>
                <a:cubicBezTo>
                  <a:pt x="14363" y="2181"/>
                  <a:pt x="14327" y="2074"/>
                  <a:pt x="14254" y="1942"/>
                </a:cubicBezTo>
                <a:cubicBezTo>
                  <a:pt x="14159" y="1771"/>
                  <a:pt x="14153" y="1668"/>
                  <a:pt x="14225" y="1587"/>
                </a:cubicBezTo>
                <a:cubicBezTo>
                  <a:pt x="14296" y="1507"/>
                  <a:pt x="14295" y="1395"/>
                  <a:pt x="14225" y="1207"/>
                </a:cubicBezTo>
                <a:cubicBezTo>
                  <a:pt x="14170" y="1059"/>
                  <a:pt x="14156" y="934"/>
                  <a:pt x="14193" y="931"/>
                </a:cubicBezTo>
                <a:cubicBezTo>
                  <a:pt x="14229" y="928"/>
                  <a:pt x="14065" y="871"/>
                  <a:pt x="13831" y="802"/>
                </a:cubicBezTo>
                <a:cubicBezTo>
                  <a:pt x="13597" y="733"/>
                  <a:pt x="13334" y="695"/>
                  <a:pt x="13247" y="720"/>
                </a:cubicBezTo>
                <a:cubicBezTo>
                  <a:pt x="13160" y="746"/>
                  <a:pt x="13059" y="725"/>
                  <a:pt x="13025" y="673"/>
                </a:cubicBezTo>
                <a:cubicBezTo>
                  <a:pt x="12998" y="632"/>
                  <a:pt x="12970" y="613"/>
                  <a:pt x="12942" y="610"/>
                </a:cubicBezTo>
                <a:close/>
                <a:moveTo>
                  <a:pt x="6266" y="2672"/>
                </a:moveTo>
                <a:cubicBezTo>
                  <a:pt x="6240" y="2696"/>
                  <a:pt x="6301" y="2773"/>
                  <a:pt x="6402" y="2842"/>
                </a:cubicBezTo>
                <a:cubicBezTo>
                  <a:pt x="6502" y="2910"/>
                  <a:pt x="6606" y="2948"/>
                  <a:pt x="6632" y="2923"/>
                </a:cubicBezTo>
                <a:cubicBezTo>
                  <a:pt x="6659" y="2899"/>
                  <a:pt x="6596" y="2822"/>
                  <a:pt x="6495" y="2754"/>
                </a:cubicBezTo>
                <a:cubicBezTo>
                  <a:pt x="6395" y="2685"/>
                  <a:pt x="6293" y="2647"/>
                  <a:pt x="6266" y="2672"/>
                </a:cubicBezTo>
                <a:close/>
                <a:moveTo>
                  <a:pt x="4070" y="5566"/>
                </a:moveTo>
                <a:cubicBezTo>
                  <a:pt x="4027" y="5568"/>
                  <a:pt x="3985" y="5606"/>
                  <a:pt x="3909" y="5678"/>
                </a:cubicBezTo>
                <a:cubicBezTo>
                  <a:pt x="3763" y="5816"/>
                  <a:pt x="3761" y="5829"/>
                  <a:pt x="3898" y="5780"/>
                </a:cubicBezTo>
                <a:cubicBezTo>
                  <a:pt x="3984" y="5750"/>
                  <a:pt x="4083" y="5766"/>
                  <a:pt x="4118" y="5819"/>
                </a:cubicBezTo>
                <a:cubicBezTo>
                  <a:pt x="4153" y="5872"/>
                  <a:pt x="4224" y="5891"/>
                  <a:pt x="4277" y="5860"/>
                </a:cubicBezTo>
                <a:cubicBezTo>
                  <a:pt x="4339" y="5824"/>
                  <a:pt x="4320" y="5749"/>
                  <a:pt x="4225" y="5660"/>
                </a:cubicBezTo>
                <a:cubicBezTo>
                  <a:pt x="4156" y="5595"/>
                  <a:pt x="4113" y="5564"/>
                  <a:pt x="4070" y="5566"/>
                </a:cubicBezTo>
                <a:close/>
                <a:moveTo>
                  <a:pt x="4223" y="6001"/>
                </a:moveTo>
                <a:cubicBezTo>
                  <a:pt x="4200" y="6001"/>
                  <a:pt x="4153" y="6042"/>
                  <a:pt x="4120" y="6091"/>
                </a:cubicBezTo>
                <a:cubicBezTo>
                  <a:pt x="4088" y="6140"/>
                  <a:pt x="4107" y="6179"/>
                  <a:pt x="4162" y="6179"/>
                </a:cubicBezTo>
                <a:cubicBezTo>
                  <a:pt x="4217" y="6179"/>
                  <a:pt x="4264" y="6140"/>
                  <a:pt x="4264" y="6091"/>
                </a:cubicBezTo>
                <a:cubicBezTo>
                  <a:pt x="4264" y="6042"/>
                  <a:pt x="4246" y="6001"/>
                  <a:pt x="4223" y="6001"/>
                </a:cubicBezTo>
                <a:close/>
                <a:moveTo>
                  <a:pt x="4062" y="7691"/>
                </a:moveTo>
                <a:cubicBezTo>
                  <a:pt x="4037" y="7691"/>
                  <a:pt x="4021" y="7697"/>
                  <a:pt x="4014" y="7711"/>
                </a:cubicBezTo>
                <a:cubicBezTo>
                  <a:pt x="4022" y="7741"/>
                  <a:pt x="4045" y="7772"/>
                  <a:pt x="4066" y="7801"/>
                </a:cubicBezTo>
                <a:cubicBezTo>
                  <a:pt x="4101" y="7833"/>
                  <a:pt x="4142" y="7869"/>
                  <a:pt x="4181" y="7869"/>
                </a:cubicBezTo>
                <a:cubicBezTo>
                  <a:pt x="4234" y="7869"/>
                  <a:pt x="4248" y="7828"/>
                  <a:pt x="4216" y="7779"/>
                </a:cubicBezTo>
                <a:cubicBezTo>
                  <a:pt x="4184" y="7730"/>
                  <a:pt x="4114" y="7691"/>
                  <a:pt x="4062" y="7691"/>
                </a:cubicBezTo>
                <a:close/>
                <a:moveTo>
                  <a:pt x="21531" y="7724"/>
                </a:moveTo>
                <a:cubicBezTo>
                  <a:pt x="21521" y="7733"/>
                  <a:pt x="21515" y="7764"/>
                  <a:pt x="21513" y="7816"/>
                </a:cubicBezTo>
                <a:cubicBezTo>
                  <a:pt x="21509" y="7909"/>
                  <a:pt x="21530" y="7962"/>
                  <a:pt x="21561" y="7932"/>
                </a:cubicBezTo>
                <a:cubicBezTo>
                  <a:pt x="21577" y="7917"/>
                  <a:pt x="21585" y="7891"/>
                  <a:pt x="21587" y="7861"/>
                </a:cubicBezTo>
                <a:cubicBezTo>
                  <a:pt x="21589" y="7830"/>
                  <a:pt x="21583" y="7795"/>
                  <a:pt x="21570" y="7763"/>
                </a:cubicBezTo>
                <a:cubicBezTo>
                  <a:pt x="21555" y="7727"/>
                  <a:pt x="21541" y="7714"/>
                  <a:pt x="21531" y="7724"/>
                </a:cubicBezTo>
                <a:close/>
                <a:moveTo>
                  <a:pt x="2652" y="8312"/>
                </a:moveTo>
                <a:cubicBezTo>
                  <a:pt x="2600" y="8312"/>
                  <a:pt x="2558" y="8351"/>
                  <a:pt x="2558" y="8400"/>
                </a:cubicBezTo>
                <a:cubicBezTo>
                  <a:pt x="2558" y="8449"/>
                  <a:pt x="2600" y="8490"/>
                  <a:pt x="2652" y="8490"/>
                </a:cubicBezTo>
                <a:cubicBezTo>
                  <a:pt x="2704" y="8490"/>
                  <a:pt x="2748" y="8449"/>
                  <a:pt x="2748" y="8400"/>
                </a:cubicBezTo>
                <a:cubicBezTo>
                  <a:pt x="2748" y="8351"/>
                  <a:pt x="2704" y="8312"/>
                  <a:pt x="2652" y="8312"/>
                </a:cubicBezTo>
                <a:close/>
                <a:moveTo>
                  <a:pt x="21387" y="8449"/>
                </a:moveTo>
                <a:cubicBezTo>
                  <a:pt x="21228" y="8487"/>
                  <a:pt x="21023" y="8632"/>
                  <a:pt x="21095" y="8699"/>
                </a:cubicBezTo>
                <a:cubicBezTo>
                  <a:pt x="21186" y="8784"/>
                  <a:pt x="21259" y="8771"/>
                  <a:pt x="21454" y="8637"/>
                </a:cubicBezTo>
                <a:cubicBezTo>
                  <a:pt x="21575" y="8554"/>
                  <a:pt x="21595" y="8497"/>
                  <a:pt x="21520" y="8453"/>
                </a:cubicBezTo>
                <a:cubicBezTo>
                  <a:pt x="21489" y="8435"/>
                  <a:pt x="21440" y="8437"/>
                  <a:pt x="21387" y="8449"/>
                </a:cubicBezTo>
                <a:close/>
                <a:moveTo>
                  <a:pt x="1286" y="14887"/>
                </a:moveTo>
                <a:cubicBezTo>
                  <a:pt x="1267" y="14887"/>
                  <a:pt x="1232" y="14924"/>
                  <a:pt x="1203" y="14960"/>
                </a:cubicBezTo>
                <a:cubicBezTo>
                  <a:pt x="1193" y="14972"/>
                  <a:pt x="1178" y="14982"/>
                  <a:pt x="1181" y="14995"/>
                </a:cubicBezTo>
                <a:cubicBezTo>
                  <a:pt x="1187" y="15015"/>
                  <a:pt x="1208" y="15035"/>
                  <a:pt x="1238" y="15056"/>
                </a:cubicBezTo>
                <a:cubicBezTo>
                  <a:pt x="1264" y="15054"/>
                  <a:pt x="1286" y="15028"/>
                  <a:pt x="1310" y="15013"/>
                </a:cubicBezTo>
                <a:cubicBezTo>
                  <a:pt x="1316" y="15001"/>
                  <a:pt x="1327" y="14990"/>
                  <a:pt x="1327" y="14976"/>
                </a:cubicBezTo>
                <a:cubicBezTo>
                  <a:pt x="1327" y="14928"/>
                  <a:pt x="1309" y="14887"/>
                  <a:pt x="1286" y="14887"/>
                </a:cubicBezTo>
                <a:close/>
                <a:moveTo>
                  <a:pt x="17005" y="21416"/>
                </a:moveTo>
                <a:cubicBezTo>
                  <a:pt x="16989" y="21410"/>
                  <a:pt x="16958" y="21415"/>
                  <a:pt x="16916" y="21430"/>
                </a:cubicBezTo>
                <a:cubicBezTo>
                  <a:pt x="16835" y="21459"/>
                  <a:pt x="16768" y="21497"/>
                  <a:pt x="16768" y="21516"/>
                </a:cubicBezTo>
                <a:cubicBezTo>
                  <a:pt x="16768" y="21588"/>
                  <a:pt x="16950" y="21547"/>
                  <a:pt x="17005" y="21463"/>
                </a:cubicBezTo>
                <a:cubicBezTo>
                  <a:pt x="17022" y="21438"/>
                  <a:pt x="17021" y="21422"/>
                  <a:pt x="17005" y="21416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9" name="B">
            <a:extLst>
              <a:ext uri="{FF2B5EF4-FFF2-40B4-BE49-F238E27FC236}">
                <a16:creationId xmlns:a16="http://schemas.microsoft.com/office/drawing/2014/main" id="{A351F3C0-5417-B19A-03AB-5EF5CE3287AE}"/>
              </a:ext>
            </a:extLst>
          </p:cNvPr>
          <p:cNvSpPr txBox="1"/>
          <p:nvPr/>
        </p:nvSpPr>
        <p:spPr>
          <a:xfrm>
            <a:off x="5433200" y="2182386"/>
            <a:ext cx="851597" cy="5699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 anchor="ctr">
            <a:normAutofit/>
          </a:bodyPr>
          <a:lstStyle>
            <a:lvl1pPr marL="520700" indent="-520700" defTabSz="584200">
              <a:spcBef>
                <a:spcPts val="4600"/>
              </a:spcBef>
              <a:buSzPct val="82000"/>
              <a:buChar char="•"/>
              <a:defRPr sz="6000" spc="0">
                <a:solidFill>
                  <a:srgbClr val="535353"/>
                </a:solidFill>
                <a:latin typeface="BM JUA OTF"/>
                <a:ea typeface="BM JUA OTF"/>
                <a:cs typeface="BM JUA OTF"/>
                <a:sym typeface="BM JUA"/>
              </a:defRPr>
            </a:lvl1pPr>
          </a:lstStyle>
          <a:p>
            <a:r>
              <a:rPr sz="2100" dirty="0"/>
              <a:t>B</a:t>
            </a:r>
          </a:p>
        </p:txBody>
      </p:sp>
      <p:pic>
        <p:nvPicPr>
          <p:cNvPr id="20" name="Oval Oval" descr="Oval Oval">
            <a:extLst>
              <a:ext uri="{FF2B5EF4-FFF2-40B4-BE49-F238E27FC236}">
                <a16:creationId xmlns:a16="http://schemas.microsoft.com/office/drawing/2014/main" id="{4C9683A9-9999-8880-15BB-0E9EFEAEE90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384334" y="1917860"/>
            <a:ext cx="979054" cy="985112"/>
          </a:xfrm>
          <a:prstGeom prst="rect">
            <a:avLst/>
          </a:prstGeom>
        </p:spPr>
      </p:pic>
      <p:pic>
        <p:nvPicPr>
          <p:cNvPr id="21" name="Oval Oval" descr="Oval Oval">
            <a:extLst>
              <a:ext uri="{FF2B5EF4-FFF2-40B4-BE49-F238E27FC236}">
                <a16:creationId xmlns:a16="http://schemas.microsoft.com/office/drawing/2014/main" id="{3CB90A9B-AAD9-D216-39BD-BECD269B71F5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462821" y="1957607"/>
            <a:ext cx="944545" cy="945365"/>
          </a:xfrm>
          <a:prstGeom prst="rect">
            <a:avLst/>
          </a:prstGeom>
        </p:spPr>
      </p:pic>
      <p:sp>
        <p:nvSpPr>
          <p:cNvPr id="22" name="A">
            <a:extLst>
              <a:ext uri="{FF2B5EF4-FFF2-40B4-BE49-F238E27FC236}">
                <a16:creationId xmlns:a16="http://schemas.microsoft.com/office/drawing/2014/main" id="{2E654EAD-2068-1D9B-D77D-674CDDB6345B}"/>
              </a:ext>
            </a:extLst>
          </p:cNvPr>
          <p:cNvSpPr txBox="1">
            <a:spLocks/>
          </p:cNvSpPr>
          <p:nvPr/>
        </p:nvSpPr>
        <p:spPr>
          <a:xfrm>
            <a:off x="2736635" y="2263009"/>
            <a:ext cx="626753" cy="4195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SzTx/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>
                <a:latin typeface="ChosunilboNM" panose="02030304000000000000" pitchFamily="18" charset="-128"/>
              </a:rPr>
              <a:t>A</a:t>
            </a:r>
          </a:p>
        </p:txBody>
      </p:sp>
      <p:sp>
        <p:nvSpPr>
          <p:cNvPr id="23" name="회귀분석은 독립변수 A가 변할때 종속변수 B가 어떻게 변하는지를 분석한다.…">
            <a:extLst>
              <a:ext uri="{FF2B5EF4-FFF2-40B4-BE49-F238E27FC236}">
                <a16:creationId xmlns:a16="http://schemas.microsoft.com/office/drawing/2014/main" id="{25862CBD-BC53-479F-AFBC-6A8241208F96}"/>
              </a:ext>
            </a:extLst>
          </p:cNvPr>
          <p:cNvSpPr txBox="1"/>
          <p:nvPr/>
        </p:nvSpPr>
        <p:spPr>
          <a:xfrm>
            <a:off x="1492744" y="3007384"/>
            <a:ext cx="7004870" cy="872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 anchor="ctr"/>
          <a:lstStyle/>
          <a:p>
            <a:pPr>
              <a:spcBef>
                <a:spcPts val="1050"/>
              </a:spcBef>
            </a:pPr>
            <a:r>
              <a:rPr sz="1350" dirty="0" err="1">
                <a:solidFill>
                  <a:srgbClr val="FF2600"/>
                </a:solidFill>
                <a:latin typeface="ChosunilboNM" panose="02030304000000000000" pitchFamily="18" charset="-128"/>
              </a:rPr>
              <a:t>회귀분석</a:t>
            </a:r>
            <a:r>
              <a:rPr sz="1350" dirty="0" err="1">
                <a:latin typeface="ChosunilboNM" panose="02030304000000000000" pitchFamily="18" charset="-128"/>
              </a:rPr>
              <a:t>은</a:t>
            </a:r>
            <a:r>
              <a:rPr sz="1350" dirty="0">
                <a:latin typeface="ChosunilboNM" panose="02030304000000000000" pitchFamily="18" charset="-128"/>
              </a:rPr>
              <a:t> </a:t>
            </a:r>
            <a:r>
              <a:rPr sz="1350" dirty="0" err="1">
                <a:latin typeface="ChosunilboNM" panose="02030304000000000000" pitchFamily="18" charset="-128"/>
              </a:rPr>
              <a:t>독립변수</a:t>
            </a:r>
            <a:r>
              <a:rPr sz="1350" dirty="0">
                <a:latin typeface="ChosunilboNM" panose="02030304000000000000" pitchFamily="18" charset="-128"/>
              </a:rPr>
              <a:t> </a:t>
            </a:r>
            <a:r>
              <a:rPr sz="1350" dirty="0" err="1">
                <a:latin typeface="ChosunilboNM" panose="02030304000000000000" pitchFamily="18" charset="-128"/>
              </a:rPr>
              <a:t>A가</a:t>
            </a:r>
            <a:r>
              <a:rPr sz="1350" dirty="0">
                <a:latin typeface="ChosunilboNM" panose="02030304000000000000" pitchFamily="18" charset="-128"/>
              </a:rPr>
              <a:t> </a:t>
            </a:r>
            <a:r>
              <a:rPr sz="1350" dirty="0" err="1">
                <a:latin typeface="ChosunilboNM" panose="02030304000000000000" pitchFamily="18" charset="-128"/>
              </a:rPr>
              <a:t>변할때</a:t>
            </a:r>
            <a:r>
              <a:rPr sz="1350" dirty="0">
                <a:latin typeface="ChosunilboNM" panose="02030304000000000000" pitchFamily="18" charset="-128"/>
              </a:rPr>
              <a:t> </a:t>
            </a:r>
            <a:r>
              <a:rPr sz="1350" dirty="0" err="1">
                <a:latin typeface="ChosunilboNM" panose="02030304000000000000" pitchFamily="18" charset="-128"/>
              </a:rPr>
              <a:t>종속변수</a:t>
            </a:r>
            <a:r>
              <a:rPr sz="1350" dirty="0">
                <a:latin typeface="ChosunilboNM" panose="02030304000000000000" pitchFamily="18" charset="-128"/>
              </a:rPr>
              <a:t> </a:t>
            </a:r>
            <a:r>
              <a:rPr sz="1350" dirty="0" err="1">
                <a:latin typeface="ChosunilboNM" panose="02030304000000000000" pitchFamily="18" charset="-128"/>
              </a:rPr>
              <a:t>B가</a:t>
            </a:r>
            <a:r>
              <a:rPr sz="1350" dirty="0">
                <a:latin typeface="ChosunilboNM" panose="02030304000000000000" pitchFamily="18" charset="-128"/>
              </a:rPr>
              <a:t> </a:t>
            </a:r>
            <a:r>
              <a:rPr sz="1350" dirty="0" err="1">
                <a:latin typeface="ChosunilboNM" panose="02030304000000000000" pitchFamily="18" charset="-128"/>
              </a:rPr>
              <a:t>어떻게</a:t>
            </a:r>
            <a:r>
              <a:rPr sz="1350" dirty="0">
                <a:latin typeface="ChosunilboNM" panose="02030304000000000000" pitchFamily="18" charset="-128"/>
              </a:rPr>
              <a:t> </a:t>
            </a:r>
            <a:r>
              <a:rPr sz="1350" dirty="0" err="1">
                <a:latin typeface="ChosunilboNM" panose="02030304000000000000" pitchFamily="18" charset="-128"/>
              </a:rPr>
              <a:t>변하는지를</a:t>
            </a:r>
            <a:r>
              <a:rPr sz="1350" dirty="0">
                <a:latin typeface="ChosunilboNM" panose="02030304000000000000" pitchFamily="18" charset="-128"/>
              </a:rPr>
              <a:t> </a:t>
            </a:r>
            <a:r>
              <a:rPr sz="1350" dirty="0" err="1">
                <a:latin typeface="ChosunilboNM" panose="02030304000000000000" pitchFamily="18" charset="-128"/>
              </a:rPr>
              <a:t>분석한다</a:t>
            </a:r>
            <a:r>
              <a:rPr sz="1350" dirty="0">
                <a:latin typeface="ChosunilboNM" panose="02030304000000000000" pitchFamily="18" charset="-128"/>
              </a:rPr>
              <a:t>.</a:t>
            </a:r>
          </a:p>
          <a:p>
            <a:pPr>
              <a:spcBef>
                <a:spcPts val="1050"/>
              </a:spcBef>
            </a:pPr>
            <a:r>
              <a:rPr sz="1350" dirty="0">
                <a:latin typeface="ChosunilboNM" panose="02030304000000000000" pitchFamily="18" charset="-128"/>
              </a:rPr>
              <a:t>즉, </a:t>
            </a:r>
            <a:r>
              <a:rPr sz="1350" dirty="0" err="1">
                <a:solidFill>
                  <a:srgbClr val="D7620E"/>
                </a:solidFill>
                <a:latin typeface="ChosunilboNM" panose="02030304000000000000" pitchFamily="18" charset="-128"/>
              </a:rPr>
              <a:t>독립변수가</a:t>
            </a:r>
            <a:r>
              <a:rPr sz="1350" dirty="0">
                <a:solidFill>
                  <a:srgbClr val="D7620E"/>
                </a:solidFill>
                <a:latin typeface="ChosunilboNM" panose="02030304000000000000" pitchFamily="18" charset="-128"/>
              </a:rPr>
              <a:t> </a:t>
            </a:r>
            <a:r>
              <a:rPr sz="1350" dirty="0" err="1">
                <a:solidFill>
                  <a:srgbClr val="D7620E"/>
                </a:solidFill>
                <a:latin typeface="ChosunilboNM" panose="02030304000000000000" pitchFamily="18" charset="-128"/>
              </a:rPr>
              <a:t>변함</a:t>
            </a:r>
            <a:r>
              <a:rPr sz="1350" dirty="0" err="1">
                <a:latin typeface="ChosunilboNM" panose="02030304000000000000" pitchFamily="18" charset="-128"/>
              </a:rPr>
              <a:t>으로써</a:t>
            </a:r>
            <a:r>
              <a:rPr sz="1350" dirty="0">
                <a:latin typeface="ChosunilboNM" panose="02030304000000000000" pitchFamily="18" charset="-128"/>
              </a:rPr>
              <a:t> </a:t>
            </a:r>
            <a:r>
              <a:rPr sz="1350" dirty="0" err="1">
                <a:solidFill>
                  <a:srgbClr val="D7620E"/>
                </a:solidFill>
                <a:latin typeface="ChosunilboNM" panose="02030304000000000000" pitchFamily="18" charset="-128"/>
              </a:rPr>
              <a:t>종속변수가</a:t>
            </a:r>
            <a:r>
              <a:rPr sz="1350" dirty="0">
                <a:solidFill>
                  <a:srgbClr val="D7620E"/>
                </a:solidFill>
                <a:latin typeface="ChosunilboNM" panose="02030304000000000000" pitchFamily="18" charset="-128"/>
              </a:rPr>
              <a:t> </a:t>
            </a:r>
            <a:r>
              <a:rPr sz="1350" dirty="0" err="1">
                <a:solidFill>
                  <a:srgbClr val="D7620E"/>
                </a:solidFill>
                <a:latin typeface="ChosunilboNM" panose="02030304000000000000" pitchFamily="18" charset="-128"/>
              </a:rPr>
              <a:t>영향을</a:t>
            </a:r>
            <a:r>
              <a:rPr sz="1350" dirty="0">
                <a:solidFill>
                  <a:srgbClr val="D7620E"/>
                </a:solidFill>
                <a:latin typeface="ChosunilboNM" panose="02030304000000000000" pitchFamily="18" charset="-128"/>
              </a:rPr>
              <a:t> </a:t>
            </a:r>
            <a:r>
              <a:rPr sz="1350" dirty="0" err="1">
                <a:solidFill>
                  <a:srgbClr val="D7620E"/>
                </a:solidFill>
                <a:latin typeface="ChosunilboNM" panose="02030304000000000000" pitchFamily="18" charset="-128"/>
              </a:rPr>
              <a:t>받는</a:t>
            </a:r>
            <a:r>
              <a:rPr sz="1350" dirty="0">
                <a:solidFill>
                  <a:srgbClr val="D7620E"/>
                </a:solidFill>
                <a:latin typeface="ChosunilboNM" panose="02030304000000000000" pitchFamily="18" charset="-128"/>
              </a:rPr>
              <a:t> </a:t>
            </a:r>
            <a:r>
              <a:rPr sz="1350" dirty="0" err="1">
                <a:solidFill>
                  <a:srgbClr val="D7620E"/>
                </a:solidFill>
                <a:latin typeface="ChosunilboNM" panose="02030304000000000000" pitchFamily="18" charset="-128"/>
              </a:rPr>
              <a:t>정도</a:t>
            </a:r>
            <a:r>
              <a:rPr sz="1350" dirty="0" err="1">
                <a:latin typeface="ChosunilboNM" panose="02030304000000000000" pitchFamily="18" charset="-128"/>
              </a:rPr>
              <a:t>를</a:t>
            </a:r>
            <a:r>
              <a:rPr sz="1350" dirty="0">
                <a:latin typeface="ChosunilboNM" panose="02030304000000000000" pitchFamily="18" charset="-128"/>
              </a:rPr>
              <a:t> </a:t>
            </a:r>
            <a:r>
              <a:rPr sz="1350" dirty="0" err="1">
                <a:latin typeface="ChosunilboNM" panose="02030304000000000000" pitchFamily="18" charset="-128"/>
              </a:rPr>
              <a:t>수리적으로</a:t>
            </a:r>
            <a:r>
              <a:rPr sz="1350" dirty="0">
                <a:latin typeface="ChosunilboNM" panose="02030304000000000000" pitchFamily="18" charset="-128"/>
              </a:rPr>
              <a:t> </a:t>
            </a:r>
            <a:r>
              <a:rPr sz="1350" dirty="0" err="1">
                <a:latin typeface="ChosunilboNM" panose="02030304000000000000" pitchFamily="18" charset="-128"/>
              </a:rPr>
              <a:t>계산하는</a:t>
            </a:r>
            <a:r>
              <a:rPr sz="1350" dirty="0">
                <a:latin typeface="ChosunilboNM" panose="02030304000000000000" pitchFamily="18" charset="-128"/>
              </a:rPr>
              <a:t> 것.</a:t>
            </a:r>
          </a:p>
        </p:txBody>
      </p:sp>
      <p:sp>
        <p:nvSpPr>
          <p:cNvPr id="24" name="독립변수와 종속변수는 원인과 결과의 관계를 갖고 있다.…">
            <a:extLst>
              <a:ext uri="{FF2B5EF4-FFF2-40B4-BE49-F238E27FC236}">
                <a16:creationId xmlns:a16="http://schemas.microsoft.com/office/drawing/2014/main" id="{B491B53C-94F1-AF74-AFDB-1C4932683A79}"/>
              </a:ext>
            </a:extLst>
          </p:cNvPr>
          <p:cNvSpPr txBox="1"/>
          <p:nvPr/>
        </p:nvSpPr>
        <p:spPr>
          <a:xfrm>
            <a:off x="1492744" y="4083163"/>
            <a:ext cx="5619090" cy="872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 anchor="ctr"/>
          <a:lstStyle/>
          <a:p>
            <a:pPr>
              <a:spcBef>
                <a:spcPts val="1050"/>
              </a:spcBef>
            </a:pPr>
            <a:r>
              <a:rPr sz="1350" dirty="0" err="1">
                <a:latin typeface="ChosunilboNM" panose="02030304000000000000" pitchFamily="18" charset="-128"/>
              </a:rPr>
              <a:t>독립변수와</a:t>
            </a:r>
            <a:r>
              <a:rPr sz="1350" dirty="0">
                <a:latin typeface="ChosunilboNM" panose="02030304000000000000" pitchFamily="18" charset="-128"/>
              </a:rPr>
              <a:t> </a:t>
            </a:r>
            <a:r>
              <a:rPr sz="1350" dirty="0" err="1">
                <a:latin typeface="ChosunilboNM" panose="02030304000000000000" pitchFamily="18" charset="-128"/>
              </a:rPr>
              <a:t>종속변수는</a:t>
            </a:r>
            <a:r>
              <a:rPr sz="1350" dirty="0">
                <a:latin typeface="ChosunilboNM" panose="02030304000000000000" pitchFamily="18" charset="-128"/>
              </a:rPr>
              <a:t> </a:t>
            </a:r>
            <a:r>
              <a:rPr sz="1350" dirty="0" err="1">
                <a:solidFill>
                  <a:srgbClr val="FF2600"/>
                </a:solidFill>
                <a:latin typeface="ChosunilboNM" panose="02030304000000000000" pitchFamily="18" charset="-128"/>
              </a:rPr>
              <a:t>원인과</a:t>
            </a:r>
            <a:r>
              <a:rPr sz="1350" dirty="0">
                <a:solidFill>
                  <a:srgbClr val="FF2600"/>
                </a:solidFill>
                <a:latin typeface="ChosunilboNM" panose="02030304000000000000" pitchFamily="18" charset="-128"/>
              </a:rPr>
              <a:t> </a:t>
            </a:r>
            <a:r>
              <a:rPr sz="1350" dirty="0" err="1">
                <a:solidFill>
                  <a:srgbClr val="FF2600"/>
                </a:solidFill>
                <a:latin typeface="ChosunilboNM" panose="02030304000000000000" pitchFamily="18" charset="-128"/>
              </a:rPr>
              <a:t>결과의</a:t>
            </a:r>
            <a:r>
              <a:rPr sz="1350" dirty="0">
                <a:solidFill>
                  <a:srgbClr val="FF2600"/>
                </a:solidFill>
                <a:latin typeface="ChosunilboNM" panose="02030304000000000000" pitchFamily="18" charset="-128"/>
              </a:rPr>
              <a:t> </a:t>
            </a:r>
            <a:r>
              <a:rPr sz="1350" dirty="0" err="1">
                <a:solidFill>
                  <a:srgbClr val="FF2600"/>
                </a:solidFill>
                <a:latin typeface="ChosunilboNM" panose="02030304000000000000" pitchFamily="18" charset="-128"/>
              </a:rPr>
              <a:t>관계를</a:t>
            </a:r>
            <a:r>
              <a:rPr sz="1350" dirty="0">
                <a:solidFill>
                  <a:srgbClr val="FF2600"/>
                </a:solidFill>
                <a:latin typeface="ChosunilboNM" panose="02030304000000000000" pitchFamily="18" charset="-128"/>
              </a:rPr>
              <a:t> </a:t>
            </a:r>
            <a:r>
              <a:rPr sz="1350" dirty="0" err="1">
                <a:solidFill>
                  <a:srgbClr val="FF2600"/>
                </a:solidFill>
                <a:latin typeface="ChosunilboNM" panose="02030304000000000000" pitchFamily="18" charset="-128"/>
              </a:rPr>
              <a:t>갖고</a:t>
            </a:r>
            <a:r>
              <a:rPr sz="1350" dirty="0">
                <a:solidFill>
                  <a:srgbClr val="FF2600"/>
                </a:solidFill>
                <a:latin typeface="ChosunilboNM" panose="02030304000000000000" pitchFamily="18" charset="-128"/>
              </a:rPr>
              <a:t> </a:t>
            </a:r>
            <a:r>
              <a:rPr sz="1350" dirty="0" err="1">
                <a:solidFill>
                  <a:srgbClr val="FF2600"/>
                </a:solidFill>
                <a:latin typeface="ChosunilboNM" panose="02030304000000000000" pitchFamily="18" charset="-128"/>
              </a:rPr>
              <a:t>있다</a:t>
            </a:r>
            <a:r>
              <a:rPr sz="1350" dirty="0">
                <a:solidFill>
                  <a:srgbClr val="FF2600"/>
                </a:solidFill>
                <a:latin typeface="ChosunilboNM" panose="02030304000000000000" pitchFamily="18" charset="-128"/>
              </a:rPr>
              <a:t>.</a:t>
            </a:r>
          </a:p>
          <a:p>
            <a:pPr>
              <a:spcBef>
                <a:spcPts val="1050"/>
              </a:spcBef>
            </a:pPr>
            <a:r>
              <a:rPr sz="1350" dirty="0" err="1">
                <a:latin typeface="ChosunilboNM" panose="02030304000000000000" pitchFamily="18" charset="-128"/>
              </a:rPr>
              <a:t>종속변수가</a:t>
            </a:r>
            <a:r>
              <a:rPr sz="1350" dirty="0">
                <a:latin typeface="ChosunilboNM" panose="02030304000000000000" pitchFamily="18" charset="-128"/>
              </a:rPr>
              <a:t> </a:t>
            </a:r>
            <a:r>
              <a:rPr sz="1350" dirty="0" err="1">
                <a:latin typeface="ChosunilboNM" panose="02030304000000000000" pitchFamily="18" charset="-128"/>
              </a:rPr>
              <a:t>변할때</a:t>
            </a:r>
            <a:r>
              <a:rPr sz="1350" dirty="0">
                <a:latin typeface="ChosunilboNM" panose="02030304000000000000" pitchFamily="18" charset="-128"/>
              </a:rPr>
              <a:t> </a:t>
            </a:r>
            <a:r>
              <a:rPr sz="1350" dirty="0" err="1">
                <a:latin typeface="ChosunilboNM" panose="02030304000000000000" pitchFamily="18" charset="-128"/>
              </a:rPr>
              <a:t>독립변수의</a:t>
            </a:r>
            <a:r>
              <a:rPr sz="1350" dirty="0">
                <a:latin typeface="ChosunilboNM" panose="02030304000000000000" pitchFamily="18" charset="-128"/>
              </a:rPr>
              <a:t> </a:t>
            </a:r>
            <a:r>
              <a:rPr sz="1350" dirty="0" err="1">
                <a:latin typeface="ChosunilboNM" panose="02030304000000000000" pitchFamily="18" charset="-128"/>
              </a:rPr>
              <a:t>변하는</a:t>
            </a:r>
            <a:r>
              <a:rPr sz="1350" dirty="0">
                <a:latin typeface="ChosunilboNM" panose="02030304000000000000" pitchFamily="18" charset="-128"/>
              </a:rPr>
              <a:t> </a:t>
            </a:r>
            <a:r>
              <a:rPr sz="1350" dirty="0" err="1">
                <a:latin typeface="ChosunilboNM" panose="02030304000000000000" pitchFamily="18" charset="-128"/>
              </a:rPr>
              <a:t>정도를</a:t>
            </a:r>
            <a:r>
              <a:rPr sz="1350" dirty="0">
                <a:latin typeface="ChosunilboNM" panose="02030304000000000000" pitchFamily="18" charset="-128"/>
              </a:rPr>
              <a:t> </a:t>
            </a:r>
            <a:r>
              <a:rPr sz="1350" dirty="0" err="1">
                <a:solidFill>
                  <a:srgbClr val="FF2600"/>
                </a:solidFill>
                <a:latin typeface="ChosunilboNM" panose="02030304000000000000" pitchFamily="18" charset="-128"/>
              </a:rPr>
              <a:t>해석하지</a:t>
            </a:r>
            <a:r>
              <a:rPr sz="1350" dirty="0">
                <a:solidFill>
                  <a:srgbClr val="FF2600"/>
                </a:solidFill>
                <a:latin typeface="ChosunilboNM" panose="02030304000000000000" pitchFamily="18" charset="-128"/>
              </a:rPr>
              <a:t> </a:t>
            </a:r>
            <a:r>
              <a:rPr sz="1350" dirty="0" err="1">
                <a:solidFill>
                  <a:srgbClr val="FF2600"/>
                </a:solidFill>
                <a:latin typeface="ChosunilboNM" panose="02030304000000000000" pitchFamily="18" charset="-128"/>
              </a:rPr>
              <a:t>않는다</a:t>
            </a:r>
            <a:r>
              <a:rPr sz="1350" dirty="0">
                <a:solidFill>
                  <a:srgbClr val="FF2600"/>
                </a:solidFill>
                <a:latin typeface="ChosunilboNM" panose="02030304000000000000" pitchFamily="18" charset="-128"/>
              </a:rPr>
              <a:t>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F6AFF34-1358-8ABC-9CBE-FAE46259A186}"/>
              </a:ext>
            </a:extLst>
          </p:cNvPr>
          <p:cNvSpPr/>
          <p:nvPr/>
        </p:nvSpPr>
        <p:spPr>
          <a:xfrm>
            <a:off x="732226" y="960850"/>
            <a:ext cx="7679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u="sng" spc="-300" dirty="0">
                <a:solidFill>
                  <a:schemeClr val="bg1">
                    <a:lumMod val="7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회귀분석</a:t>
            </a:r>
            <a:r>
              <a:rPr lang="ko-KR" altLang="en-US" sz="2000" spc="-30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2000" spc="-30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Regression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D1F48D9-6E0D-8C80-0F1A-BDD51EB4AC8B}"/>
              </a:ext>
            </a:extLst>
          </p:cNvPr>
          <p:cNvSpPr/>
          <p:nvPr/>
        </p:nvSpPr>
        <p:spPr>
          <a:xfrm>
            <a:off x="500530" y="590968"/>
            <a:ext cx="6536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Section 04 |  </a:t>
            </a:r>
            <a:r>
              <a:rPr lang="ko-KR" altLang="en-US" sz="200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상관과 예측</a:t>
            </a:r>
          </a:p>
        </p:txBody>
      </p:sp>
    </p:spTree>
    <p:extLst>
      <p:ext uri="{BB962C8B-B14F-4D97-AF65-F5344CB8AC3E}">
        <p14:creationId xmlns:p14="http://schemas.microsoft.com/office/powerpoint/2010/main" val="995852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6" presetClass="emp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mp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</p:cBhvr>
                                      <p:by x="33333" y="33333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6" presetClass="emp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</p:cBhvr>
                                      <p:by x="33333" y="33333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dvAuto="0"/>
      <p:bldP spid="6" grpId="1" animBg="1" advAuto="0"/>
      <p:bldP spid="18" grpId="0" animBg="1" advAuto="0"/>
      <p:bldP spid="18" grpId="1" animBg="1" advAuto="0"/>
      <p:bldP spid="23" grpId="0" animBg="1" advAuto="0"/>
      <p:bldP spid="24" grpId="0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A1214-8606-BE51-A611-E23EDD454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3">
            <a:extLst>
              <a:ext uri="{FF2B5EF4-FFF2-40B4-BE49-F238E27FC236}">
                <a16:creationId xmlns:a16="http://schemas.microsoft.com/office/drawing/2014/main" id="{2DCCF085-AFF7-445A-85E9-1ED88CF504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848" y="1401065"/>
            <a:ext cx="6034088" cy="343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82600" indent="-292100" eaLnBrk="0" hangingPunct="0"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333399"/>
              </a:buClr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기본 모형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333399"/>
              </a:buClr>
            </a:pP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  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- </a:t>
            </a: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단순회귀분석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(simple regression)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333399"/>
              </a:buClr>
            </a:pP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           Y = </a:t>
            </a:r>
            <a:r>
              <a:rPr lang="el-GR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β</a:t>
            </a:r>
            <a:r>
              <a:rPr lang="en-US" altLang="ko-KR" sz="1400" baseline="-250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0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+ </a:t>
            </a:r>
            <a:r>
              <a:rPr lang="el-GR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β</a:t>
            </a:r>
            <a:r>
              <a:rPr lang="el-GR" altLang="ko-KR" sz="1400" baseline="-250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1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X</a:t>
            </a:r>
            <a:r>
              <a:rPr lang="en-US" altLang="ko-KR" sz="1400" baseline="-250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1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</a:t>
            </a:r>
            <a:r>
              <a:rPr lang="el-GR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+ </a:t>
            </a:r>
            <a:r>
              <a:rPr lang="el-GR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ε</a:t>
            </a:r>
            <a:endParaRPr lang="en-US" altLang="ko-KR" sz="1400" dirty="0">
              <a:latin typeface="ChosunilboNM" panose="02030304000000000000" pitchFamily="18" charset="-128"/>
              <a:ea typeface="ChosunilboNM" panose="02030304000000000000" pitchFamily="18" charset="-128"/>
              <a:cs typeface="ChosunilboNM" panose="02030304000000000000" pitchFamily="18" charset="-128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333399"/>
              </a:buClr>
            </a:pPr>
            <a:endParaRPr lang="en-US" altLang="ko-KR" sz="1400" dirty="0">
              <a:latin typeface="ChosunilboNM" panose="02030304000000000000" pitchFamily="18" charset="-128"/>
              <a:ea typeface="ChosunilboNM" panose="02030304000000000000" pitchFamily="18" charset="-128"/>
              <a:cs typeface="ChosunilboNM" panose="02030304000000000000" pitchFamily="18" charset="-128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333399"/>
              </a:buClr>
            </a:pP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  - </a:t>
            </a: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다중회귀분석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(multiple regression)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333399"/>
              </a:buClr>
            </a:pP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           Y = </a:t>
            </a:r>
            <a:r>
              <a:rPr lang="el-GR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β</a:t>
            </a:r>
            <a:r>
              <a:rPr lang="en-US" altLang="ko-KR" sz="1400" baseline="-250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0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+ </a:t>
            </a:r>
            <a:r>
              <a:rPr lang="el-GR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β</a:t>
            </a:r>
            <a:r>
              <a:rPr lang="el-GR" altLang="ko-KR" sz="1400" baseline="-250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1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X</a:t>
            </a:r>
            <a:r>
              <a:rPr lang="en-US" altLang="ko-KR" sz="1400" baseline="-250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1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</a:t>
            </a:r>
            <a:r>
              <a:rPr lang="el-GR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+ </a:t>
            </a:r>
            <a:r>
              <a:rPr lang="el-GR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β</a:t>
            </a:r>
            <a:r>
              <a:rPr lang="en-US" altLang="ko-KR" sz="1400" baseline="-250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2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X</a:t>
            </a:r>
            <a:r>
              <a:rPr lang="en-US" altLang="ko-KR" sz="1400" baseline="-250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2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</a:t>
            </a:r>
            <a:r>
              <a:rPr lang="el-GR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+ ….. </a:t>
            </a:r>
            <a:r>
              <a:rPr lang="el-GR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+ </a:t>
            </a:r>
            <a:r>
              <a:rPr lang="el-GR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β</a:t>
            </a:r>
            <a:r>
              <a:rPr lang="en-US" altLang="ko-KR" sz="1400" baseline="-25000" dirty="0" err="1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n</a:t>
            </a:r>
            <a:r>
              <a:rPr lang="en-US" altLang="ko-KR" sz="1400" dirty="0" err="1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X</a:t>
            </a:r>
            <a:r>
              <a:rPr lang="en-US" altLang="ko-KR" sz="1400" baseline="-25000" dirty="0" err="1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n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</a:t>
            </a:r>
            <a:r>
              <a:rPr lang="el-GR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+ </a:t>
            </a:r>
            <a:r>
              <a:rPr lang="el-GR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ε</a:t>
            </a:r>
            <a:endParaRPr lang="en-US" altLang="ko-KR" sz="1400" dirty="0">
              <a:latin typeface="ChosunilboNM" panose="02030304000000000000" pitchFamily="18" charset="-128"/>
              <a:ea typeface="ChosunilboNM" panose="02030304000000000000" pitchFamily="18" charset="-128"/>
              <a:cs typeface="ChosunilboNM" panose="02030304000000000000" pitchFamily="18" charset="-128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333399"/>
              </a:buClr>
            </a:pP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                  where, Y : </a:t>
            </a: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종속변수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(dependent variable)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333399"/>
              </a:buClr>
            </a:pP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                              X : </a:t>
            </a: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독립변수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,</a:t>
            </a: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설명변수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(independent variable)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333399"/>
              </a:buClr>
            </a:pP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                              </a:t>
            </a:r>
            <a:r>
              <a:rPr lang="el-GR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β</a:t>
            </a:r>
            <a:r>
              <a:rPr lang="en-US" altLang="ko-KR" sz="1400" baseline="-250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0 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: </a:t>
            </a:r>
            <a:r>
              <a:rPr lang="ko-KR" altLang="en-US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절편</a:t>
            </a:r>
            <a:r>
              <a:rPr lang="en-US" altLang="ko-KR" sz="14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(intercept)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A435A57-48CE-C375-B9D0-37EE19741694}"/>
              </a:ext>
            </a:extLst>
          </p:cNvPr>
          <p:cNvSpPr/>
          <p:nvPr/>
        </p:nvSpPr>
        <p:spPr>
          <a:xfrm>
            <a:off x="732226" y="960850"/>
            <a:ext cx="7679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u="sng" spc="-300" dirty="0">
                <a:solidFill>
                  <a:schemeClr val="bg1">
                    <a:lumMod val="7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회귀분석</a:t>
            </a:r>
            <a:r>
              <a:rPr lang="ko-KR" altLang="en-US" sz="2000" spc="-30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2000" spc="-30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Regression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1857608-99FA-BD59-A88C-1DDCDBEFB382}"/>
              </a:ext>
            </a:extLst>
          </p:cNvPr>
          <p:cNvSpPr/>
          <p:nvPr/>
        </p:nvSpPr>
        <p:spPr>
          <a:xfrm>
            <a:off x="500530" y="590968"/>
            <a:ext cx="6536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Section 04 |  </a:t>
            </a:r>
            <a:r>
              <a:rPr lang="ko-KR" altLang="en-US" sz="200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상관과 예측</a:t>
            </a:r>
          </a:p>
        </p:txBody>
      </p:sp>
    </p:spTree>
    <p:extLst>
      <p:ext uri="{BB962C8B-B14F-4D97-AF65-F5344CB8AC3E}">
        <p14:creationId xmlns:p14="http://schemas.microsoft.com/office/powerpoint/2010/main" val="2725149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ext Box 3">
            <a:extLst>
              <a:ext uri="{FF2B5EF4-FFF2-40B4-BE49-F238E27FC236}">
                <a16:creationId xmlns:a16="http://schemas.microsoft.com/office/drawing/2014/main" id="{14430563-B579-16A2-8161-DECDBA080C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205" y="1463486"/>
            <a:ext cx="7838699" cy="3289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82600" indent="-292100" eaLnBrk="0" hangingPunct="0"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71450" indent="-171450" eaLnBrk="1" hangingPunct="1">
              <a:lnSpc>
                <a:spcPct val="130000"/>
              </a:lnSpc>
              <a:spcBef>
                <a:spcPct val="50000"/>
              </a:spcBef>
              <a:buClr>
                <a:srgbClr val="333399"/>
              </a:buClr>
              <a:buFont typeface="Arial" panose="020B0604020202020204" pitchFamily="34" charset="0"/>
              <a:buChar char="•"/>
            </a:pPr>
            <a:r>
              <a:rPr lang="ko-KR" altLang="en-US" sz="1200" dirty="0" err="1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최소자승법</a:t>
            </a:r>
            <a:r>
              <a:rPr lang="en-US" altLang="ko-KR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(Ordinary Least Square : OLS)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333399"/>
              </a:buClr>
            </a:pPr>
            <a:r>
              <a:rPr lang="en-US" altLang="ko-KR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  - </a:t>
            </a:r>
            <a:r>
              <a:rPr lang="ko-KR" altLang="en-US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실제 관측치와 모형에 의한 예측치와의 거리인 </a:t>
            </a:r>
            <a:r>
              <a:rPr lang="ko-KR" altLang="en-US" sz="1200" dirty="0" err="1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잔차</a:t>
            </a:r>
            <a:r>
              <a:rPr lang="en-US" altLang="ko-KR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(residual)</a:t>
            </a:r>
            <a:r>
              <a:rPr lang="ko-KR" altLang="en-US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를 최소화하는 방법으로 회귀분석의 계수를 계산</a:t>
            </a:r>
            <a:endParaRPr lang="en-US" altLang="ko-KR" sz="1200" dirty="0">
              <a:latin typeface="ChosunilboNM" panose="02030304000000000000" pitchFamily="18" charset="-128"/>
              <a:ea typeface="ChosunilboNM" panose="02030304000000000000" pitchFamily="18" charset="-128"/>
              <a:cs typeface="ChosunilboNM" panose="02030304000000000000" pitchFamily="18" charset="-128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333399"/>
              </a:buClr>
            </a:pPr>
            <a:endParaRPr lang="en-US" altLang="ko-KR" sz="1200" dirty="0">
              <a:latin typeface="ChosunilboNM" panose="02030304000000000000" pitchFamily="18" charset="-128"/>
              <a:ea typeface="ChosunilboNM" panose="02030304000000000000" pitchFamily="18" charset="-128"/>
              <a:cs typeface="ChosunilboNM" panose="02030304000000000000" pitchFamily="18" charset="-128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333399"/>
              </a:buClr>
            </a:pPr>
            <a:endParaRPr lang="en-US" altLang="ko-KR" sz="1200" dirty="0">
              <a:latin typeface="ChosunilboNM" panose="02030304000000000000" pitchFamily="18" charset="-128"/>
              <a:ea typeface="ChosunilboNM" panose="02030304000000000000" pitchFamily="18" charset="-128"/>
              <a:cs typeface="ChosunilboNM" panose="02030304000000000000" pitchFamily="18" charset="-128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333399"/>
              </a:buClr>
            </a:pPr>
            <a:endParaRPr lang="en-US" altLang="ko-KR" sz="1200" dirty="0">
              <a:latin typeface="ChosunilboNM" panose="02030304000000000000" pitchFamily="18" charset="-128"/>
              <a:ea typeface="ChosunilboNM" panose="02030304000000000000" pitchFamily="18" charset="-128"/>
              <a:cs typeface="ChosunilboNM" panose="02030304000000000000" pitchFamily="18" charset="-128"/>
            </a:endParaRPr>
          </a:p>
          <a:p>
            <a:pPr marL="171450" indent="-171450" eaLnBrk="1" hangingPunct="1">
              <a:lnSpc>
                <a:spcPct val="130000"/>
              </a:lnSpc>
              <a:spcBef>
                <a:spcPct val="50000"/>
              </a:spcBef>
              <a:buClr>
                <a:srgbClr val="333399"/>
              </a:buClr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기본 가정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333399"/>
              </a:buClr>
            </a:pPr>
            <a:r>
              <a:rPr lang="ko-KR" altLang="en-US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     </a:t>
            </a:r>
            <a:r>
              <a:rPr lang="en-US" altLang="ko-KR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Y = </a:t>
            </a:r>
            <a:r>
              <a:rPr lang="el-GR" altLang="ko-KR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β</a:t>
            </a:r>
            <a:r>
              <a:rPr lang="en-US" altLang="ko-KR" sz="1200" baseline="-250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0</a:t>
            </a:r>
            <a:r>
              <a:rPr lang="en-US" altLang="ko-KR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+ </a:t>
            </a:r>
            <a:r>
              <a:rPr lang="el-GR" altLang="ko-KR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β</a:t>
            </a:r>
            <a:r>
              <a:rPr lang="el-GR" altLang="ko-KR" sz="1200" baseline="-250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1</a:t>
            </a:r>
            <a:r>
              <a:rPr lang="en-US" altLang="ko-KR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X</a:t>
            </a:r>
            <a:r>
              <a:rPr lang="en-US" altLang="ko-KR" sz="1200" baseline="-250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1</a:t>
            </a:r>
            <a:r>
              <a:rPr lang="en-US" altLang="ko-KR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</a:t>
            </a:r>
            <a:r>
              <a:rPr lang="el-GR" altLang="ko-KR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</a:t>
            </a:r>
            <a:r>
              <a:rPr lang="en-US" altLang="ko-KR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+ </a:t>
            </a:r>
            <a:r>
              <a:rPr lang="el-GR" altLang="ko-KR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ε</a:t>
            </a:r>
            <a:r>
              <a:rPr lang="en-US" altLang="ko-KR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</a:t>
            </a:r>
            <a:r>
              <a:rPr lang="ko-KR" altLang="en-US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에서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333399"/>
              </a:buClr>
            </a:pPr>
            <a:r>
              <a:rPr lang="ko-KR" altLang="en-US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  </a:t>
            </a:r>
            <a:r>
              <a:rPr lang="en-US" altLang="ko-KR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- X</a:t>
            </a:r>
            <a:r>
              <a:rPr lang="ko-KR" altLang="en-US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와 </a:t>
            </a:r>
            <a:r>
              <a:rPr lang="en-US" altLang="ko-KR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Y</a:t>
            </a:r>
            <a:r>
              <a:rPr lang="ko-KR" altLang="en-US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는 선형 종속관계이다</a:t>
            </a:r>
            <a:r>
              <a:rPr lang="en-US" altLang="ko-KR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.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333399"/>
              </a:buClr>
            </a:pPr>
            <a:r>
              <a:rPr lang="en-US" altLang="ko-KR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  - </a:t>
            </a:r>
            <a:r>
              <a:rPr lang="ko-KR" altLang="en-US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설명변수 </a:t>
            </a:r>
            <a:r>
              <a:rPr lang="en-US" altLang="ko-KR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X</a:t>
            </a:r>
            <a:r>
              <a:rPr lang="ko-KR" altLang="en-US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는 비확률변수이다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333399"/>
              </a:buClr>
            </a:pPr>
            <a:r>
              <a:rPr lang="ko-KR" altLang="en-US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  </a:t>
            </a:r>
            <a:r>
              <a:rPr lang="en-US" altLang="ko-KR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- </a:t>
            </a:r>
            <a:r>
              <a:rPr lang="ko-KR" altLang="en-US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오차항의 </a:t>
            </a:r>
            <a:r>
              <a:rPr lang="ko-KR" altLang="en-US" sz="1200" dirty="0" err="1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기대값은</a:t>
            </a:r>
            <a:r>
              <a:rPr lang="ko-KR" altLang="en-US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 </a:t>
            </a:r>
            <a:r>
              <a:rPr lang="en-US" altLang="ko-KR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0</a:t>
            </a:r>
            <a:r>
              <a:rPr lang="ko-KR" altLang="en-US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이고</a:t>
            </a:r>
            <a:r>
              <a:rPr lang="en-US" altLang="ko-KR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, </a:t>
            </a:r>
            <a:r>
              <a:rPr lang="ko-KR" altLang="en-US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모두 동일분산을 갖고</a:t>
            </a:r>
            <a:r>
              <a:rPr lang="en-US" altLang="ko-KR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, </a:t>
            </a:r>
            <a:r>
              <a:rPr lang="ko-KR" altLang="en-US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정규분포를 이루며 서로 독립적이다</a:t>
            </a:r>
            <a:r>
              <a:rPr lang="en-US" altLang="ko-KR" sz="1200" dirty="0">
                <a:latin typeface="ChosunilboNM" panose="02030304000000000000" pitchFamily="18" charset="-128"/>
                <a:ea typeface="ChosunilboNM" panose="02030304000000000000" pitchFamily="18" charset="-128"/>
                <a:cs typeface="ChosunilboNM" panose="02030304000000000000" pitchFamily="18" charset="-128"/>
              </a:rPr>
              <a:t>.            </a:t>
            </a:r>
          </a:p>
        </p:txBody>
      </p:sp>
      <p:grpSp>
        <p:nvGrpSpPr>
          <p:cNvPr id="12292" name="Group 21">
            <a:extLst>
              <a:ext uri="{FF2B5EF4-FFF2-40B4-BE49-F238E27FC236}">
                <a16:creationId xmlns:a16="http://schemas.microsoft.com/office/drawing/2014/main" id="{BC3BB1CE-79D5-D725-539E-5DBA6F07CF74}"/>
              </a:ext>
            </a:extLst>
          </p:cNvPr>
          <p:cNvGrpSpPr>
            <a:grpSpLocks/>
          </p:cNvGrpSpPr>
          <p:nvPr/>
        </p:nvGrpSpPr>
        <p:grpSpPr bwMode="auto">
          <a:xfrm>
            <a:off x="5309754" y="2438256"/>
            <a:ext cx="2684706" cy="1744394"/>
            <a:chOff x="748" y="1344"/>
            <a:chExt cx="2040" cy="1315"/>
          </a:xfrm>
        </p:grpSpPr>
        <p:sp>
          <p:nvSpPr>
            <p:cNvPr id="12293" name="Freeform 4">
              <a:extLst>
                <a:ext uri="{FF2B5EF4-FFF2-40B4-BE49-F238E27FC236}">
                  <a16:creationId xmlns:a16="http://schemas.microsoft.com/office/drawing/2014/main" id="{E7848D5C-D06C-19E4-978A-57C01EF5E5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" y="1525"/>
              <a:ext cx="1542" cy="1134"/>
            </a:xfrm>
            <a:custGeom>
              <a:avLst/>
              <a:gdLst>
                <a:gd name="T0" fmla="*/ 0 w 2132"/>
                <a:gd name="T1" fmla="*/ 0 h 1633"/>
                <a:gd name="T2" fmla="*/ 0 w 2132"/>
                <a:gd name="T3" fmla="*/ 7 h 1633"/>
                <a:gd name="T4" fmla="*/ 17 w 2132"/>
                <a:gd name="T5" fmla="*/ 7 h 1633"/>
                <a:gd name="T6" fmla="*/ 0 60000 65536"/>
                <a:gd name="T7" fmla="*/ 0 60000 65536"/>
                <a:gd name="T8" fmla="*/ 0 60000 65536"/>
                <a:gd name="T9" fmla="*/ 0 w 2132"/>
                <a:gd name="T10" fmla="*/ 0 h 1633"/>
                <a:gd name="T11" fmla="*/ 2132 w 2132"/>
                <a:gd name="T12" fmla="*/ 1633 h 16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32" h="1633">
                  <a:moveTo>
                    <a:pt x="0" y="0"/>
                  </a:moveTo>
                  <a:lnTo>
                    <a:pt x="0" y="1633"/>
                  </a:lnTo>
                  <a:lnTo>
                    <a:pt x="2132" y="1633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ko-KR" altLang="en-US" sz="1350" dirty="0">
                <a:latin typeface="ChosunilboNM" panose="02030304000000000000" pitchFamily="18" charset="-128"/>
              </a:endParaRPr>
            </a:p>
          </p:txBody>
        </p:sp>
        <p:sp>
          <p:nvSpPr>
            <p:cNvPr id="12294" name="Line 5">
              <a:extLst>
                <a:ext uri="{FF2B5EF4-FFF2-40B4-BE49-F238E27FC236}">
                  <a16:creationId xmlns:a16="http://schemas.microsoft.com/office/drawing/2014/main" id="{00A9CE3C-F15D-0703-59C2-62881F737C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0" y="2251"/>
              <a:ext cx="15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 sz="1350" dirty="0">
                <a:latin typeface="ChosunilboNM" panose="02030304000000000000" pitchFamily="18" charset="-128"/>
              </a:endParaRPr>
            </a:p>
          </p:txBody>
        </p:sp>
        <p:sp>
          <p:nvSpPr>
            <p:cNvPr id="12295" name="Line 6">
              <a:extLst>
                <a:ext uri="{FF2B5EF4-FFF2-40B4-BE49-F238E27FC236}">
                  <a16:creationId xmlns:a16="http://schemas.microsoft.com/office/drawing/2014/main" id="{D3EC793D-8BA1-E12C-9DFA-86314FD25D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11" y="1646"/>
              <a:ext cx="1361" cy="7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 sz="1350" dirty="0">
                <a:latin typeface="ChosunilboNM" panose="02030304000000000000" pitchFamily="18" charset="-128"/>
              </a:endParaRPr>
            </a:p>
          </p:txBody>
        </p:sp>
        <p:sp>
          <p:nvSpPr>
            <p:cNvPr id="12296" name="Text Box 7">
              <a:extLst>
                <a:ext uri="{FF2B5EF4-FFF2-40B4-BE49-F238E27FC236}">
                  <a16:creationId xmlns:a16="http://schemas.microsoft.com/office/drawing/2014/main" id="{A35453F3-3574-2926-880A-98792B2165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6" y="1344"/>
              <a:ext cx="243" cy="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2100" dirty="0"/>
                <a:t>•</a:t>
              </a:r>
            </a:p>
            <a:p>
              <a:pPr eaLnBrk="1" hangingPunct="1"/>
              <a:r>
                <a:rPr lang="en-US" altLang="ko-KR" sz="2100" dirty="0">
                  <a:latin typeface="ChosunilboNM" panose="02030304000000000000" pitchFamily="18" charset="-128"/>
                </a:rPr>
                <a:t>•</a:t>
              </a:r>
              <a:endParaRPr lang="en-US" altLang="ko-KR" sz="2100" dirty="0"/>
            </a:p>
            <a:p>
              <a:pPr eaLnBrk="1" hangingPunct="1"/>
              <a:r>
                <a:rPr lang="en-US" altLang="ko-KR" sz="2100" dirty="0">
                  <a:latin typeface="ChosunilboNM" panose="02030304000000000000" pitchFamily="18" charset="-128"/>
                </a:rPr>
                <a:t>•</a:t>
              </a:r>
              <a:endParaRPr lang="en-US" altLang="ko-KR" sz="2100" dirty="0"/>
            </a:p>
          </p:txBody>
        </p:sp>
        <p:sp>
          <p:nvSpPr>
            <p:cNvPr id="12297" name="AutoShape 8">
              <a:extLst>
                <a:ext uri="{FF2B5EF4-FFF2-40B4-BE49-F238E27FC236}">
                  <a16:creationId xmlns:a16="http://schemas.microsoft.com/office/drawing/2014/main" id="{F4B1D96B-23AD-3517-50E5-9D06A03D0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1525"/>
              <a:ext cx="115" cy="250"/>
            </a:xfrm>
            <a:prstGeom prst="rightBrace">
              <a:avLst>
                <a:gd name="adj1" fmla="val 1811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sz="3000"/>
            </a:p>
          </p:txBody>
        </p:sp>
        <p:sp>
          <p:nvSpPr>
            <p:cNvPr id="12298" name="AutoShape 9">
              <a:extLst>
                <a:ext uri="{FF2B5EF4-FFF2-40B4-BE49-F238E27FC236}">
                  <a16:creationId xmlns:a16="http://schemas.microsoft.com/office/drawing/2014/main" id="{BB26A654-D782-4A5F-44FE-B6F184338D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1774"/>
              <a:ext cx="115" cy="250"/>
            </a:xfrm>
            <a:prstGeom prst="rightBrace">
              <a:avLst>
                <a:gd name="adj1" fmla="val 1811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sz="3000"/>
            </a:p>
          </p:txBody>
        </p:sp>
        <p:sp>
          <p:nvSpPr>
            <p:cNvPr id="12299" name="Text Box 10">
              <a:extLst>
                <a:ext uri="{FF2B5EF4-FFF2-40B4-BE49-F238E27FC236}">
                  <a16:creationId xmlns:a16="http://schemas.microsoft.com/office/drawing/2014/main" id="{81FC2494-6C41-5CCC-405E-85302D7EF1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3" y="1480"/>
              <a:ext cx="334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050"/>
                <a:t>Y-Y</a:t>
              </a:r>
            </a:p>
          </p:txBody>
        </p:sp>
        <p:sp>
          <p:nvSpPr>
            <p:cNvPr id="12300" name="Text Box 11">
              <a:extLst>
                <a:ext uri="{FF2B5EF4-FFF2-40B4-BE49-F238E27FC236}">
                  <a16:creationId xmlns:a16="http://schemas.microsoft.com/office/drawing/2014/main" id="{CE2770B0-2BE7-C107-6EFB-038FEC40D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3" y="1832"/>
              <a:ext cx="334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050"/>
                <a:t>Y-Y</a:t>
              </a:r>
            </a:p>
          </p:txBody>
        </p:sp>
        <p:sp>
          <p:nvSpPr>
            <p:cNvPr id="12301" name="Rectangle 12">
              <a:extLst>
                <a:ext uri="{FF2B5EF4-FFF2-40B4-BE49-F238E27FC236}">
                  <a16:creationId xmlns:a16="http://schemas.microsoft.com/office/drawing/2014/main" id="{530386D4-385F-0225-EA3E-D4D33DDF2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" y="1431"/>
              <a:ext cx="289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050" dirty="0"/>
                <a:t>^</a:t>
              </a:r>
            </a:p>
          </p:txBody>
        </p:sp>
        <p:sp>
          <p:nvSpPr>
            <p:cNvPr id="12302" name="Rectangle 13">
              <a:extLst>
                <a:ext uri="{FF2B5EF4-FFF2-40B4-BE49-F238E27FC236}">
                  <a16:creationId xmlns:a16="http://schemas.microsoft.com/office/drawing/2014/main" id="{823191D7-E6A8-2C20-FC43-6585E44B18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0" y="1798"/>
              <a:ext cx="289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050" dirty="0"/>
                <a:t>^</a:t>
              </a:r>
            </a:p>
          </p:txBody>
        </p:sp>
        <p:sp>
          <p:nvSpPr>
            <p:cNvPr id="12303" name="Rectangle 14">
              <a:extLst>
                <a:ext uri="{FF2B5EF4-FFF2-40B4-BE49-F238E27FC236}">
                  <a16:creationId xmlns:a16="http://schemas.microsoft.com/office/drawing/2014/main" id="{FFA1BDD2-62DA-E961-7FB1-FACF26D55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5" y="1771"/>
              <a:ext cx="205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050" dirty="0"/>
                <a:t>-</a:t>
              </a:r>
            </a:p>
          </p:txBody>
        </p:sp>
        <p:sp>
          <p:nvSpPr>
            <p:cNvPr id="12304" name="Rectangle 16">
              <a:extLst>
                <a:ext uri="{FF2B5EF4-FFF2-40B4-BE49-F238E27FC236}">
                  <a16:creationId xmlns:a16="http://schemas.microsoft.com/office/drawing/2014/main" id="{82764D6D-FFD9-EE7F-4D7A-A2F092CDB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1661"/>
              <a:ext cx="1117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lvl="1" algn="l" eaLnBrk="1" hangingPunct="1">
                <a:lnSpc>
                  <a:spcPct val="130000"/>
                </a:lnSpc>
                <a:spcBef>
                  <a:spcPct val="50000"/>
                </a:spcBef>
                <a:buClr>
                  <a:srgbClr val="333399"/>
                </a:buClr>
                <a:buFont typeface="Wingdings" panose="05000000000000000000" pitchFamily="2" charset="2"/>
                <a:buNone/>
              </a:pPr>
              <a:r>
                <a:rPr lang="en-US" altLang="ko-KR" sz="1050" dirty="0"/>
                <a:t>Y = </a:t>
              </a:r>
              <a:r>
                <a:rPr lang="el-GR" altLang="ko-KR" sz="1050" dirty="0"/>
                <a:t>β</a:t>
              </a:r>
              <a:r>
                <a:rPr lang="en-US" altLang="ko-KR" sz="1050" baseline="-25000" dirty="0"/>
                <a:t>0</a:t>
              </a:r>
              <a:r>
                <a:rPr lang="en-US" altLang="ko-KR" sz="1050" dirty="0"/>
                <a:t> + </a:t>
              </a:r>
              <a:r>
                <a:rPr lang="el-GR" altLang="ko-KR" sz="1050" dirty="0"/>
                <a:t>β</a:t>
              </a:r>
              <a:r>
                <a:rPr lang="el-GR" altLang="ko-KR" sz="1050" baseline="-25000" dirty="0"/>
                <a:t>1</a:t>
              </a:r>
              <a:r>
                <a:rPr lang="en-US" altLang="ko-KR" sz="1050" dirty="0"/>
                <a:t>X</a:t>
              </a:r>
              <a:r>
                <a:rPr lang="en-US" altLang="ko-KR" sz="1050" baseline="-25000" dirty="0"/>
                <a:t>1</a:t>
              </a:r>
            </a:p>
          </p:txBody>
        </p:sp>
        <p:sp>
          <p:nvSpPr>
            <p:cNvPr id="12305" name="Rectangle 17">
              <a:extLst>
                <a:ext uri="{FF2B5EF4-FFF2-40B4-BE49-F238E27FC236}">
                  <a16:creationId xmlns:a16="http://schemas.microsoft.com/office/drawing/2014/main" id="{E99C60EB-6175-DCA9-9553-F90F87C12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9" y="1641"/>
              <a:ext cx="289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050" dirty="0"/>
                <a:t>^</a:t>
              </a:r>
            </a:p>
          </p:txBody>
        </p:sp>
        <p:sp>
          <p:nvSpPr>
            <p:cNvPr id="12306" name="Rectangle 18">
              <a:extLst>
                <a:ext uri="{FF2B5EF4-FFF2-40B4-BE49-F238E27FC236}">
                  <a16:creationId xmlns:a16="http://schemas.microsoft.com/office/drawing/2014/main" id="{9BB18BCD-6F7D-D804-A743-773BFEF09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2" y="1650"/>
              <a:ext cx="289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050" dirty="0"/>
                <a:t>^</a:t>
              </a:r>
            </a:p>
          </p:txBody>
        </p:sp>
        <p:sp>
          <p:nvSpPr>
            <p:cNvPr id="12307" name="Rectangle 19">
              <a:extLst>
                <a:ext uri="{FF2B5EF4-FFF2-40B4-BE49-F238E27FC236}">
                  <a16:creationId xmlns:a16="http://schemas.microsoft.com/office/drawing/2014/main" id="{4011D61D-8557-D868-5DA2-E2E273E0B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9" y="1644"/>
              <a:ext cx="289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050" dirty="0"/>
                <a:t>^</a:t>
              </a:r>
            </a:p>
          </p:txBody>
        </p:sp>
        <p:sp>
          <p:nvSpPr>
            <p:cNvPr id="12308" name="Freeform 20">
              <a:extLst>
                <a:ext uri="{FF2B5EF4-FFF2-40B4-BE49-F238E27FC236}">
                  <a16:creationId xmlns:a16="http://schemas.microsoft.com/office/drawing/2014/main" id="{00A42BEC-3ABC-4BAB-1207-ABBE8345ED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9" y="1888"/>
              <a:ext cx="227" cy="188"/>
            </a:xfrm>
            <a:custGeom>
              <a:avLst/>
              <a:gdLst>
                <a:gd name="T0" fmla="*/ 0 w 227"/>
                <a:gd name="T1" fmla="*/ 0 h 188"/>
                <a:gd name="T2" fmla="*/ 91 w 227"/>
                <a:gd name="T3" fmla="*/ 181 h 188"/>
                <a:gd name="T4" fmla="*/ 136 w 227"/>
                <a:gd name="T5" fmla="*/ 45 h 188"/>
                <a:gd name="T6" fmla="*/ 227 w 227"/>
                <a:gd name="T7" fmla="*/ 181 h 1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7"/>
                <a:gd name="T13" fmla="*/ 0 h 188"/>
                <a:gd name="T14" fmla="*/ 227 w 227"/>
                <a:gd name="T15" fmla="*/ 188 h 1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7" h="188">
                  <a:moveTo>
                    <a:pt x="0" y="0"/>
                  </a:moveTo>
                  <a:cubicBezTo>
                    <a:pt x="34" y="87"/>
                    <a:pt x="68" y="174"/>
                    <a:pt x="91" y="181"/>
                  </a:cubicBezTo>
                  <a:cubicBezTo>
                    <a:pt x="114" y="188"/>
                    <a:pt x="113" y="45"/>
                    <a:pt x="136" y="45"/>
                  </a:cubicBezTo>
                  <a:cubicBezTo>
                    <a:pt x="159" y="45"/>
                    <a:pt x="193" y="113"/>
                    <a:pt x="227" y="18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ko-KR" altLang="en-US" sz="1350" dirty="0">
                <a:latin typeface="ChosunilboNM" panose="02030304000000000000" pitchFamily="18" charset="-128"/>
              </a:endParaRP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423F150E-98E0-436A-DDE0-924184CD205A}"/>
              </a:ext>
            </a:extLst>
          </p:cNvPr>
          <p:cNvSpPr/>
          <p:nvPr/>
        </p:nvSpPr>
        <p:spPr>
          <a:xfrm>
            <a:off x="732226" y="960850"/>
            <a:ext cx="7679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u="sng" spc="-300" dirty="0">
                <a:solidFill>
                  <a:schemeClr val="bg1">
                    <a:lumMod val="7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회귀분석</a:t>
            </a:r>
            <a:r>
              <a:rPr lang="ko-KR" altLang="en-US" sz="2000" spc="-30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2000" spc="-30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Regression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29254E-1713-1C44-FF8C-275A6FEF6E77}"/>
              </a:ext>
            </a:extLst>
          </p:cNvPr>
          <p:cNvSpPr/>
          <p:nvPr/>
        </p:nvSpPr>
        <p:spPr>
          <a:xfrm>
            <a:off x="500530" y="590968"/>
            <a:ext cx="6536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Section 04 |  </a:t>
            </a:r>
            <a:r>
              <a:rPr lang="ko-KR" altLang="en-US" sz="200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상관과 예측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선형방정식에서는 오차가 존재하지 않지만,…"/>
          <p:cNvSpPr txBox="1"/>
          <p:nvPr/>
        </p:nvSpPr>
        <p:spPr>
          <a:xfrm>
            <a:off x="853259" y="1642840"/>
            <a:ext cx="4045980" cy="562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/>
          <a:p>
            <a:pPr>
              <a:spcBef>
                <a:spcPts val="816"/>
              </a:spcBef>
            </a:pPr>
            <a:r>
              <a:rPr sz="1400" dirty="0" err="1">
                <a:solidFill>
                  <a:srgbClr val="FF2600"/>
                </a:solidFill>
                <a:latin typeface="ChosunilboNM" panose="02030304000000000000" pitchFamily="18" charset="-128"/>
              </a:rPr>
              <a:t>선형방정식</a:t>
            </a:r>
            <a:r>
              <a:rPr sz="1400" dirty="0" err="1">
                <a:latin typeface="ChosunilboNM" panose="02030304000000000000" pitchFamily="18" charset="-128"/>
              </a:rPr>
              <a:t>에서는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solidFill>
                  <a:srgbClr val="FF2600"/>
                </a:solidFill>
                <a:latin typeface="ChosunilboNM" panose="02030304000000000000" pitchFamily="18" charset="-128"/>
              </a:rPr>
              <a:t>오차</a:t>
            </a:r>
            <a:r>
              <a:rPr sz="1400" dirty="0" err="1">
                <a:latin typeface="ChosunilboNM" panose="02030304000000000000" pitchFamily="18" charset="-128"/>
              </a:rPr>
              <a:t>가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latin typeface="ChosunilboNM" panose="02030304000000000000" pitchFamily="18" charset="-128"/>
              </a:rPr>
              <a:t>존재하지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latin typeface="ChosunilboNM" panose="02030304000000000000" pitchFamily="18" charset="-128"/>
              </a:rPr>
              <a:t>않지만</a:t>
            </a:r>
            <a:r>
              <a:rPr sz="1400" dirty="0">
                <a:latin typeface="ChosunilboNM" panose="02030304000000000000" pitchFamily="18" charset="-128"/>
              </a:rPr>
              <a:t>, </a:t>
            </a:r>
          </a:p>
          <a:p>
            <a:pPr>
              <a:spcBef>
                <a:spcPts val="816"/>
              </a:spcBef>
            </a:pPr>
            <a:r>
              <a:rPr sz="1400" dirty="0" err="1">
                <a:latin typeface="ChosunilboNM" panose="02030304000000000000" pitchFamily="18" charset="-128"/>
              </a:rPr>
              <a:t>통계학적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latin typeface="ChosunilboNM" panose="02030304000000000000" pitchFamily="18" charset="-128"/>
              </a:rPr>
              <a:t>모형인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solidFill>
                  <a:srgbClr val="FF2600"/>
                </a:solidFill>
                <a:latin typeface="ChosunilboNM" panose="02030304000000000000" pitchFamily="18" charset="-128"/>
              </a:rPr>
              <a:t>회귀방정식</a:t>
            </a:r>
            <a:r>
              <a:rPr sz="1400" dirty="0" err="1">
                <a:latin typeface="ChosunilboNM" panose="02030304000000000000" pitchFamily="18" charset="-128"/>
              </a:rPr>
              <a:t>에서는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solidFill>
                  <a:srgbClr val="FF2600"/>
                </a:solidFill>
                <a:latin typeface="ChosunilboNM" panose="02030304000000000000" pitchFamily="18" charset="-128"/>
              </a:rPr>
              <a:t>오차항</a:t>
            </a:r>
            <a:r>
              <a:rPr sz="1400" dirty="0" err="1">
                <a:latin typeface="ChosunilboNM" panose="02030304000000000000" pitchFamily="18" charset="-128"/>
              </a:rPr>
              <a:t>이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latin typeface="ChosunilboNM" panose="02030304000000000000" pitchFamily="18" charset="-128"/>
              </a:rPr>
              <a:t>존재한다</a:t>
            </a:r>
            <a:r>
              <a:rPr sz="1400" dirty="0">
                <a:latin typeface="ChosunilboNM" panose="02030304000000000000" pitchFamily="18" charset="-128"/>
              </a:rPr>
              <a:t>.</a:t>
            </a:r>
          </a:p>
        </p:txBody>
      </p:sp>
      <p:sp>
        <p:nvSpPr>
          <p:cNvPr id="642" name="회귀방정식에서는 ∊ 이라는 오차를 포함하고 있다.…"/>
          <p:cNvSpPr txBox="1"/>
          <p:nvPr/>
        </p:nvSpPr>
        <p:spPr>
          <a:xfrm>
            <a:off x="840097" y="3653713"/>
            <a:ext cx="6014468" cy="562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b">
            <a:spAutoFit/>
          </a:bodyPr>
          <a:lstStyle/>
          <a:p>
            <a:pPr>
              <a:spcBef>
                <a:spcPts val="816"/>
              </a:spcBef>
            </a:pPr>
            <a:r>
              <a:rPr sz="1400" dirty="0" err="1">
                <a:latin typeface="ChosunilboNM" panose="02030304000000000000" pitchFamily="18" charset="-128"/>
              </a:rPr>
              <a:t>회귀방정식에서는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>
                <a:solidFill>
                  <a:srgbClr val="FF2600"/>
                </a:solidFill>
                <a:latin typeface="ChosunilboNM" panose="02030304000000000000" pitchFamily="18" charset="-128"/>
              </a:rPr>
              <a:t>∊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latin typeface="ChosunilboNM" panose="02030304000000000000" pitchFamily="18" charset="-128"/>
              </a:rPr>
              <a:t>이라는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solidFill>
                  <a:srgbClr val="FF2600"/>
                </a:solidFill>
                <a:latin typeface="ChosunilboNM" panose="02030304000000000000" pitchFamily="18" charset="-128"/>
              </a:rPr>
              <a:t>오차</a:t>
            </a:r>
            <a:r>
              <a:rPr sz="1400" dirty="0" err="1">
                <a:latin typeface="ChosunilboNM" panose="02030304000000000000" pitchFamily="18" charset="-128"/>
              </a:rPr>
              <a:t>를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latin typeface="ChosunilboNM" panose="02030304000000000000" pitchFamily="18" charset="-128"/>
              </a:rPr>
              <a:t>포함하고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latin typeface="ChosunilboNM" panose="02030304000000000000" pitchFamily="18" charset="-128"/>
              </a:rPr>
              <a:t>있다</a:t>
            </a:r>
            <a:r>
              <a:rPr sz="1400" dirty="0">
                <a:latin typeface="ChosunilboNM" panose="02030304000000000000" pitchFamily="18" charset="-128"/>
              </a:rPr>
              <a:t>.</a:t>
            </a:r>
          </a:p>
          <a:p>
            <a:pPr>
              <a:spcBef>
                <a:spcPts val="816"/>
              </a:spcBef>
            </a:pPr>
            <a:r>
              <a:rPr sz="1400" dirty="0" err="1">
                <a:latin typeface="ChosunilboNM" panose="02030304000000000000" pitchFamily="18" charset="-128"/>
              </a:rPr>
              <a:t>오차는</a:t>
            </a:r>
            <a:r>
              <a:rPr sz="1400" dirty="0">
                <a:latin typeface="ChosunilboNM" panose="02030304000000000000" pitchFamily="18" charset="-128"/>
              </a:rPr>
              <a:t> 1개만 </a:t>
            </a:r>
            <a:r>
              <a:rPr sz="1400" dirty="0" err="1">
                <a:latin typeface="ChosunilboNM" panose="02030304000000000000" pitchFamily="18" charset="-128"/>
              </a:rPr>
              <a:t>나오는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latin typeface="ChosunilboNM" panose="02030304000000000000" pitchFamily="18" charset="-128"/>
              </a:rPr>
              <a:t>것이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latin typeface="ChosunilboNM" panose="02030304000000000000" pitchFamily="18" charset="-128"/>
              </a:rPr>
              <a:t>아니라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solidFill>
                  <a:srgbClr val="FF2600"/>
                </a:solidFill>
                <a:latin typeface="ChosunilboNM" panose="02030304000000000000" pitchFamily="18" charset="-128"/>
              </a:rPr>
              <a:t>데이터의</a:t>
            </a:r>
            <a:r>
              <a:rPr sz="1400" dirty="0">
                <a:solidFill>
                  <a:srgbClr val="FF2600"/>
                </a:solidFill>
                <a:latin typeface="ChosunilboNM" panose="02030304000000000000" pitchFamily="18" charset="-128"/>
              </a:rPr>
              <a:t> </a:t>
            </a:r>
            <a:r>
              <a:rPr sz="1400" dirty="0" err="1">
                <a:solidFill>
                  <a:srgbClr val="FF2600"/>
                </a:solidFill>
                <a:latin typeface="ChosunilboNM" panose="02030304000000000000" pitchFamily="18" charset="-128"/>
              </a:rPr>
              <a:t>수</a:t>
            </a:r>
            <a:r>
              <a:rPr sz="1400" dirty="0" err="1">
                <a:latin typeface="ChosunilboNM" panose="02030304000000000000" pitchFamily="18" charset="-128"/>
              </a:rPr>
              <a:t>만큼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latin typeface="ChosunilboNM" panose="02030304000000000000" pitchFamily="18" charset="-128"/>
              </a:rPr>
              <a:t>존재하며</a:t>
            </a:r>
            <a:r>
              <a:rPr sz="1400" dirty="0">
                <a:latin typeface="ChosunilboNM" panose="02030304000000000000" pitchFamily="18" charset="-128"/>
              </a:rPr>
              <a:t>, </a:t>
            </a:r>
            <a:r>
              <a:rPr sz="1400" dirty="0" err="1">
                <a:latin typeface="ChosunilboNM" panose="02030304000000000000" pitchFamily="18" charset="-128"/>
              </a:rPr>
              <a:t>이를</a:t>
            </a:r>
            <a:r>
              <a:rPr sz="1400" dirty="0">
                <a:latin typeface="ChosunilboNM" panose="02030304000000000000" pitchFamily="18" charset="-128"/>
              </a:rPr>
              <a:t> ∊𝑖 </a:t>
            </a:r>
            <a:r>
              <a:rPr sz="1400" dirty="0" err="1">
                <a:latin typeface="ChosunilboNM" panose="02030304000000000000" pitchFamily="18" charset="-128"/>
              </a:rPr>
              <a:t>로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latin typeface="ChosunilboNM" panose="02030304000000000000" pitchFamily="18" charset="-128"/>
              </a:rPr>
              <a:t>표시한다</a:t>
            </a:r>
            <a:r>
              <a:rPr sz="1400" dirty="0">
                <a:latin typeface="ChosunilboNM" panose="02030304000000000000" pitchFamily="18" charset="-128"/>
              </a:rPr>
              <a:t>.</a:t>
            </a:r>
          </a:p>
        </p:txBody>
      </p:sp>
      <p:grpSp>
        <p:nvGrpSpPr>
          <p:cNvPr id="657" name="Group"/>
          <p:cNvGrpSpPr/>
          <p:nvPr/>
        </p:nvGrpSpPr>
        <p:grpSpPr>
          <a:xfrm>
            <a:off x="5581305" y="1399296"/>
            <a:ext cx="2575910" cy="2344907"/>
            <a:chOff x="0" y="0"/>
            <a:chExt cx="9158790" cy="8337447"/>
          </a:xfrm>
        </p:grpSpPr>
        <p:pic>
          <p:nvPicPr>
            <p:cNvPr id="643" name="Image" descr="Image"/>
            <p:cNvPicPr>
              <a:picLocks/>
            </p:cNvPicPr>
            <p:nvPr/>
          </p:nvPicPr>
          <p:blipFill>
            <a:blip r:embed="rId2"/>
            <a:srcRect t="8856" r="2439"/>
            <a:stretch>
              <a:fillRect/>
            </a:stretch>
          </p:blipFill>
          <p:spPr>
            <a:xfrm>
              <a:off x="591766" y="0"/>
              <a:ext cx="8567025" cy="83374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44" name="Line"/>
            <p:cNvSpPr/>
            <p:nvPr/>
          </p:nvSpPr>
          <p:spPr>
            <a:xfrm>
              <a:off x="344376" y="4775985"/>
              <a:ext cx="1317246" cy="750231"/>
            </a:xfrm>
            <a:prstGeom prst="line">
              <a:avLst/>
            </a:prstGeom>
            <a:noFill/>
            <a:ln w="12700" cap="flat">
              <a:solidFill>
                <a:srgbClr val="5A5F5E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14288" tIns="14288" rIns="14288" bIns="14288" numCol="1" anchor="ctr">
              <a:noAutofit/>
            </a:bodyPr>
            <a:lstStyle/>
            <a:p>
              <a:pPr algn="ctr" defTabSz="164306">
                <a:defRPr sz="3600" spc="0">
                  <a:solidFill>
                    <a:srgbClr val="535353"/>
                  </a:solidFill>
                  <a:latin typeface="Gill Sans Light"/>
                  <a:ea typeface="Gill Sans Light"/>
                  <a:cs typeface="Gill Sans Light"/>
                  <a:sym typeface="Gill Sans Light"/>
                </a:defRPr>
              </a:pPr>
              <a:endParaRPr sz="1013"/>
            </a:p>
          </p:txBody>
        </p:sp>
        <p:grpSp>
          <p:nvGrpSpPr>
            <p:cNvPr id="647" name="Group"/>
            <p:cNvGrpSpPr/>
            <p:nvPr/>
          </p:nvGrpSpPr>
          <p:grpSpPr>
            <a:xfrm>
              <a:off x="4875239" y="2127565"/>
              <a:ext cx="1321935" cy="1019481"/>
              <a:chOff x="0" y="0"/>
              <a:chExt cx="1321933" cy="1019480"/>
            </a:xfrm>
          </p:grpSpPr>
          <p:sp>
            <p:nvSpPr>
              <p:cNvPr id="645" name="Line"/>
              <p:cNvSpPr/>
              <p:nvPr/>
            </p:nvSpPr>
            <p:spPr>
              <a:xfrm flipV="1">
                <a:off x="1311244" y="0"/>
                <a:ext cx="1" cy="1007198"/>
              </a:xfrm>
              <a:prstGeom prst="line">
                <a:avLst/>
              </a:prstGeom>
              <a:noFill/>
              <a:ln w="12700" cap="flat">
                <a:solidFill>
                  <a:srgbClr val="5A5F5E"/>
                </a:solidFill>
                <a:prstDash val="solid"/>
                <a:miter lim="400000"/>
              </a:ln>
              <a:effectLst/>
            </p:spPr>
            <p:txBody>
              <a:bodyPr wrap="square" lIns="14288" tIns="14288" rIns="14288" bIns="14288" numCol="1" anchor="ctr">
                <a:noAutofit/>
              </a:bodyPr>
              <a:lstStyle/>
              <a:p>
                <a:pPr algn="ctr" defTabSz="164306">
                  <a:defRPr sz="3600" spc="0">
                    <a:solidFill>
                      <a:srgbClr val="535353"/>
                    </a:solidFill>
                    <a:latin typeface="Gill Sans Light"/>
                    <a:ea typeface="Gill Sans Light"/>
                    <a:cs typeface="Gill Sans Light"/>
                    <a:sym typeface="Gill Sans Light"/>
                  </a:defRPr>
                </a:pPr>
                <a:endParaRPr sz="1013"/>
              </a:p>
            </p:txBody>
          </p:sp>
          <p:sp>
            <p:nvSpPr>
              <p:cNvPr id="646" name="Line"/>
              <p:cNvSpPr/>
              <p:nvPr/>
            </p:nvSpPr>
            <p:spPr>
              <a:xfrm flipH="1" flipV="1">
                <a:off x="-1" y="1019480"/>
                <a:ext cx="1321935" cy="1"/>
              </a:xfrm>
              <a:prstGeom prst="line">
                <a:avLst/>
              </a:prstGeom>
              <a:noFill/>
              <a:ln w="12700" cap="flat">
                <a:solidFill>
                  <a:srgbClr val="5A5F5E"/>
                </a:solidFill>
                <a:prstDash val="solid"/>
                <a:miter lim="400000"/>
              </a:ln>
              <a:effectLst/>
            </p:spPr>
            <p:txBody>
              <a:bodyPr wrap="square" lIns="14288" tIns="14288" rIns="14288" bIns="14288" numCol="1" anchor="ctr">
                <a:noAutofit/>
              </a:bodyPr>
              <a:lstStyle/>
              <a:p>
                <a:pPr algn="ctr" defTabSz="164306">
                  <a:defRPr sz="3600" spc="0">
                    <a:solidFill>
                      <a:srgbClr val="535353"/>
                    </a:solidFill>
                    <a:latin typeface="Gill Sans Light"/>
                    <a:ea typeface="Gill Sans Light"/>
                    <a:cs typeface="Gill Sans Light"/>
                    <a:sym typeface="Gill Sans Light"/>
                  </a:defRPr>
                </a:pPr>
                <a:endParaRPr sz="1013"/>
              </a:p>
            </p:txBody>
          </p:sp>
        </p:grpSp>
        <p:grpSp>
          <p:nvGrpSpPr>
            <p:cNvPr id="650" name="Group"/>
            <p:cNvGrpSpPr/>
            <p:nvPr/>
          </p:nvGrpSpPr>
          <p:grpSpPr>
            <a:xfrm>
              <a:off x="6197173" y="1079638"/>
              <a:ext cx="1" cy="339963"/>
              <a:chOff x="0" y="0"/>
              <a:chExt cx="0" cy="339962"/>
            </a:xfrm>
          </p:grpSpPr>
          <p:sp>
            <p:nvSpPr>
              <p:cNvPr id="648" name="Line"/>
              <p:cNvSpPr/>
              <p:nvPr/>
            </p:nvSpPr>
            <p:spPr>
              <a:xfrm flipV="1">
                <a:off x="-1" y="-1"/>
                <a:ext cx="2" cy="239030"/>
              </a:xfrm>
              <a:prstGeom prst="line">
                <a:avLst/>
              </a:prstGeom>
              <a:noFill/>
              <a:ln w="12700" cap="flat">
                <a:solidFill>
                  <a:srgbClr val="5A5F5E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14288" tIns="14288" rIns="14288" bIns="14288" numCol="1" anchor="ctr">
                <a:noAutofit/>
              </a:bodyPr>
              <a:lstStyle/>
              <a:p>
                <a:pPr algn="ctr" defTabSz="164306">
                  <a:defRPr sz="3600" spc="0">
                    <a:solidFill>
                      <a:srgbClr val="535353"/>
                    </a:solidFill>
                    <a:latin typeface="Gill Sans Light"/>
                    <a:ea typeface="Gill Sans Light"/>
                    <a:cs typeface="Gill Sans Light"/>
                    <a:sym typeface="Gill Sans Light"/>
                  </a:defRPr>
                </a:pPr>
                <a:endParaRPr sz="1013"/>
              </a:p>
            </p:txBody>
          </p:sp>
          <p:sp>
            <p:nvSpPr>
              <p:cNvPr id="649" name="Line"/>
              <p:cNvSpPr/>
              <p:nvPr/>
            </p:nvSpPr>
            <p:spPr>
              <a:xfrm flipH="1">
                <a:off x="-1" y="119514"/>
                <a:ext cx="2" cy="220449"/>
              </a:xfrm>
              <a:prstGeom prst="line">
                <a:avLst/>
              </a:prstGeom>
              <a:noFill/>
              <a:ln w="12700" cap="flat">
                <a:solidFill>
                  <a:srgbClr val="5A5F5E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14288" tIns="14288" rIns="14288" bIns="14288" numCol="1" anchor="ctr">
                <a:noAutofit/>
              </a:bodyPr>
              <a:lstStyle/>
              <a:p>
                <a:pPr algn="ctr" defTabSz="164306">
                  <a:defRPr sz="3600" spc="0">
                    <a:solidFill>
                      <a:srgbClr val="535353"/>
                    </a:solidFill>
                    <a:latin typeface="Gill Sans Light"/>
                    <a:ea typeface="Gill Sans Light"/>
                    <a:cs typeface="Gill Sans Light"/>
                    <a:sym typeface="Gill Sans Light"/>
                  </a:defRPr>
                </a:pPr>
                <a:endParaRPr sz="1013"/>
              </a:p>
            </p:txBody>
          </p:sp>
        </p:grpSp>
        <p:sp>
          <p:nvSpPr>
            <p:cNvPr id="651" name="Line"/>
            <p:cNvSpPr/>
            <p:nvPr/>
          </p:nvSpPr>
          <p:spPr>
            <a:xfrm flipV="1">
              <a:off x="7055008" y="1077000"/>
              <a:ext cx="1" cy="5848720"/>
            </a:xfrm>
            <a:prstGeom prst="line">
              <a:avLst/>
            </a:prstGeom>
            <a:noFill/>
            <a:ln w="12700" cap="flat">
              <a:solidFill>
                <a:srgbClr val="5A5F5E"/>
              </a:solidFill>
              <a:prstDash val="solid"/>
              <a:miter lim="400000"/>
            </a:ln>
            <a:effectLst/>
          </p:spPr>
          <p:txBody>
            <a:bodyPr wrap="square" lIns="14288" tIns="14288" rIns="14288" bIns="14288" numCol="1" anchor="ctr">
              <a:noAutofit/>
            </a:bodyPr>
            <a:lstStyle/>
            <a:p>
              <a:pPr algn="ctr" defTabSz="164306">
                <a:defRPr sz="3600" spc="0">
                  <a:solidFill>
                    <a:srgbClr val="535353"/>
                  </a:solidFill>
                  <a:latin typeface="Gill Sans Light"/>
                  <a:ea typeface="Gill Sans Light"/>
                  <a:cs typeface="Gill Sans Light"/>
                  <a:sym typeface="Gill Sans Light"/>
                </a:defRPr>
              </a:pPr>
              <a:endParaRPr sz="1013"/>
            </a:p>
          </p:txBody>
        </p:sp>
        <p:sp>
          <p:nvSpPr>
            <p:cNvPr id="652" name="Line"/>
            <p:cNvSpPr/>
            <p:nvPr/>
          </p:nvSpPr>
          <p:spPr>
            <a:xfrm>
              <a:off x="6197173" y="1034454"/>
              <a:ext cx="828428" cy="1"/>
            </a:xfrm>
            <a:prstGeom prst="line">
              <a:avLst/>
            </a:prstGeom>
            <a:noFill/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14288" tIns="14288" rIns="14288" bIns="14288" numCol="1" anchor="ctr">
              <a:noAutofit/>
            </a:bodyPr>
            <a:lstStyle/>
            <a:p>
              <a:pPr algn="ctr" defTabSz="164306">
                <a:defRPr sz="3600" spc="0">
                  <a:solidFill>
                    <a:srgbClr val="535353"/>
                  </a:solidFill>
                  <a:latin typeface="Gill Sans Light"/>
                  <a:ea typeface="Gill Sans Light"/>
                  <a:cs typeface="Gill Sans Light"/>
                  <a:sym typeface="Gill Sans Light"/>
                </a:defRPr>
              </a:pPr>
              <a:endParaRPr sz="1013"/>
            </a:p>
          </p:txBody>
        </p:sp>
        <p:sp>
          <p:nvSpPr>
            <p:cNvPr id="653" name="Line"/>
            <p:cNvSpPr/>
            <p:nvPr/>
          </p:nvSpPr>
          <p:spPr>
            <a:xfrm>
              <a:off x="6197173" y="1419600"/>
              <a:ext cx="828428" cy="1"/>
            </a:xfrm>
            <a:prstGeom prst="line">
              <a:avLst/>
            </a:prstGeom>
            <a:noFill/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14288" tIns="14288" rIns="14288" bIns="14288" numCol="1" anchor="ctr">
              <a:noAutofit/>
            </a:bodyPr>
            <a:lstStyle/>
            <a:p>
              <a:pPr algn="ctr" defTabSz="164306">
                <a:defRPr sz="3600" spc="0">
                  <a:solidFill>
                    <a:srgbClr val="535353"/>
                  </a:solidFill>
                  <a:latin typeface="Gill Sans Light"/>
                  <a:ea typeface="Gill Sans Light"/>
                  <a:cs typeface="Gill Sans Light"/>
                  <a:sym typeface="Gill Sans Light"/>
                </a:defRPr>
              </a:pPr>
              <a:endParaRPr sz="1013"/>
            </a:p>
          </p:txBody>
        </p:sp>
        <p:pic>
          <p:nvPicPr>
            <p:cNvPr id="654" name="Image" descr="Image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0" y="4257433"/>
              <a:ext cx="568557" cy="56855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55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12894" y="3256640"/>
              <a:ext cx="568558" cy="56855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56" name="Image" descr="Imag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36206" y="795360"/>
              <a:ext cx="568557" cy="5685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58" name="독립변수와 종속변수의 데이터를 회귀방정식으로…"/>
          <p:cNvSpPr txBox="1"/>
          <p:nvPr/>
        </p:nvSpPr>
        <p:spPr>
          <a:xfrm>
            <a:off x="846678" y="2487675"/>
            <a:ext cx="3625994" cy="8803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/>
          <a:p>
            <a:pPr>
              <a:spcBef>
                <a:spcPts val="816"/>
              </a:spcBef>
            </a:pPr>
            <a:r>
              <a:rPr sz="1400" dirty="0" err="1">
                <a:latin typeface="ChosunilboNM" panose="02030304000000000000" pitchFamily="18" charset="-128"/>
              </a:rPr>
              <a:t>독립변수와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latin typeface="ChosunilboNM" panose="02030304000000000000" pitchFamily="18" charset="-128"/>
              </a:rPr>
              <a:t>종속변수의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latin typeface="ChosunilboNM" panose="02030304000000000000" pitchFamily="18" charset="-128"/>
              </a:rPr>
              <a:t>데이터를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latin typeface="ChosunilboNM" panose="02030304000000000000" pitchFamily="18" charset="-128"/>
              </a:rPr>
              <a:t>회귀방정식으로</a:t>
            </a:r>
            <a:endParaRPr sz="1400" dirty="0">
              <a:latin typeface="ChosunilboNM" panose="02030304000000000000" pitchFamily="18" charset="-128"/>
            </a:endParaRPr>
          </a:p>
          <a:p>
            <a:pPr>
              <a:spcBef>
                <a:spcPts val="816"/>
              </a:spcBef>
            </a:pPr>
            <a:r>
              <a:rPr sz="1400" dirty="0" err="1">
                <a:latin typeface="ChosunilboNM" panose="02030304000000000000" pitchFamily="18" charset="-128"/>
              </a:rPr>
              <a:t>표현하면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latin typeface="ChosunilboNM" panose="02030304000000000000" pitchFamily="18" charset="-128"/>
              </a:rPr>
              <a:t>데이터가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latin typeface="ChosunilboNM" panose="02030304000000000000" pitchFamily="18" charset="-128"/>
              </a:rPr>
              <a:t>아닌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solidFill>
                  <a:srgbClr val="FF2600"/>
                </a:solidFill>
                <a:latin typeface="ChosunilboNM" panose="02030304000000000000" pitchFamily="18" charset="-128"/>
              </a:rPr>
              <a:t>회귀방정식</a:t>
            </a:r>
            <a:r>
              <a:rPr sz="1400" dirty="0" err="1">
                <a:latin typeface="ChosunilboNM" panose="02030304000000000000" pitchFamily="18" charset="-128"/>
              </a:rPr>
              <a:t>으로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latin typeface="ChosunilboNM" panose="02030304000000000000" pitchFamily="18" charset="-128"/>
              </a:rPr>
              <a:t>전체를</a:t>
            </a:r>
            <a:endParaRPr sz="1400" dirty="0">
              <a:latin typeface="ChosunilboNM" panose="02030304000000000000" pitchFamily="18" charset="-128"/>
            </a:endParaRPr>
          </a:p>
          <a:p>
            <a:pPr>
              <a:spcBef>
                <a:spcPts val="816"/>
              </a:spcBef>
            </a:pPr>
            <a:r>
              <a:rPr sz="1400" dirty="0" err="1">
                <a:latin typeface="ChosunilboNM" panose="02030304000000000000" pitchFamily="18" charset="-128"/>
              </a:rPr>
              <a:t>대신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solidFill>
                  <a:srgbClr val="FF2600"/>
                </a:solidFill>
                <a:latin typeface="ChosunilboNM" panose="02030304000000000000" pitchFamily="18" charset="-128"/>
              </a:rPr>
              <a:t>설명</a:t>
            </a:r>
            <a:r>
              <a:rPr sz="1400" dirty="0" err="1">
                <a:latin typeface="ChosunilboNM" panose="02030304000000000000" pitchFamily="18" charset="-128"/>
              </a:rPr>
              <a:t>할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latin typeface="ChosunilboNM" panose="02030304000000000000" pitchFamily="18" charset="-128"/>
              </a:rPr>
              <a:t>수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latin typeface="ChosunilboNM" panose="02030304000000000000" pitchFamily="18" charset="-128"/>
              </a:rPr>
              <a:t>있다</a:t>
            </a:r>
            <a:r>
              <a:rPr sz="1400" dirty="0">
                <a:latin typeface="ChosunilboNM" panose="02030304000000000000" pitchFamily="18" charset="-128"/>
              </a:rPr>
              <a:t>.</a:t>
            </a:r>
          </a:p>
        </p:txBody>
      </p:sp>
      <p:sp>
        <p:nvSpPr>
          <p:cNvPr id="2" name="직사각형 2">
            <a:extLst>
              <a:ext uri="{FF2B5EF4-FFF2-40B4-BE49-F238E27FC236}">
                <a16:creationId xmlns:a16="http://schemas.microsoft.com/office/drawing/2014/main" id="{92744EE9-4900-A408-92ED-65AA74495BB1}"/>
              </a:ext>
            </a:extLst>
          </p:cNvPr>
          <p:cNvSpPr/>
          <p:nvPr/>
        </p:nvSpPr>
        <p:spPr>
          <a:xfrm>
            <a:off x="732226" y="960850"/>
            <a:ext cx="7679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u="sng" spc="-300" dirty="0">
                <a:solidFill>
                  <a:schemeClr val="bg1">
                    <a:lumMod val="7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회귀분석</a:t>
            </a:r>
            <a:r>
              <a:rPr lang="ko-KR" altLang="en-US" sz="2000" spc="-30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2000" spc="-30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Regression</a:t>
            </a:r>
          </a:p>
        </p:txBody>
      </p:sp>
      <p:sp>
        <p:nvSpPr>
          <p:cNvPr id="3" name="직사각형 3">
            <a:extLst>
              <a:ext uri="{FF2B5EF4-FFF2-40B4-BE49-F238E27FC236}">
                <a16:creationId xmlns:a16="http://schemas.microsoft.com/office/drawing/2014/main" id="{464E3756-CABD-A3BA-4021-15AB6EBFA922}"/>
              </a:ext>
            </a:extLst>
          </p:cNvPr>
          <p:cNvSpPr/>
          <p:nvPr/>
        </p:nvSpPr>
        <p:spPr>
          <a:xfrm>
            <a:off x="500530" y="590968"/>
            <a:ext cx="6536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Section 04 |  </a:t>
            </a:r>
            <a:r>
              <a:rPr lang="ko-KR" altLang="en-US" sz="200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상관과 예측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회귀분석에서는 회귀방정식을 찾는 것이 가장 중요하며, 이 식을 결정하는 요소가 바로 오차항"/>
          <p:cNvSpPr txBox="1"/>
          <p:nvPr/>
        </p:nvSpPr>
        <p:spPr>
          <a:xfrm>
            <a:off x="774200" y="1636065"/>
            <a:ext cx="5932475" cy="459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4288" tIns="14288" rIns="14288" bIns="14288" anchor="b">
            <a:spAutoFit/>
          </a:bodyPr>
          <a:lstStyle/>
          <a:p>
            <a:r>
              <a:rPr sz="1400" dirty="0" err="1">
                <a:latin typeface="ChosunilboNM" panose="02030304000000000000" pitchFamily="18" charset="-128"/>
              </a:rPr>
              <a:t>회귀분석에서는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solidFill>
                  <a:srgbClr val="FF2600"/>
                </a:solidFill>
                <a:latin typeface="ChosunilboNM" panose="02030304000000000000" pitchFamily="18" charset="-128"/>
              </a:rPr>
              <a:t>회귀방정식</a:t>
            </a:r>
            <a:r>
              <a:rPr sz="1400" dirty="0" err="1">
                <a:latin typeface="ChosunilboNM" panose="02030304000000000000" pitchFamily="18" charset="-128"/>
              </a:rPr>
              <a:t>을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latin typeface="ChosunilboNM" panose="02030304000000000000" pitchFamily="18" charset="-128"/>
              </a:rPr>
              <a:t>찾는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latin typeface="ChosunilboNM" panose="02030304000000000000" pitchFamily="18" charset="-128"/>
              </a:rPr>
              <a:t>것이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solidFill>
                  <a:srgbClr val="FF2600"/>
                </a:solidFill>
                <a:latin typeface="ChosunilboNM" panose="02030304000000000000" pitchFamily="18" charset="-128"/>
              </a:rPr>
              <a:t>가장</a:t>
            </a:r>
            <a:r>
              <a:rPr sz="1400" dirty="0">
                <a:solidFill>
                  <a:srgbClr val="FF2600"/>
                </a:solidFill>
                <a:latin typeface="ChosunilboNM" panose="02030304000000000000" pitchFamily="18" charset="-128"/>
              </a:rPr>
              <a:t> </a:t>
            </a:r>
            <a:r>
              <a:rPr sz="1400" dirty="0" err="1">
                <a:solidFill>
                  <a:srgbClr val="FF2600"/>
                </a:solidFill>
                <a:latin typeface="ChosunilboNM" panose="02030304000000000000" pitchFamily="18" charset="-128"/>
              </a:rPr>
              <a:t>중요</a:t>
            </a:r>
            <a:r>
              <a:rPr sz="1400" dirty="0" err="1">
                <a:latin typeface="ChosunilboNM" panose="02030304000000000000" pitchFamily="18" charset="-128"/>
              </a:rPr>
              <a:t>하며</a:t>
            </a:r>
            <a:r>
              <a:rPr sz="1400" dirty="0">
                <a:latin typeface="ChosunilboNM" panose="02030304000000000000" pitchFamily="18" charset="-128"/>
              </a:rPr>
              <a:t>, </a:t>
            </a:r>
            <a:br>
              <a:rPr lang="en-US" sz="1400" dirty="0">
                <a:latin typeface="ChosunilboNM" panose="02030304000000000000" pitchFamily="18" charset="-128"/>
              </a:rPr>
            </a:br>
            <a:r>
              <a:rPr sz="1400" dirty="0">
                <a:latin typeface="ChosunilboNM" panose="02030304000000000000" pitchFamily="18" charset="-128"/>
              </a:rPr>
              <a:t>이 </a:t>
            </a:r>
            <a:r>
              <a:rPr sz="1400" dirty="0" err="1">
                <a:latin typeface="ChosunilboNM" panose="02030304000000000000" pitchFamily="18" charset="-128"/>
              </a:rPr>
              <a:t>식을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solidFill>
                  <a:srgbClr val="FF2600"/>
                </a:solidFill>
                <a:latin typeface="ChosunilboNM" panose="02030304000000000000" pitchFamily="18" charset="-128"/>
              </a:rPr>
              <a:t>결정하는</a:t>
            </a:r>
            <a:r>
              <a:rPr sz="1400" dirty="0">
                <a:solidFill>
                  <a:srgbClr val="FF2600"/>
                </a:solidFill>
                <a:latin typeface="ChosunilboNM" panose="02030304000000000000" pitchFamily="18" charset="-128"/>
              </a:rPr>
              <a:t> </a:t>
            </a:r>
            <a:r>
              <a:rPr sz="1400" dirty="0" err="1">
                <a:solidFill>
                  <a:srgbClr val="FF2600"/>
                </a:solidFill>
                <a:latin typeface="ChosunilboNM" panose="02030304000000000000" pitchFamily="18" charset="-128"/>
              </a:rPr>
              <a:t>요소</a:t>
            </a:r>
            <a:r>
              <a:rPr sz="1400" dirty="0" err="1">
                <a:latin typeface="ChosunilboNM" panose="02030304000000000000" pitchFamily="18" charset="-128"/>
              </a:rPr>
              <a:t>가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latin typeface="ChosunilboNM" panose="02030304000000000000" pitchFamily="18" charset="-128"/>
              </a:rPr>
              <a:t>바로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solidFill>
                  <a:srgbClr val="FF2600"/>
                </a:solidFill>
                <a:latin typeface="ChosunilboNM" panose="02030304000000000000" pitchFamily="18" charset="-128"/>
              </a:rPr>
              <a:t>오차항</a:t>
            </a:r>
            <a:endParaRPr sz="1400" dirty="0">
              <a:solidFill>
                <a:srgbClr val="FF2600"/>
              </a:solidFill>
              <a:latin typeface="ChosunilboNM" panose="02030304000000000000" pitchFamily="18" charset="-128"/>
            </a:endParaRPr>
          </a:p>
        </p:txBody>
      </p:sp>
      <p:pic>
        <p:nvPicPr>
          <p:cNvPr id="662" name="Image" descr="Image"/>
          <p:cNvPicPr>
            <a:picLocks noChangeAspect="1"/>
          </p:cNvPicPr>
          <p:nvPr/>
        </p:nvPicPr>
        <p:blipFill>
          <a:blip r:embed="rId2"/>
          <a:srcRect t="11040" b="1591"/>
          <a:stretch>
            <a:fillRect/>
          </a:stretch>
        </p:blipFill>
        <p:spPr>
          <a:xfrm>
            <a:off x="774200" y="2546894"/>
            <a:ext cx="2594401" cy="2005638"/>
          </a:xfrm>
          <a:prstGeom prst="rect">
            <a:avLst/>
          </a:prstGeom>
          <a:ln w="12700">
            <a:miter lim="400000"/>
          </a:ln>
        </p:spPr>
      </p:pic>
      <p:pic>
        <p:nvPicPr>
          <p:cNvPr id="66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874" y="2721756"/>
            <a:ext cx="910829" cy="185738"/>
          </a:xfrm>
          <a:prstGeom prst="rect">
            <a:avLst/>
          </a:prstGeom>
          <a:ln w="12700">
            <a:miter lim="400000"/>
          </a:ln>
        </p:spPr>
      </p:pic>
      <p:pic>
        <p:nvPicPr>
          <p:cNvPr id="664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6299" y="2969014"/>
            <a:ext cx="967979" cy="207169"/>
          </a:xfrm>
          <a:prstGeom prst="rect">
            <a:avLst/>
          </a:prstGeom>
          <a:ln w="12700">
            <a:miter lim="400000"/>
          </a:ln>
        </p:spPr>
      </p:pic>
      <p:sp>
        <p:nvSpPr>
          <p:cNvPr id="665" name="A, B, C 3개의 회귀방정식 중 두 변수의 관계를  가장 잘 표현한 것은 과연 어떤 식일까?"/>
          <p:cNvSpPr txBox="1"/>
          <p:nvPr/>
        </p:nvSpPr>
        <p:spPr>
          <a:xfrm>
            <a:off x="3737081" y="2631933"/>
            <a:ext cx="3570209" cy="459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b">
            <a:spAutoFit/>
          </a:bodyPr>
          <a:lstStyle/>
          <a:p>
            <a:pPr marL="103585" indent="-103585">
              <a:spcBef>
                <a:spcPts val="535"/>
              </a:spcBef>
              <a:buSzPct val="75000"/>
              <a:buChar char="•"/>
            </a:pPr>
            <a:r>
              <a:rPr sz="1400" dirty="0">
                <a:latin typeface="ChosunilboNM" panose="02030304000000000000" pitchFamily="18" charset="-128"/>
              </a:rPr>
              <a:t>A, B, C 3개의 </a:t>
            </a:r>
            <a:r>
              <a:rPr sz="1400" dirty="0" err="1">
                <a:latin typeface="ChosunilboNM" panose="02030304000000000000" pitchFamily="18" charset="-128"/>
              </a:rPr>
              <a:t>회귀방정식</a:t>
            </a:r>
            <a:r>
              <a:rPr sz="1400" dirty="0">
                <a:latin typeface="ChosunilboNM" panose="02030304000000000000" pitchFamily="18" charset="-128"/>
              </a:rPr>
              <a:t> 중 두 </a:t>
            </a:r>
            <a:r>
              <a:rPr sz="1400" dirty="0" err="1">
                <a:latin typeface="ChosunilboNM" panose="02030304000000000000" pitchFamily="18" charset="-128"/>
              </a:rPr>
              <a:t>변수의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latin typeface="ChosunilboNM" panose="02030304000000000000" pitchFamily="18" charset="-128"/>
              </a:rPr>
              <a:t>관계를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br>
              <a:rPr sz="1400" dirty="0">
                <a:latin typeface="ChosunilboNM" panose="02030304000000000000" pitchFamily="18" charset="-128"/>
              </a:rPr>
            </a:br>
            <a:r>
              <a:rPr sz="1400" dirty="0" err="1">
                <a:latin typeface="ChosunilboNM" panose="02030304000000000000" pitchFamily="18" charset="-128"/>
              </a:rPr>
              <a:t>가장</a:t>
            </a:r>
            <a:r>
              <a:rPr sz="1400" dirty="0">
                <a:latin typeface="ChosunilboNM" panose="02030304000000000000" pitchFamily="18" charset="-128"/>
              </a:rPr>
              <a:t> 잘 </a:t>
            </a:r>
            <a:r>
              <a:rPr sz="1400" dirty="0" err="1">
                <a:latin typeface="ChosunilboNM" panose="02030304000000000000" pitchFamily="18" charset="-128"/>
              </a:rPr>
              <a:t>표현한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latin typeface="ChosunilboNM" panose="02030304000000000000" pitchFamily="18" charset="-128"/>
              </a:rPr>
              <a:t>것은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latin typeface="ChosunilboNM" panose="02030304000000000000" pitchFamily="18" charset="-128"/>
              </a:rPr>
              <a:t>과연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latin typeface="ChosunilboNM" panose="02030304000000000000" pitchFamily="18" charset="-128"/>
              </a:rPr>
              <a:t>어떤</a:t>
            </a:r>
            <a:r>
              <a:rPr sz="1400" dirty="0">
                <a:latin typeface="ChosunilboNM" panose="02030304000000000000" pitchFamily="18" charset="-128"/>
              </a:rPr>
              <a:t> </a:t>
            </a:r>
            <a:r>
              <a:rPr sz="1400" dirty="0" err="1">
                <a:latin typeface="ChosunilboNM" panose="02030304000000000000" pitchFamily="18" charset="-128"/>
              </a:rPr>
              <a:t>식일까</a:t>
            </a:r>
            <a:r>
              <a:rPr sz="1400" dirty="0">
                <a:latin typeface="ChosunilboNM" panose="02030304000000000000" pitchFamily="18" charset="-128"/>
              </a:rPr>
              <a:t>?</a:t>
            </a:r>
          </a:p>
        </p:txBody>
      </p:sp>
      <p:sp>
        <p:nvSpPr>
          <p:cNvPr id="666" name="A : 적정예측  (오차가 적절히 섞여 있다)…"/>
          <p:cNvSpPr txBox="1"/>
          <p:nvPr/>
        </p:nvSpPr>
        <p:spPr>
          <a:xfrm>
            <a:off x="3850406" y="3810086"/>
            <a:ext cx="3063340" cy="675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b">
            <a:spAutoFit/>
          </a:bodyPr>
          <a:lstStyle/>
          <a:p>
            <a:pPr>
              <a:defRPr>
                <a:solidFill>
                  <a:srgbClr val="DCDEE0"/>
                </a:solidFill>
              </a:defRPr>
            </a:pPr>
            <a:r>
              <a:rPr sz="1400" dirty="0">
                <a:solidFill>
                  <a:schemeClr val="tx2"/>
                </a:solidFill>
                <a:latin typeface="ChosunilboNM" panose="02030304000000000000" pitchFamily="18" charset="-128"/>
              </a:rPr>
              <a:t>A : </a:t>
            </a:r>
            <a:r>
              <a:rPr sz="1400" dirty="0" err="1">
                <a:solidFill>
                  <a:schemeClr val="tx2"/>
                </a:solidFill>
                <a:latin typeface="ChosunilboNM" panose="02030304000000000000" pitchFamily="18" charset="-128"/>
              </a:rPr>
              <a:t>적정예측</a:t>
            </a:r>
            <a:r>
              <a:rPr sz="1400" dirty="0">
                <a:solidFill>
                  <a:schemeClr val="tx2"/>
                </a:solidFill>
                <a:latin typeface="ChosunilboNM" panose="02030304000000000000" pitchFamily="18" charset="-128"/>
              </a:rPr>
              <a:t>  (</a:t>
            </a:r>
            <a:r>
              <a:rPr sz="1400" dirty="0" err="1">
                <a:solidFill>
                  <a:schemeClr val="tx2"/>
                </a:solidFill>
                <a:latin typeface="ChosunilboNM" panose="02030304000000000000" pitchFamily="18" charset="-128"/>
              </a:rPr>
              <a:t>오차가</a:t>
            </a:r>
            <a:r>
              <a:rPr sz="1400" dirty="0">
                <a:solidFill>
                  <a:schemeClr val="tx2"/>
                </a:solidFill>
                <a:latin typeface="ChosunilboNM" panose="02030304000000000000" pitchFamily="18" charset="-128"/>
              </a:rPr>
              <a:t> </a:t>
            </a:r>
            <a:r>
              <a:rPr sz="1400" dirty="0" err="1">
                <a:solidFill>
                  <a:schemeClr val="tx2"/>
                </a:solidFill>
                <a:latin typeface="ChosunilboNM" panose="02030304000000000000" pitchFamily="18" charset="-128"/>
              </a:rPr>
              <a:t>적절히</a:t>
            </a:r>
            <a:r>
              <a:rPr sz="1400" dirty="0">
                <a:solidFill>
                  <a:schemeClr val="tx2"/>
                </a:solidFill>
                <a:latin typeface="ChosunilboNM" panose="02030304000000000000" pitchFamily="18" charset="-128"/>
              </a:rPr>
              <a:t> </a:t>
            </a:r>
            <a:r>
              <a:rPr sz="1400" dirty="0" err="1">
                <a:solidFill>
                  <a:schemeClr val="tx2"/>
                </a:solidFill>
                <a:latin typeface="ChosunilboNM" panose="02030304000000000000" pitchFamily="18" charset="-128"/>
              </a:rPr>
              <a:t>섞여</a:t>
            </a:r>
            <a:r>
              <a:rPr sz="1400" dirty="0">
                <a:solidFill>
                  <a:schemeClr val="tx2"/>
                </a:solidFill>
                <a:latin typeface="ChosunilboNM" panose="02030304000000000000" pitchFamily="18" charset="-128"/>
              </a:rPr>
              <a:t> </a:t>
            </a:r>
            <a:r>
              <a:rPr sz="1400" dirty="0" err="1">
                <a:solidFill>
                  <a:schemeClr val="tx2"/>
                </a:solidFill>
                <a:latin typeface="ChosunilboNM" panose="02030304000000000000" pitchFamily="18" charset="-128"/>
              </a:rPr>
              <a:t>있다</a:t>
            </a:r>
            <a:r>
              <a:rPr sz="1400" dirty="0">
                <a:solidFill>
                  <a:schemeClr val="tx2"/>
                </a:solidFill>
                <a:latin typeface="ChosunilboNM" panose="02030304000000000000" pitchFamily="18" charset="-128"/>
              </a:rPr>
              <a:t>)</a:t>
            </a:r>
          </a:p>
          <a:p>
            <a:pPr>
              <a:defRPr>
                <a:solidFill>
                  <a:srgbClr val="DCDEE0"/>
                </a:solidFill>
              </a:defRPr>
            </a:pPr>
            <a:r>
              <a:rPr sz="1400" dirty="0">
                <a:solidFill>
                  <a:schemeClr val="tx2"/>
                </a:solidFill>
                <a:latin typeface="ChosunilboNM" panose="02030304000000000000" pitchFamily="18" charset="-128"/>
              </a:rPr>
              <a:t>B : </a:t>
            </a:r>
            <a:r>
              <a:rPr sz="1400" dirty="0" err="1">
                <a:solidFill>
                  <a:schemeClr val="tx2"/>
                </a:solidFill>
                <a:latin typeface="ChosunilboNM" panose="02030304000000000000" pitchFamily="18" charset="-128"/>
              </a:rPr>
              <a:t>과대예측</a:t>
            </a:r>
            <a:r>
              <a:rPr sz="1400" dirty="0">
                <a:solidFill>
                  <a:schemeClr val="tx2"/>
                </a:solidFill>
                <a:latin typeface="ChosunilboNM" panose="02030304000000000000" pitchFamily="18" charset="-128"/>
              </a:rPr>
              <a:t>  (</a:t>
            </a:r>
            <a:r>
              <a:rPr sz="1400" dirty="0" err="1">
                <a:solidFill>
                  <a:schemeClr val="tx2"/>
                </a:solidFill>
                <a:latin typeface="ChosunilboNM" panose="02030304000000000000" pitchFamily="18" charset="-128"/>
              </a:rPr>
              <a:t>오차는</a:t>
            </a:r>
            <a:r>
              <a:rPr sz="1400" dirty="0">
                <a:solidFill>
                  <a:schemeClr val="tx2"/>
                </a:solidFill>
                <a:latin typeface="ChosunilboNM" panose="02030304000000000000" pitchFamily="18" charset="-128"/>
              </a:rPr>
              <a:t> </a:t>
            </a:r>
            <a:r>
              <a:rPr sz="1400" dirty="0" err="1">
                <a:solidFill>
                  <a:schemeClr val="tx2"/>
                </a:solidFill>
                <a:latin typeface="ChosunilboNM" panose="02030304000000000000" pitchFamily="18" charset="-128"/>
              </a:rPr>
              <a:t>주로</a:t>
            </a:r>
            <a:r>
              <a:rPr sz="1400" dirty="0">
                <a:solidFill>
                  <a:schemeClr val="tx2"/>
                </a:solidFill>
                <a:latin typeface="ChosunilboNM" panose="02030304000000000000" pitchFamily="18" charset="-128"/>
              </a:rPr>
              <a:t> </a:t>
            </a:r>
            <a:r>
              <a:rPr sz="1400" dirty="0" err="1">
                <a:solidFill>
                  <a:schemeClr val="tx2"/>
                </a:solidFill>
                <a:latin typeface="ChosunilboNM" panose="02030304000000000000" pitchFamily="18" charset="-128"/>
              </a:rPr>
              <a:t>음수</a:t>
            </a:r>
            <a:r>
              <a:rPr sz="1400" dirty="0">
                <a:solidFill>
                  <a:schemeClr val="tx2"/>
                </a:solidFill>
                <a:latin typeface="ChosunilboNM" panose="02030304000000000000" pitchFamily="18" charset="-128"/>
              </a:rPr>
              <a:t>(-)의 값)</a:t>
            </a:r>
          </a:p>
          <a:p>
            <a:pPr>
              <a:defRPr>
                <a:solidFill>
                  <a:srgbClr val="DCDEE0"/>
                </a:solidFill>
              </a:defRPr>
            </a:pPr>
            <a:r>
              <a:rPr sz="1400" dirty="0">
                <a:solidFill>
                  <a:schemeClr val="tx2"/>
                </a:solidFill>
                <a:latin typeface="ChosunilboNM" panose="02030304000000000000" pitchFamily="18" charset="-128"/>
              </a:rPr>
              <a:t>C : </a:t>
            </a:r>
            <a:r>
              <a:rPr sz="1400" dirty="0" err="1">
                <a:solidFill>
                  <a:schemeClr val="tx2"/>
                </a:solidFill>
                <a:latin typeface="ChosunilboNM" panose="02030304000000000000" pitchFamily="18" charset="-128"/>
              </a:rPr>
              <a:t>과소예측</a:t>
            </a:r>
            <a:r>
              <a:rPr sz="1400" dirty="0">
                <a:solidFill>
                  <a:schemeClr val="tx2"/>
                </a:solidFill>
                <a:latin typeface="ChosunilboNM" panose="02030304000000000000" pitchFamily="18" charset="-128"/>
              </a:rPr>
              <a:t>  (</a:t>
            </a:r>
            <a:r>
              <a:rPr sz="1400" dirty="0" err="1">
                <a:solidFill>
                  <a:schemeClr val="tx2"/>
                </a:solidFill>
                <a:latin typeface="ChosunilboNM" panose="02030304000000000000" pitchFamily="18" charset="-128"/>
              </a:rPr>
              <a:t>오차는</a:t>
            </a:r>
            <a:r>
              <a:rPr sz="1400" dirty="0">
                <a:solidFill>
                  <a:schemeClr val="tx2"/>
                </a:solidFill>
                <a:latin typeface="ChosunilboNM" panose="02030304000000000000" pitchFamily="18" charset="-128"/>
              </a:rPr>
              <a:t> </a:t>
            </a:r>
            <a:r>
              <a:rPr sz="1400" dirty="0" err="1">
                <a:solidFill>
                  <a:schemeClr val="tx2"/>
                </a:solidFill>
                <a:latin typeface="ChosunilboNM" panose="02030304000000000000" pitchFamily="18" charset="-128"/>
              </a:rPr>
              <a:t>주로</a:t>
            </a:r>
            <a:r>
              <a:rPr sz="1400" dirty="0">
                <a:solidFill>
                  <a:schemeClr val="tx2"/>
                </a:solidFill>
                <a:latin typeface="ChosunilboNM" panose="02030304000000000000" pitchFamily="18" charset="-128"/>
              </a:rPr>
              <a:t> </a:t>
            </a:r>
            <a:r>
              <a:rPr sz="1400" dirty="0" err="1">
                <a:solidFill>
                  <a:schemeClr val="tx2"/>
                </a:solidFill>
                <a:latin typeface="ChosunilboNM" panose="02030304000000000000" pitchFamily="18" charset="-128"/>
              </a:rPr>
              <a:t>양수</a:t>
            </a:r>
            <a:r>
              <a:rPr sz="1400" dirty="0">
                <a:solidFill>
                  <a:schemeClr val="tx2"/>
                </a:solidFill>
                <a:latin typeface="ChosunilboNM" panose="02030304000000000000" pitchFamily="18" charset="-128"/>
              </a:rPr>
              <a:t>(+)의 값)</a:t>
            </a:r>
          </a:p>
        </p:txBody>
      </p:sp>
      <p:sp>
        <p:nvSpPr>
          <p:cNvPr id="667" name="B"/>
          <p:cNvSpPr txBox="1"/>
          <p:nvPr/>
        </p:nvSpPr>
        <p:spPr>
          <a:xfrm>
            <a:off x="2794314" y="2615459"/>
            <a:ext cx="120227" cy="213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>
            <a:lvl1pPr>
              <a:defRPr>
                <a:solidFill>
                  <a:srgbClr val="FF2600"/>
                </a:solidFill>
              </a:defRPr>
            </a:lvl1pPr>
          </a:lstStyle>
          <a:p>
            <a:r>
              <a:rPr sz="1200" dirty="0">
                <a:latin typeface="ChosunilboNM" panose="02030304000000000000" pitchFamily="18" charset="-128"/>
              </a:rPr>
              <a:t>B</a:t>
            </a:r>
          </a:p>
        </p:txBody>
      </p:sp>
      <p:sp>
        <p:nvSpPr>
          <p:cNvPr id="668" name="A"/>
          <p:cNvSpPr txBox="1"/>
          <p:nvPr/>
        </p:nvSpPr>
        <p:spPr>
          <a:xfrm>
            <a:off x="2968245" y="2828880"/>
            <a:ext cx="128241" cy="213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>
            <a:lvl1pPr>
              <a:defRPr>
                <a:solidFill>
                  <a:srgbClr val="FF2600"/>
                </a:solidFill>
              </a:defRPr>
            </a:lvl1pPr>
          </a:lstStyle>
          <a:p>
            <a:r>
              <a:rPr sz="1200" dirty="0">
                <a:latin typeface="ChosunilboNM" panose="02030304000000000000" pitchFamily="18" charset="-128"/>
              </a:rPr>
              <a:t>A</a:t>
            </a:r>
          </a:p>
        </p:txBody>
      </p:sp>
      <p:sp>
        <p:nvSpPr>
          <p:cNvPr id="669" name="C"/>
          <p:cNvSpPr txBox="1"/>
          <p:nvPr/>
        </p:nvSpPr>
        <p:spPr>
          <a:xfrm>
            <a:off x="2968245" y="3160770"/>
            <a:ext cx="120227" cy="213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>
            <a:lvl1pPr>
              <a:defRPr>
                <a:solidFill>
                  <a:srgbClr val="FF2600"/>
                </a:solidFill>
              </a:defRPr>
            </a:lvl1pPr>
          </a:lstStyle>
          <a:p>
            <a:r>
              <a:rPr sz="1200" dirty="0">
                <a:latin typeface="ChosunilboNM" panose="02030304000000000000" pitchFamily="18" charset="-128"/>
              </a:rPr>
              <a:t>C</a:t>
            </a:r>
          </a:p>
        </p:txBody>
      </p:sp>
      <p:sp>
        <p:nvSpPr>
          <p:cNvPr id="2" name="직사각형 2">
            <a:extLst>
              <a:ext uri="{FF2B5EF4-FFF2-40B4-BE49-F238E27FC236}">
                <a16:creationId xmlns:a16="http://schemas.microsoft.com/office/drawing/2014/main" id="{CF963139-563C-EF2E-5A44-F218BD89EF6C}"/>
              </a:ext>
            </a:extLst>
          </p:cNvPr>
          <p:cNvSpPr/>
          <p:nvPr/>
        </p:nvSpPr>
        <p:spPr>
          <a:xfrm>
            <a:off x="732226" y="960850"/>
            <a:ext cx="7679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u="sng" spc="-300" dirty="0">
                <a:solidFill>
                  <a:schemeClr val="bg1">
                    <a:lumMod val="7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회귀분석</a:t>
            </a:r>
            <a:r>
              <a:rPr lang="ko-KR" altLang="en-US" sz="2000" spc="-30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2000" spc="-30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Regression</a:t>
            </a:r>
          </a:p>
        </p:txBody>
      </p:sp>
      <p:sp>
        <p:nvSpPr>
          <p:cNvPr id="3" name="직사각형 3">
            <a:extLst>
              <a:ext uri="{FF2B5EF4-FFF2-40B4-BE49-F238E27FC236}">
                <a16:creationId xmlns:a16="http://schemas.microsoft.com/office/drawing/2014/main" id="{194A88B3-A74B-FF33-10BC-47F430E4E2B0}"/>
              </a:ext>
            </a:extLst>
          </p:cNvPr>
          <p:cNvSpPr/>
          <p:nvPr/>
        </p:nvSpPr>
        <p:spPr>
          <a:xfrm>
            <a:off x="500530" y="590968"/>
            <a:ext cx="6536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Section 04 |  </a:t>
            </a:r>
            <a:r>
              <a:rPr lang="ko-KR" altLang="en-US" sz="200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상관과 예측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5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" grpId="0" animBg="1" advAuto="0"/>
      <p:bldP spid="666" grpId="0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7" name="Group"/>
          <p:cNvGrpSpPr/>
          <p:nvPr/>
        </p:nvGrpSpPr>
        <p:grpSpPr>
          <a:xfrm rot="1728030">
            <a:off x="4624940" y="1539950"/>
            <a:ext cx="3594279" cy="2684114"/>
            <a:chOff x="0" y="0"/>
            <a:chExt cx="8621984" cy="6684450"/>
          </a:xfrm>
        </p:grpSpPr>
        <p:pic>
          <p:nvPicPr>
            <p:cNvPr id="672" name="Image" descr="Image"/>
            <p:cNvPicPr>
              <a:picLocks noChangeAspect="1"/>
            </p:cNvPicPr>
            <p:nvPr/>
          </p:nvPicPr>
          <p:blipFill>
            <a:blip r:embed="rId2"/>
            <a:srcRect t="11056" b="1659"/>
            <a:stretch>
              <a:fillRect/>
            </a:stretch>
          </p:blipFill>
          <p:spPr>
            <a:xfrm>
              <a:off x="0" y="25729"/>
              <a:ext cx="8621733" cy="66587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73" name="Image" descr="Image"/>
            <p:cNvPicPr>
              <a:picLocks noChangeAspect="1"/>
            </p:cNvPicPr>
            <p:nvPr/>
          </p:nvPicPr>
          <p:blipFill>
            <a:blip r:embed="rId3"/>
            <a:srcRect t="11040" b="1591"/>
            <a:stretch>
              <a:fillRect/>
            </a:stretch>
          </p:blipFill>
          <p:spPr>
            <a:xfrm>
              <a:off x="0" y="0"/>
              <a:ext cx="8621985" cy="66653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74" name="A"/>
            <p:cNvSpPr txBox="1"/>
            <p:nvPr/>
          </p:nvSpPr>
          <p:spPr>
            <a:xfrm>
              <a:off x="7273769" y="859513"/>
              <a:ext cx="457286" cy="552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4288" tIns="14288" rIns="14288" bIns="14288" numCol="1" anchor="ctr">
              <a:noAutofit/>
            </a:bodyPr>
            <a:lstStyle>
              <a:lvl1pPr algn="ctr" defTabSz="584200">
                <a:spcBef>
                  <a:spcPts val="0"/>
                </a:spcBef>
                <a:defRPr sz="2000" b="1" spc="0">
                  <a:solidFill>
                    <a:srgbClr val="535353"/>
                  </a:solidFill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r>
                <a:rPr sz="1000"/>
                <a:t>A</a:t>
              </a:r>
            </a:p>
          </p:txBody>
        </p:sp>
        <p:sp>
          <p:nvSpPr>
            <p:cNvPr id="675" name="B"/>
            <p:cNvSpPr txBox="1"/>
            <p:nvPr/>
          </p:nvSpPr>
          <p:spPr>
            <a:xfrm>
              <a:off x="6846419" y="25729"/>
              <a:ext cx="427352" cy="552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4288" tIns="14288" rIns="14288" bIns="14288" numCol="1" anchor="ctr">
              <a:noAutofit/>
            </a:bodyPr>
            <a:lstStyle>
              <a:lvl1pPr algn="ctr" defTabSz="584200">
                <a:spcBef>
                  <a:spcPts val="0"/>
                </a:spcBef>
                <a:defRPr sz="2000" b="1" spc="0">
                  <a:solidFill>
                    <a:srgbClr val="535353"/>
                  </a:solidFill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r>
                <a:rPr sz="1000"/>
                <a:t>B</a:t>
              </a:r>
            </a:p>
          </p:txBody>
        </p:sp>
        <p:sp>
          <p:nvSpPr>
            <p:cNvPr id="676" name="C"/>
            <p:cNvSpPr txBox="1"/>
            <p:nvPr/>
          </p:nvSpPr>
          <p:spPr>
            <a:xfrm>
              <a:off x="7731053" y="1714911"/>
              <a:ext cx="425264" cy="552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4288" tIns="14288" rIns="14288" bIns="14288" numCol="1" anchor="ctr">
              <a:noAutofit/>
            </a:bodyPr>
            <a:lstStyle>
              <a:lvl1pPr algn="ctr" defTabSz="584200">
                <a:spcBef>
                  <a:spcPts val="0"/>
                </a:spcBef>
                <a:defRPr sz="2000" b="1" spc="0">
                  <a:solidFill>
                    <a:srgbClr val="535353"/>
                  </a:solidFill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r>
                <a:rPr sz="1000"/>
                <a:t>C</a:t>
              </a:r>
            </a:p>
          </p:txBody>
        </p:sp>
      </p:grpSp>
      <p:grpSp>
        <p:nvGrpSpPr>
          <p:cNvPr id="680" name="Group"/>
          <p:cNvGrpSpPr/>
          <p:nvPr/>
        </p:nvGrpSpPr>
        <p:grpSpPr>
          <a:xfrm>
            <a:off x="3353834" y="2179153"/>
            <a:ext cx="737601" cy="2131277"/>
            <a:chOff x="0" y="32956"/>
            <a:chExt cx="2622579" cy="7577872"/>
          </a:xfrm>
        </p:grpSpPr>
        <p:sp>
          <p:nvSpPr>
            <p:cNvPr id="678" name="Man"/>
            <p:cNvSpPr/>
            <p:nvPr/>
          </p:nvSpPr>
          <p:spPr>
            <a:xfrm>
              <a:off x="-1" y="840217"/>
              <a:ext cx="2622581" cy="67706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0" h="21502" extrusionOk="0">
                  <a:moveTo>
                    <a:pt x="10246" y="10"/>
                  </a:moveTo>
                  <a:cubicBezTo>
                    <a:pt x="9651" y="39"/>
                    <a:pt x="9052" y="142"/>
                    <a:pt x="8490" y="331"/>
                  </a:cubicBezTo>
                  <a:cubicBezTo>
                    <a:pt x="7409" y="697"/>
                    <a:pt x="7827" y="1471"/>
                    <a:pt x="7827" y="1471"/>
                  </a:cubicBezTo>
                  <a:cubicBezTo>
                    <a:pt x="7827" y="1471"/>
                    <a:pt x="7467" y="1472"/>
                    <a:pt x="7689" y="1837"/>
                  </a:cubicBezTo>
                  <a:cubicBezTo>
                    <a:pt x="7827" y="2069"/>
                    <a:pt x="7730" y="2122"/>
                    <a:pt x="8174" y="2197"/>
                  </a:cubicBezTo>
                  <a:cubicBezTo>
                    <a:pt x="8285" y="2477"/>
                    <a:pt x="8629" y="2493"/>
                    <a:pt x="8629" y="2983"/>
                  </a:cubicBezTo>
                  <a:cubicBezTo>
                    <a:pt x="8629" y="2988"/>
                    <a:pt x="8355" y="2978"/>
                    <a:pt x="8161" y="3134"/>
                  </a:cubicBezTo>
                  <a:cubicBezTo>
                    <a:pt x="8106" y="3177"/>
                    <a:pt x="8049" y="3322"/>
                    <a:pt x="7827" y="3359"/>
                  </a:cubicBezTo>
                  <a:cubicBezTo>
                    <a:pt x="6842" y="3542"/>
                    <a:pt x="4636" y="3731"/>
                    <a:pt x="4095" y="3941"/>
                  </a:cubicBezTo>
                  <a:cubicBezTo>
                    <a:pt x="3332" y="4237"/>
                    <a:pt x="185" y="6557"/>
                    <a:pt x="185" y="6783"/>
                  </a:cubicBezTo>
                  <a:cubicBezTo>
                    <a:pt x="185" y="7133"/>
                    <a:pt x="112" y="7369"/>
                    <a:pt x="306" y="7546"/>
                  </a:cubicBezTo>
                  <a:cubicBezTo>
                    <a:pt x="1138" y="8300"/>
                    <a:pt x="2140" y="9548"/>
                    <a:pt x="3388" y="10139"/>
                  </a:cubicBezTo>
                  <a:cubicBezTo>
                    <a:pt x="3555" y="10220"/>
                    <a:pt x="3874" y="10313"/>
                    <a:pt x="4290" y="10366"/>
                  </a:cubicBezTo>
                  <a:cubicBezTo>
                    <a:pt x="4706" y="10420"/>
                    <a:pt x="5414" y="10539"/>
                    <a:pt x="5400" y="10636"/>
                  </a:cubicBezTo>
                  <a:cubicBezTo>
                    <a:pt x="5261" y="11507"/>
                    <a:pt x="4984" y="13595"/>
                    <a:pt x="4775" y="14591"/>
                  </a:cubicBezTo>
                  <a:cubicBezTo>
                    <a:pt x="4637" y="15242"/>
                    <a:pt x="4526" y="15984"/>
                    <a:pt x="4429" y="16447"/>
                  </a:cubicBezTo>
                  <a:cubicBezTo>
                    <a:pt x="4262" y="17244"/>
                    <a:pt x="4221" y="18180"/>
                    <a:pt x="3666" y="19165"/>
                  </a:cubicBezTo>
                  <a:cubicBezTo>
                    <a:pt x="3416" y="19617"/>
                    <a:pt x="2972" y="20214"/>
                    <a:pt x="3250" y="20214"/>
                  </a:cubicBezTo>
                  <a:cubicBezTo>
                    <a:pt x="2833" y="20612"/>
                    <a:pt x="1236" y="20827"/>
                    <a:pt x="432" y="20913"/>
                  </a:cubicBezTo>
                  <a:cubicBezTo>
                    <a:pt x="154" y="20940"/>
                    <a:pt x="-25" y="21043"/>
                    <a:pt x="3" y="21156"/>
                  </a:cubicBezTo>
                  <a:lnTo>
                    <a:pt x="29" y="21225"/>
                  </a:lnTo>
                  <a:cubicBezTo>
                    <a:pt x="43" y="21311"/>
                    <a:pt x="324" y="21344"/>
                    <a:pt x="393" y="21344"/>
                  </a:cubicBezTo>
                  <a:cubicBezTo>
                    <a:pt x="837" y="21376"/>
                    <a:pt x="2207" y="21461"/>
                    <a:pt x="3206" y="21305"/>
                  </a:cubicBezTo>
                  <a:cubicBezTo>
                    <a:pt x="4371" y="21128"/>
                    <a:pt x="5857" y="21247"/>
                    <a:pt x="7008" y="21188"/>
                  </a:cubicBezTo>
                  <a:cubicBezTo>
                    <a:pt x="7355" y="21171"/>
                    <a:pt x="7398" y="20692"/>
                    <a:pt x="7259" y="20471"/>
                  </a:cubicBezTo>
                  <a:cubicBezTo>
                    <a:pt x="7218" y="20407"/>
                    <a:pt x="7134" y="20375"/>
                    <a:pt x="7134" y="20375"/>
                  </a:cubicBezTo>
                  <a:lnTo>
                    <a:pt x="7190" y="20412"/>
                  </a:lnTo>
                  <a:cubicBezTo>
                    <a:pt x="7773" y="20434"/>
                    <a:pt x="8367" y="17905"/>
                    <a:pt x="8742" y="15860"/>
                  </a:cubicBezTo>
                  <a:cubicBezTo>
                    <a:pt x="8908" y="14999"/>
                    <a:pt x="10033" y="13116"/>
                    <a:pt x="10394" y="12497"/>
                  </a:cubicBezTo>
                  <a:cubicBezTo>
                    <a:pt x="10421" y="12443"/>
                    <a:pt x="10630" y="12443"/>
                    <a:pt x="10658" y="12497"/>
                  </a:cubicBezTo>
                  <a:cubicBezTo>
                    <a:pt x="10880" y="12987"/>
                    <a:pt x="11168" y="14031"/>
                    <a:pt x="11473" y="14757"/>
                  </a:cubicBezTo>
                  <a:cubicBezTo>
                    <a:pt x="11542" y="14924"/>
                    <a:pt x="11753" y="15564"/>
                    <a:pt x="11781" y="15968"/>
                  </a:cubicBezTo>
                  <a:cubicBezTo>
                    <a:pt x="11892" y="17206"/>
                    <a:pt x="11572" y="19842"/>
                    <a:pt x="12002" y="20175"/>
                  </a:cubicBezTo>
                  <a:cubicBezTo>
                    <a:pt x="12002" y="20175"/>
                    <a:pt x="11906" y="20682"/>
                    <a:pt x="11490" y="21053"/>
                  </a:cubicBezTo>
                  <a:cubicBezTo>
                    <a:pt x="10908" y="21575"/>
                    <a:pt x="13763" y="21580"/>
                    <a:pt x="14568" y="21381"/>
                  </a:cubicBezTo>
                  <a:cubicBezTo>
                    <a:pt x="15608" y="21128"/>
                    <a:pt x="14986" y="20682"/>
                    <a:pt x="15028" y="20488"/>
                  </a:cubicBezTo>
                  <a:cubicBezTo>
                    <a:pt x="15125" y="20316"/>
                    <a:pt x="15333" y="20316"/>
                    <a:pt x="15444" y="19950"/>
                  </a:cubicBezTo>
                  <a:cubicBezTo>
                    <a:pt x="15763" y="18841"/>
                    <a:pt x="15485" y="17442"/>
                    <a:pt x="15513" y="16318"/>
                  </a:cubicBezTo>
                  <a:cubicBezTo>
                    <a:pt x="15527" y="15946"/>
                    <a:pt x="15886" y="15230"/>
                    <a:pt x="15886" y="14229"/>
                  </a:cubicBezTo>
                  <a:cubicBezTo>
                    <a:pt x="15886" y="13223"/>
                    <a:pt x="15888" y="12330"/>
                    <a:pt x="15721" y="11431"/>
                  </a:cubicBezTo>
                  <a:cubicBezTo>
                    <a:pt x="15610" y="10839"/>
                    <a:pt x="16110" y="10802"/>
                    <a:pt x="15652" y="10044"/>
                  </a:cubicBezTo>
                  <a:cubicBezTo>
                    <a:pt x="17247" y="10108"/>
                    <a:pt x="17453" y="10054"/>
                    <a:pt x="17967" y="9801"/>
                  </a:cubicBezTo>
                  <a:cubicBezTo>
                    <a:pt x="19312" y="9123"/>
                    <a:pt x="20798" y="7585"/>
                    <a:pt x="21062" y="7321"/>
                  </a:cubicBezTo>
                  <a:cubicBezTo>
                    <a:pt x="21575" y="7278"/>
                    <a:pt x="21546" y="6846"/>
                    <a:pt x="21296" y="6534"/>
                  </a:cubicBezTo>
                  <a:cubicBezTo>
                    <a:pt x="21226" y="6453"/>
                    <a:pt x="20909" y="6465"/>
                    <a:pt x="20854" y="6384"/>
                  </a:cubicBezTo>
                  <a:cubicBezTo>
                    <a:pt x="20424" y="5755"/>
                    <a:pt x="17691" y="4302"/>
                    <a:pt x="17247" y="3990"/>
                  </a:cubicBezTo>
                  <a:cubicBezTo>
                    <a:pt x="16859" y="3715"/>
                    <a:pt x="14264" y="3516"/>
                    <a:pt x="13376" y="3381"/>
                  </a:cubicBezTo>
                  <a:cubicBezTo>
                    <a:pt x="13237" y="3360"/>
                    <a:pt x="13085" y="3300"/>
                    <a:pt x="13029" y="3247"/>
                  </a:cubicBezTo>
                  <a:cubicBezTo>
                    <a:pt x="13001" y="3225"/>
                    <a:pt x="12988" y="3204"/>
                    <a:pt x="12960" y="3183"/>
                  </a:cubicBezTo>
                  <a:cubicBezTo>
                    <a:pt x="12724" y="2984"/>
                    <a:pt x="12392" y="2989"/>
                    <a:pt x="12392" y="2989"/>
                  </a:cubicBezTo>
                  <a:cubicBezTo>
                    <a:pt x="12350" y="2839"/>
                    <a:pt x="12319" y="2714"/>
                    <a:pt x="12444" y="2628"/>
                  </a:cubicBezTo>
                  <a:cubicBezTo>
                    <a:pt x="12610" y="2504"/>
                    <a:pt x="12750" y="2364"/>
                    <a:pt x="12847" y="2219"/>
                  </a:cubicBezTo>
                  <a:cubicBezTo>
                    <a:pt x="13041" y="2203"/>
                    <a:pt x="13196" y="2213"/>
                    <a:pt x="13376" y="1933"/>
                  </a:cubicBezTo>
                  <a:cubicBezTo>
                    <a:pt x="13445" y="1810"/>
                    <a:pt x="13748" y="1482"/>
                    <a:pt x="13276" y="1471"/>
                  </a:cubicBezTo>
                  <a:cubicBezTo>
                    <a:pt x="13373" y="1245"/>
                    <a:pt x="13679" y="444"/>
                    <a:pt x="12500" y="272"/>
                  </a:cubicBezTo>
                  <a:cubicBezTo>
                    <a:pt x="12154" y="223"/>
                    <a:pt x="12141" y="153"/>
                    <a:pt x="11989" y="126"/>
                  </a:cubicBezTo>
                  <a:cubicBezTo>
                    <a:pt x="11434" y="23"/>
                    <a:pt x="10841" y="-20"/>
                    <a:pt x="10246" y="10"/>
                  </a:cubicBezTo>
                  <a:close/>
                  <a:moveTo>
                    <a:pt x="16042" y="6038"/>
                  </a:moveTo>
                  <a:cubicBezTo>
                    <a:pt x="16175" y="6060"/>
                    <a:pt x="16316" y="6123"/>
                    <a:pt x="16371" y="6147"/>
                  </a:cubicBezTo>
                  <a:cubicBezTo>
                    <a:pt x="17342" y="6567"/>
                    <a:pt x="18104" y="6825"/>
                    <a:pt x="18201" y="6955"/>
                  </a:cubicBezTo>
                  <a:cubicBezTo>
                    <a:pt x="18270" y="7186"/>
                    <a:pt x="18326" y="7449"/>
                    <a:pt x="18326" y="7449"/>
                  </a:cubicBezTo>
                  <a:cubicBezTo>
                    <a:pt x="18326" y="7449"/>
                    <a:pt x="17454" y="9005"/>
                    <a:pt x="17052" y="9124"/>
                  </a:cubicBezTo>
                  <a:cubicBezTo>
                    <a:pt x="16802" y="9205"/>
                    <a:pt x="15790" y="8946"/>
                    <a:pt x="15236" y="8972"/>
                  </a:cubicBezTo>
                  <a:cubicBezTo>
                    <a:pt x="15236" y="8703"/>
                    <a:pt x="15249" y="8450"/>
                    <a:pt x="15305" y="7950"/>
                  </a:cubicBezTo>
                  <a:cubicBezTo>
                    <a:pt x="15374" y="7347"/>
                    <a:pt x="15692" y="6443"/>
                    <a:pt x="15747" y="6174"/>
                  </a:cubicBezTo>
                  <a:cubicBezTo>
                    <a:pt x="15782" y="6034"/>
                    <a:pt x="15908" y="6016"/>
                    <a:pt x="16042" y="6038"/>
                  </a:cubicBezTo>
                  <a:close/>
                  <a:moveTo>
                    <a:pt x="5001" y="6053"/>
                  </a:moveTo>
                  <a:cubicBezTo>
                    <a:pt x="5137" y="6043"/>
                    <a:pt x="5286" y="6074"/>
                    <a:pt x="5317" y="6131"/>
                  </a:cubicBezTo>
                  <a:cubicBezTo>
                    <a:pt x="5456" y="6389"/>
                    <a:pt x="5454" y="6740"/>
                    <a:pt x="5551" y="7133"/>
                  </a:cubicBezTo>
                  <a:cubicBezTo>
                    <a:pt x="5704" y="7752"/>
                    <a:pt x="5968" y="8369"/>
                    <a:pt x="5898" y="8735"/>
                  </a:cubicBezTo>
                  <a:cubicBezTo>
                    <a:pt x="5870" y="8918"/>
                    <a:pt x="5912" y="9091"/>
                    <a:pt x="5898" y="9107"/>
                  </a:cubicBezTo>
                  <a:cubicBezTo>
                    <a:pt x="5898" y="9107"/>
                    <a:pt x="5413" y="9295"/>
                    <a:pt x="5205" y="9322"/>
                  </a:cubicBezTo>
                  <a:cubicBezTo>
                    <a:pt x="4899" y="9355"/>
                    <a:pt x="4593" y="9462"/>
                    <a:pt x="4537" y="9430"/>
                  </a:cubicBezTo>
                  <a:cubicBezTo>
                    <a:pt x="4149" y="9150"/>
                    <a:pt x="3152" y="7622"/>
                    <a:pt x="3042" y="7385"/>
                  </a:cubicBezTo>
                  <a:cubicBezTo>
                    <a:pt x="3097" y="7251"/>
                    <a:pt x="3139" y="7062"/>
                    <a:pt x="3167" y="6965"/>
                  </a:cubicBezTo>
                  <a:cubicBezTo>
                    <a:pt x="3181" y="6922"/>
                    <a:pt x="3206" y="6884"/>
                    <a:pt x="3276" y="6852"/>
                  </a:cubicBezTo>
                  <a:cubicBezTo>
                    <a:pt x="3539" y="6701"/>
                    <a:pt x="4330" y="6260"/>
                    <a:pt x="4871" y="6077"/>
                  </a:cubicBezTo>
                  <a:cubicBezTo>
                    <a:pt x="4909" y="6063"/>
                    <a:pt x="4955" y="6057"/>
                    <a:pt x="5001" y="6053"/>
                  </a:cubicBezTo>
                  <a:close/>
                </a:path>
              </a:pathLst>
            </a:custGeom>
            <a:solidFill>
              <a:srgbClr val="808785"/>
            </a:solidFill>
            <a:ln w="12700" cap="flat">
              <a:noFill/>
              <a:miter lim="400000"/>
            </a:ln>
            <a:effectLst/>
          </p:spPr>
          <p:txBody>
            <a:bodyPr wrap="square" lIns="14288" tIns="14288" rIns="14288" bIns="14288" numCol="1" anchor="ctr">
              <a:noAutofit/>
            </a:bodyPr>
            <a:lstStyle/>
            <a:p>
              <a:pPr algn="ctr" defTabSz="164306">
                <a:defRPr sz="3600" spc="0">
                  <a:latin typeface="Gill Sans Light"/>
                  <a:ea typeface="Gill Sans Light"/>
                  <a:cs typeface="Gill Sans Light"/>
                  <a:sym typeface="Gill Sans Light"/>
                </a:defRPr>
              </a:pPr>
              <a:endParaRPr sz="1013"/>
            </a:p>
          </p:txBody>
        </p:sp>
        <p:pic>
          <p:nvPicPr>
            <p:cNvPr id="679" name="BeautyPlus_20150811145512_fast.jpg" descr="BeautyPlus_20150811145512_fast.jpg"/>
            <p:cNvPicPr>
              <a:picLocks noChangeAspect="1"/>
            </p:cNvPicPr>
            <p:nvPr/>
          </p:nvPicPr>
          <p:blipFill>
            <a:blip r:embed="rId4"/>
            <a:srcRect l="3" t="25626" r="52947" b="29474"/>
            <a:stretch>
              <a:fillRect/>
            </a:stretch>
          </p:blipFill>
          <p:spPr>
            <a:xfrm flipH="1">
              <a:off x="726204" y="32956"/>
              <a:ext cx="1170361" cy="19855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5" h="21595" extrusionOk="0">
                  <a:moveTo>
                    <a:pt x="6727" y="4"/>
                  </a:moveTo>
                  <a:cubicBezTo>
                    <a:pt x="6454" y="-5"/>
                    <a:pt x="6182" y="0"/>
                    <a:pt x="5922" y="21"/>
                  </a:cubicBezTo>
                  <a:cubicBezTo>
                    <a:pt x="4634" y="126"/>
                    <a:pt x="4583" y="131"/>
                    <a:pt x="3843" y="323"/>
                  </a:cubicBezTo>
                  <a:cubicBezTo>
                    <a:pt x="3408" y="436"/>
                    <a:pt x="2956" y="477"/>
                    <a:pt x="2569" y="440"/>
                  </a:cubicBezTo>
                  <a:cubicBezTo>
                    <a:pt x="1799" y="366"/>
                    <a:pt x="619" y="565"/>
                    <a:pt x="849" y="729"/>
                  </a:cubicBezTo>
                  <a:cubicBezTo>
                    <a:pt x="961" y="808"/>
                    <a:pt x="850" y="950"/>
                    <a:pt x="505" y="1174"/>
                  </a:cubicBezTo>
                  <a:lnTo>
                    <a:pt x="0" y="1502"/>
                  </a:lnTo>
                  <a:lnTo>
                    <a:pt x="0" y="11723"/>
                  </a:lnTo>
                  <a:lnTo>
                    <a:pt x="0" y="18638"/>
                  </a:lnTo>
                  <a:lnTo>
                    <a:pt x="0" y="21595"/>
                  </a:lnTo>
                  <a:lnTo>
                    <a:pt x="15547" y="21595"/>
                  </a:lnTo>
                  <a:cubicBezTo>
                    <a:pt x="15556" y="21575"/>
                    <a:pt x="15560" y="21573"/>
                    <a:pt x="15569" y="21552"/>
                  </a:cubicBezTo>
                  <a:lnTo>
                    <a:pt x="15803" y="20999"/>
                  </a:lnTo>
                  <a:lnTo>
                    <a:pt x="16469" y="21030"/>
                  </a:lnTo>
                  <a:cubicBezTo>
                    <a:pt x="16866" y="21048"/>
                    <a:pt x="17253" y="21142"/>
                    <a:pt x="17421" y="21258"/>
                  </a:cubicBezTo>
                  <a:cubicBezTo>
                    <a:pt x="17805" y="21523"/>
                    <a:pt x="17995" y="21503"/>
                    <a:pt x="18409" y="21159"/>
                  </a:cubicBezTo>
                  <a:cubicBezTo>
                    <a:pt x="18887" y="20762"/>
                    <a:pt x="18849" y="20645"/>
                    <a:pt x="18255" y="20645"/>
                  </a:cubicBezTo>
                  <a:cubicBezTo>
                    <a:pt x="17942" y="20645"/>
                    <a:pt x="17662" y="20567"/>
                    <a:pt x="17509" y="20438"/>
                  </a:cubicBezTo>
                  <a:cubicBezTo>
                    <a:pt x="17374" y="20324"/>
                    <a:pt x="17066" y="20221"/>
                    <a:pt x="16821" y="20205"/>
                  </a:cubicBezTo>
                  <a:cubicBezTo>
                    <a:pt x="16137" y="20162"/>
                    <a:pt x="16118" y="20083"/>
                    <a:pt x="16711" y="19666"/>
                  </a:cubicBezTo>
                  <a:cubicBezTo>
                    <a:pt x="17321" y="19236"/>
                    <a:pt x="17937" y="18388"/>
                    <a:pt x="17794" y="18168"/>
                  </a:cubicBezTo>
                  <a:cubicBezTo>
                    <a:pt x="17743" y="18089"/>
                    <a:pt x="17751" y="17950"/>
                    <a:pt x="17809" y="17861"/>
                  </a:cubicBezTo>
                  <a:cubicBezTo>
                    <a:pt x="17867" y="17772"/>
                    <a:pt x="17938" y="17241"/>
                    <a:pt x="17977" y="16678"/>
                  </a:cubicBezTo>
                  <a:cubicBezTo>
                    <a:pt x="18057" y="15523"/>
                    <a:pt x="18530" y="14126"/>
                    <a:pt x="19280" y="12815"/>
                  </a:cubicBezTo>
                  <a:cubicBezTo>
                    <a:pt x="19666" y="12142"/>
                    <a:pt x="19793" y="11733"/>
                    <a:pt x="19800" y="11140"/>
                  </a:cubicBezTo>
                  <a:cubicBezTo>
                    <a:pt x="19809" y="10381"/>
                    <a:pt x="19827" y="10354"/>
                    <a:pt x="20305" y="10208"/>
                  </a:cubicBezTo>
                  <a:lnTo>
                    <a:pt x="20795" y="10057"/>
                  </a:lnTo>
                  <a:lnTo>
                    <a:pt x="21000" y="10312"/>
                  </a:lnTo>
                  <a:cubicBezTo>
                    <a:pt x="21083" y="10294"/>
                    <a:pt x="21172" y="10309"/>
                    <a:pt x="21220" y="10355"/>
                  </a:cubicBezTo>
                  <a:cubicBezTo>
                    <a:pt x="21275" y="10407"/>
                    <a:pt x="21250" y="10473"/>
                    <a:pt x="21161" y="10506"/>
                  </a:cubicBezTo>
                  <a:cubicBezTo>
                    <a:pt x="21159" y="10507"/>
                    <a:pt x="21156" y="10505"/>
                    <a:pt x="21154" y="10506"/>
                  </a:cubicBezTo>
                  <a:lnTo>
                    <a:pt x="21220" y="10588"/>
                  </a:lnTo>
                  <a:cubicBezTo>
                    <a:pt x="21229" y="10565"/>
                    <a:pt x="21254" y="10547"/>
                    <a:pt x="21286" y="10532"/>
                  </a:cubicBezTo>
                  <a:cubicBezTo>
                    <a:pt x="21236" y="10423"/>
                    <a:pt x="21220" y="10307"/>
                    <a:pt x="21205" y="10186"/>
                  </a:cubicBezTo>
                  <a:cubicBezTo>
                    <a:pt x="21189" y="10143"/>
                    <a:pt x="21183" y="10096"/>
                    <a:pt x="21198" y="10053"/>
                  </a:cubicBezTo>
                  <a:cubicBezTo>
                    <a:pt x="21197" y="10049"/>
                    <a:pt x="21199" y="10047"/>
                    <a:pt x="21198" y="10044"/>
                  </a:cubicBezTo>
                  <a:cubicBezTo>
                    <a:pt x="21193" y="9698"/>
                    <a:pt x="21320" y="9357"/>
                    <a:pt x="21564" y="9129"/>
                  </a:cubicBezTo>
                  <a:lnTo>
                    <a:pt x="21564" y="6142"/>
                  </a:lnTo>
                  <a:cubicBezTo>
                    <a:pt x="21485" y="6164"/>
                    <a:pt x="21402" y="6186"/>
                    <a:pt x="21315" y="6194"/>
                  </a:cubicBezTo>
                  <a:cubicBezTo>
                    <a:pt x="21091" y="6214"/>
                    <a:pt x="20878" y="6253"/>
                    <a:pt x="20839" y="6276"/>
                  </a:cubicBezTo>
                  <a:cubicBezTo>
                    <a:pt x="20800" y="6299"/>
                    <a:pt x="20568" y="6267"/>
                    <a:pt x="20320" y="6211"/>
                  </a:cubicBezTo>
                  <a:cubicBezTo>
                    <a:pt x="20071" y="6154"/>
                    <a:pt x="19503" y="6110"/>
                    <a:pt x="19053" y="6112"/>
                  </a:cubicBezTo>
                  <a:cubicBezTo>
                    <a:pt x="18335" y="6114"/>
                    <a:pt x="18208" y="6083"/>
                    <a:pt x="18065" y="5861"/>
                  </a:cubicBezTo>
                  <a:cubicBezTo>
                    <a:pt x="17976" y="5722"/>
                    <a:pt x="17905" y="5488"/>
                    <a:pt x="17904" y="5339"/>
                  </a:cubicBezTo>
                  <a:cubicBezTo>
                    <a:pt x="17901" y="4945"/>
                    <a:pt x="16655" y="3653"/>
                    <a:pt x="15576" y="2926"/>
                  </a:cubicBezTo>
                  <a:cubicBezTo>
                    <a:pt x="15016" y="2548"/>
                    <a:pt x="14696" y="2251"/>
                    <a:pt x="14771" y="2179"/>
                  </a:cubicBezTo>
                  <a:cubicBezTo>
                    <a:pt x="14855" y="2099"/>
                    <a:pt x="14806" y="2078"/>
                    <a:pt x="14625" y="2119"/>
                  </a:cubicBezTo>
                  <a:cubicBezTo>
                    <a:pt x="14450" y="2158"/>
                    <a:pt x="14251" y="2096"/>
                    <a:pt x="14076" y="1938"/>
                  </a:cubicBezTo>
                  <a:cubicBezTo>
                    <a:pt x="13911" y="1789"/>
                    <a:pt x="13644" y="1691"/>
                    <a:pt x="13395" y="1691"/>
                  </a:cubicBezTo>
                  <a:cubicBezTo>
                    <a:pt x="13168" y="1691"/>
                    <a:pt x="12925" y="1637"/>
                    <a:pt x="12861" y="1575"/>
                  </a:cubicBezTo>
                  <a:cubicBezTo>
                    <a:pt x="12796" y="1513"/>
                    <a:pt x="12409" y="1376"/>
                    <a:pt x="11997" y="1268"/>
                  </a:cubicBezTo>
                  <a:cubicBezTo>
                    <a:pt x="11585" y="1161"/>
                    <a:pt x="11291" y="1032"/>
                    <a:pt x="11346" y="979"/>
                  </a:cubicBezTo>
                  <a:cubicBezTo>
                    <a:pt x="11400" y="927"/>
                    <a:pt x="11264" y="884"/>
                    <a:pt x="11038" y="884"/>
                  </a:cubicBezTo>
                  <a:cubicBezTo>
                    <a:pt x="10449" y="884"/>
                    <a:pt x="9545" y="687"/>
                    <a:pt x="8952" y="431"/>
                  </a:cubicBezTo>
                  <a:cubicBezTo>
                    <a:pt x="8375" y="183"/>
                    <a:pt x="7545" y="30"/>
                    <a:pt x="6727" y="4"/>
                  </a:cubicBezTo>
                  <a:close/>
                  <a:moveTo>
                    <a:pt x="15232" y="68"/>
                  </a:moveTo>
                  <a:cubicBezTo>
                    <a:pt x="15148" y="87"/>
                    <a:pt x="15061" y="105"/>
                    <a:pt x="14918" y="112"/>
                  </a:cubicBezTo>
                  <a:cubicBezTo>
                    <a:pt x="15057" y="132"/>
                    <a:pt x="15233" y="154"/>
                    <a:pt x="15284" y="172"/>
                  </a:cubicBezTo>
                  <a:cubicBezTo>
                    <a:pt x="15298" y="177"/>
                    <a:pt x="15353" y="188"/>
                    <a:pt x="15393" y="198"/>
                  </a:cubicBezTo>
                  <a:cubicBezTo>
                    <a:pt x="15389" y="194"/>
                    <a:pt x="15383" y="189"/>
                    <a:pt x="15379" y="185"/>
                  </a:cubicBezTo>
                  <a:cubicBezTo>
                    <a:pt x="15328" y="136"/>
                    <a:pt x="15278" y="100"/>
                    <a:pt x="15232" y="68"/>
                  </a:cubicBezTo>
                  <a:close/>
                  <a:moveTo>
                    <a:pt x="17626" y="703"/>
                  </a:moveTo>
                  <a:cubicBezTo>
                    <a:pt x="17611" y="717"/>
                    <a:pt x="17572" y="724"/>
                    <a:pt x="17545" y="733"/>
                  </a:cubicBezTo>
                  <a:cubicBezTo>
                    <a:pt x="17590" y="743"/>
                    <a:pt x="17721" y="771"/>
                    <a:pt x="17728" y="772"/>
                  </a:cubicBezTo>
                  <a:cubicBezTo>
                    <a:pt x="17733" y="773"/>
                    <a:pt x="17643" y="715"/>
                    <a:pt x="17626" y="703"/>
                  </a:cubicBezTo>
                  <a:close/>
                  <a:moveTo>
                    <a:pt x="21300" y="10696"/>
                  </a:moveTo>
                  <a:cubicBezTo>
                    <a:pt x="21322" y="10727"/>
                    <a:pt x="21347" y="10771"/>
                    <a:pt x="21366" y="10799"/>
                  </a:cubicBezTo>
                  <a:cubicBezTo>
                    <a:pt x="21367" y="10801"/>
                    <a:pt x="21372" y="10798"/>
                    <a:pt x="21374" y="10799"/>
                  </a:cubicBezTo>
                  <a:cubicBezTo>
                    <a:pt x="21375" y="10802"/>
                    <a:pt x="21372" y="10805"/>
                    <a:pt x="21374" y="10808"/>
                  </a:cubicBezTo>
                  <a:cubicBezTo>
                    <a:pt x="21392" y="10835"/>
                    <a:pt x="21422" y="10873"/>
                    <a:pt x="21447" y="10907"/>
                  </a:cubicBezTo>
                  <a:cubicBezTo>
                    <a:pt x="21494" y="10914"/>
                    <a:pt x="21536" y="10933"/>
                    <a:pt x="21564" y="10959"/>
                  </a:cubicBezTo>
                  <a:lnTo>
                    <a:pt x="21564" y="10890"/>
                  </a:lnTo>
                  <a:cubicBezTo>
                    <a:pt x="21506" y="10842"/>
                    <a:pt x="21445" y="10788"/>
                    <a:pt x="21388" y="10709"/>
                  </a:cubicBezTo>
                  <a:cubicBezTo>
                    <a:pt x="21356" y="10706"/>
                    <a:pt x="21328" y="10708"/>
                    <a:pt x="21300" y="10696"/>
                  </a:cubicBezTo>
                  <a:close/>
                  <a:moveTo>
                    <a:pt x="21564" y="10959"/>
                  </a:moveTo>
                  <a:cubicBezTo>
                    <a:pt x="21600" y="10994"/>
                    <a:pt x="21586" y="11033"/>
                    <a:pt x="21557" y="11067"/>
                  </a:cubicBezTo>
                  <a:cubicBezTo>
                    <a:pt x="21558" y="11069"/>
                    <a:pt x="21562" y="11073"/>
                    <a:pt x="21564" y="11076"/>
                  </a:cubicBezTo>
                  <a:lnTo>
                    <a:pt x="21564" y="10959"/>
                  </a:lnTo>
                  <a:close/>
                  <a:moveTo>
                    <a:pt x="18526" y="18176"/>
                  </a:moveTo>
                  <a:cubicBezTo>
                    <a:pt x="18491" y="18166"/>
                    <a:pt x="18434" y="18170"/>
                    <a:pt x="18351" y="18189"/>
                  </a:cubicBezTo>
                  <a:cubicBezTo>
                    <a:pt x="18202" y="18223"/>
                    <a:pt x="18080" y="18295"/>
                    <a:pt x="18080" y="18349"/>
                  </a:cubicBezTo>
                  <a:cubicBezTo>
                    <a:pt x="18080" y="18482"/>
                    <a:pt x="18463" y="18396"/>
                    <a:pt x="18548" y="18245"/>
                  </a:cubicBezTo>
                  <a:cubicBezTo>
                    <a:pt x="18569" y="18209"/>
                    <a:pt x="18561" y="18186"/>
                    <a:pt x="18526" y="18176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681" name="Line"/>
          <p:cNvSpPr/>
          <p:nvPr/>
        </p:nvSpPr>
        <p:spPr>
          <a:xfrm>
            <a:off x="2956498" y="2188631"/>
            <a:ext cx="605261" cy="0"/>
          </a:xfrm>
          <a:prstGeom prst="line">
            <a:avLst/>
          </a:prstGeom>
          <a:ln w="50800">
            <a:solidFill>
              <a:schemeClr val="tx1"/>
            </a:solidFill>
            <a:miter lim="400000"/>
            <a:tailEnd type="triangle"/>
          </a:ln>
        </p:spPr>
        <p:txBody>
          <a:bodyPr lIns="14288" tIns="14288" rIns="14288" bIns="14288" anchor="ctr"/>
          <a:lstStyle/>
          <a:p>
            <a:pPr algn="ctr" defTabSz="164306">
              <a:defRPr sz="3600" spc="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endParaRPr sz="1013"/>
          </a:p>
        </p:txBody>
      </p:sp>
      <p:sp>
        <p:nvSpPr>
          <p:cNvPr id="682" name="A : 적정예측…"/>
          <p:cNvSpPr txBox="1"/>
          <p:nvPr/>
        </p:nvSpPr>
        <p:spPr>
          <a:xfrm>
            <a:off x="1889553" y="3447812"/>
            <a:ext cx="1033938" cy="803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b">
            <a:spAutoFit/>
          </a:bodyPr>
          <a:lstStyle/>
          <a:p>
            <a:pPr>
              <a:spcBef>
                <a:spcPts val="535"/>
              </a:spcBef>
            </a:pPr>
            <a:r>
              <a:rPr sz="1400" dirty="0">
                <a:latin typeface="ChosunilboNM" panose="02030304000000000000" pitchFamily="18" charset="-128"/>
              </a:rPr>
              <a:t>A : </a:t>
            </a:r>
            <a:r>
              <a:rPr sz="1400" dirty="0" err="1">
                <a:latin typeface="ChosunilboNM" panose="02030304000000000000" pitchFamily="18" charset="-128"/>
              </a:rPr>
              <a:t>적정예측</a:t>
            </a:r>
            <a:r>
              <a:rPr sz="1400" dirty="0">
                <a:latin typeface="ChosunilboNM" panose="02030304000000000000" pitchFamily="18" charset="-128"/>
              </a:rPr>
              <a:t> </a:t>
            </a:r>
          </a:p>
          <a:p>
            <a:pPr>
              <a:spcBef>
                <a:spcPts val="535"/>
              </a:spcBef>
            </a:pPr>
            <a:r>
              <a:rPr sz="1400" dirty="0">
                <a:latin typeface="ChosunilboNM" panose="02030304000000000000" pitchFamily="18" charset="-128"/>
              </a:rPr>
              <a:t>B : </a:t>
            </a:r>
            <a:r>
              <a:rPr sz="1400" dirty="0" err="1">
                <a:latin typeface="ChosunilboNM" panose="02030304000000000000" pitchFamily="18" charset="-128"/>
              </a:rPr>
              <a:t>과대예측</a:t>
            </a:r>
            <a:r>
              <a:rPr sz="1400" dirty="0">
                <a:latin typeface="ChosunilboNM" panose="02030304000000000000" pitchFamily="18" charset="-128"/>
              </a:rPr>
              <a:t> </a:t>
            </a:r>
          </a:p>
          <a:p>
            <a:pPr>
              <a:spcBef>
                <a:spcPts val="535"/>
              </a:spcBef>
            </a:pPr>
            <a:r>
              <a:rPr sz="1400" dirty="0">
                <a:latin typeface="ChosunilboNM" panose="02030304000000000000" pitchFamily="18" charset="-128"/>
              </a:rPr>
              <a:t>C : </a:t>
            </a:r>
            <a:r>
              <a:rPr sz="1400" dirty="0" err="1">
                <a:latin typeface="ChosunilboNM" panose="02030304000000000000" pitchFamily="18" charset="-128"/>
              </a:rPr>
              <a:t>과소예측</a:t>
            </a:r>
            <a:r>
              <a:rPr sz="1400" dirty="0">
                <a:latin typeface="ChosunilboNM" panose="02030304000000000000" pitchFamily="18" charset="-128"/>
              </a:rPr>
              <a:t> </a:t>
            </a:r>
          </a:p>
        </p:txBody>
      </p:sp>
      <p:sp>
        <p:nvSpPr>
          <p:cNvPr id="683" name="Line"/>
          <p:cNvSpPr/>
          <p:nvPr/>
        </p:nvSpPr>
        <p:spPr>
          <a:xfrm>
            <a:off x="2955768" y="2571750"/>
            <a:ext cx="595159" cy="0"/>
          </a:xfrm>
          <a:prstGeom prst="line">
            <a:avLst/>
          </a:prstGeom>
          <a:ln w="50800" cap="rnd">
            <a:solidFill>
              <a:schemeClr val="tx1"/>
            </a:solidFill>
            <a:custDash>
              <a:ds d="100000" sp="200000"/>
            </a:custDash>
            <a:tailEnd type="triangle"/>
          </a:ln>
        </p:spPr>
        <p:txBody>
          <a:bodyPr lIns="14288" tIns="14288" rIns="14288" bIns="14288" anchor="ctr"/>
          <a:lstStyle/>
          <a:p>
            <a:pPr algn="ctr" defTabSz="164306">
              <a:defRPr sz="3600" spc="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endParaRPr sz="1013"/>
          </a:p>
        </p:txBody>
      </p:sp>
      <p:sp>
        <p:nvSpPr>
          <p:cNvPr id="684" name="Line"/>
          <p:cNvSpPr/>
          <p:nvPr/>
        </p:nvSpPr>
        <p:spPr>
          <a:xfrm>
            <a:off x="2956498" y="1805510"/>
            <a:ext cx="605261" cy="0"/>
          </a:xfrm>
          <a:prstGeom prst="line">
            <a:avLst/>
          </a:prstGeom>
          <a:ln w="50800">
            <a:solidFill>
              <a:schemeClr val="tx1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14288" tIns="14288" rIns="14288" bIns="14288" anchor="ctr"/>
          <a:lstStyle/>
          <a:p>
            <a:pPr algn="ctr" defTabSz="164306">
              <a:defRPr sz="3600" spc="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endParaRPr sz="1013"/>
          </a:p>
        </p:txBody>
      </p:sp>
      <p:sp>
        <p:nvSpPr>
          <p:cNvPr id="685" name="A"/>
          <p:cNvSpPr txBox="1"/>
          <p:nvPr/>
        </p:nvSpPr>
        <p:spPr>
          <a:xfrm>
            <a:off x="2626453" y="2070808"/>
            <a:ext cx="141065" cy="236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/>
          <a:p>
            <a:r>
              <a:rPr sz="1350" dirty="0">
                <a:latin typeface="ChosunilboNM" panose="02030304000000000000" pitchFamily="18" charset="-128"/>
              </a:rPr>
              <a:t>A</a:t>
            </a:r>
          </a:p>
        </p:txBody>
      </p:sp>
      <p:sp>
        <p:nvSpPr>
          <p:cNvPr id="686" name="B"/>
          <p:cNvSpPr txBox="1"/>
          <p:nvPr/>
        </p:nvSpPr>
        <p:spPr>
          <a:xfrm>
            <a:off x="2636489" y="1687688"/>
            <a:ext cx="131447" cy="236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/>
          <a:p>
            <a:r>
              <a:rPr sz="1350" dirty="0">
                <a:latin typeface="ChosunilboNM" panose="02030304000000000000" pitchFamily="18" charset="-128"/>
              </a:rPr>
              <a:t>B</a:t>
            </a:r>
          </a:p>
        </p:txBody>
      </p:sp>
      <p:sp>
        <p:nvSpPr>
          <p:cNvPr id="687" name="C"/>
          <p:cNvSpPr txBox="1"/>
          <p:nvPr/>
        </p:nvSpPr>
        <p:spPr>
          <a:xfrm>
            <a:off x="2628952" y="2452973"/>
            <a:ext cx="131447" cy="236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/>
          <a:p>
            <a:r>
              <a:rPr sz="1350" dirty="0">
                <a:latin typeface="ChosunilboNM" panose="02030304000000000000" pitchFamily="18" charset="-128"/>
              </a:rPr>
              <a:t>C</a:t>
            </a:r>
          </a:p>
        </p:txBody>
      </p:sp>
      <p:sp>
        <p:nvSpPr>
          <p:cNvPr id="688" name="height"/>
          <p:cNvSpPr txBox="1"/>
          <p:nvPr/>
        </p:nvSpPr>
        <p:spPr>
          <a:xfrm>
            <a:off x="3385133" y="4353835"/>
            <a:ext cx="517771" cy="244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/>
          <a:p>
            <a:r>
              <a:rPr sz="1400" dirty="0">
                <a:latin typeface="ChosunilboNM" panose="02030304000000000000" pitchFamily="18" charset="-128"/>
              </a:rPr>
              <a:t>height</a:t>
            </a:r>
          </a:p>
        </p:txBody>
      </p:sp>
      <p:sp>
        <p:nvSpPr>
          <p:cNvPr id="2" name="직사각형 2">
            <a:extLst>
              <a:ext uri="{FF2B5EF4-FFF2-40B4-BE49-F238E27FC236}">
                <a16:creationId xmlns:a16="http://schemas.microsoft.com/office/drawing/2014/main" id="{23F37104-1240-319D-AB31-BA3F4149D682}"/>
              </a:ext>
            </a:extLst>
          </p:cNvPr>
          <p:cNvSpPr/>
          <p:nvPr/>
        </p:nvSpPr>
        <p:spPr>
          <a:xfrm>
            <a:off x="732226" y="960850"/>
            <a:ext cx="7679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u="sng" spc="-300" dirty="0">
                <a:solidFill>
                  <a:schemeClr val="bg1">
                    <a:lumMod val="7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회귀분석</a:t>
            </a:r>
            <a:r>
              <a:rPr lang="ko-KR" altLang="en-US" sz="2000" spc="-30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2000" spc="-30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Regression</a:t>
            </a:r>
          </a:p>
        </p:txBody>
      </p:sp>
      <p:sp>
        <p:nvSpPr>
          <p:cNvPr id="3" name="직사각형 3">
            <a:extLst>
              <a:ext uri="{FF2B5EF4-FFF2-40B4-BE49-F238E27FC236}">
                <a16:creationId xmlns:a16="http://schemas.microsoft.com/office/drawing/2014/main" id="{1392721C-36AE-1B05-A7F3-812AA16C1623}"/>
              </a:ext>
            </a:extLst>
          </p:cNvPr>
          <p:cNvSpPr/>
          <p:nvPr/>
        </p:nvSpPr>
        <p:spPr>
          <a:xfrm>
            <a:off x="500530" y="590968"/>
            <a:ext cx="6536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Section 04 |  </a:t>
            </a:r>
            <a:r>
              <a:rPr lang="ko-KR" altLang="en-US" sz="200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상관과 예측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Rectangle"/>
          <p:cNvSpPr/>
          <p:nvPr/>
        </p:nvSpPr>
        <p:spPr>
          <a:xfrm>
            <a:off x="1937734" y="1426529"/>
            <a:ext cx="5268533" cy="19814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76200" dir="18900000" rotWithShape="0">
              <a:srgbClr val="000000">
                <a:alpha val="80000"/>
              </a:srgbClr>
            </a:outerShdw>
          </a:effectLst>
        </p:spPr>
        <p:txBody>
          <a:bodyPr lIns="14288" tIns="14288" rIns="14288" bIns="14288" anchor="ctr"/>
          <a:lstStyle/>
          <a:p>
            <a:pPr algn="ctr">
              <a:defRPr sz="3200" spc="0">
                <a:effectLst>
                  <a:outerShdw blurRad="25400" dist="23998" dir="2700000" rotWithShape="0">
                    <a:srgbClr val="000000">
                      <a:alpha val="31034"/>
                    </a:srgbClr>
                  </a:outerShdw>
                </a:effectLst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900"/>
          </a:p>
        </p:txBody>
      </p:sp>
      <p:sp>
        <p:nvSpPr>
          <p:cNvPr id="692" name="결정계수"/>
          <p:cNvSpPr txBox="1"/>
          <p:nvPr/>
        </p:nvSpPr>
        <p:spPr>
          <a:xfrm>
            <a:off x="2139739" y="1558268"/>
            <a:ext cx="458203" cy="19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sz="1050" spc="-113" dirty="0" err="1">
                <a:latin typeface="ChosunilboNM" panose="02030304000000000000" pitchFamily="18" charset="-128"/>
              </a:rPr>
              <a:t>결정계수</a:t>
            </a:r>
            <a:endParaRPr sz="1050" spc="-113" dirty="0">
              <a:latin typeface="ChosunilboNM" panose="02030304000000000000" pitchFamily="18" charset="-128"/>
            </a:endParaRPr>
          </a:p>
        </p:txBody>
      </p:sp>
      <p:grpSp>
        <p:nvGrpSpPr>
          <p:cNvPr id="697" name="Group"/>
          <p:cNvGrpSpPr/>
          <p:nvPr/>
        </p:nvGrpSpPr>
        <p:grpSpPr>
          <a:xfrm>
            <a:off x="5394715" y="1506054"/>
            <a:ext cx="1764175" cy="454034"/>
            <a:chOff x="0" y="0"/>
            <a:chExt cx="6272622" cy="1614341"/>
          </a:xfrm>
        </p:grpSpPr>
        <p:pic>
          <p:nvPicPr>
            <p:cNvPr id="693" name="Image" descr="Image"/>
            <p:cNvPicPr>
              <a:picLocks noChangeAspect="1"/>
            </p:cNvPicPr>
            <p:nvPr/>
          </p:nvPicPr>
          <p:blipFill>
            <a:blip r:embed="rId2"/>
            <a:srcRect r="29262"/>
            <a:stretch>
              <a:fillRect/>
            </a:stretch>
          </p:blipFill>
          <p:spPr>
            <a:xfrm>
              <a:off x="0" y="0"/>
              <a:ext cx="2883045" cy="15698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94" name="Image" descr="Image"/>
            <p:cNvPicPr>
              <a:picLocks/>
            </p:cNvPicPr>
            <p:nvPr/>
          </p:nvPicPr>
          <p:blipFill>
            <a:blip r:embed="rId2"/>
            <a:srcRect l="70571" t="42104" b="42104"/>
            <a:stretch>
              <a:fillRect/>
            </a:stretch>
          </p:blipFill>
          <p:spPr>
            <a:xfrm>
              <a:off x="3137106" y="660881"/>
              <a:ext cx="3135516" cy="24789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95" name="전체 편차"/>
            <p:cNvSpPr txBox="1"/>
            <p:nvPr/>
          </p:nvSpPr>
          <p:spPr>
            <a:xfrm>
              <a:off x="3817589" y="933325"/>
              <a:ext cx="1590108" cy="6810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4288" tIns="14288" rIns="14288" bIns="14288" numCol="1" anchor="ctr">
              <a:noAutofit/>
            </a:bodyPr>
            <a:lstStyle>
              <a:lvl1pPr algn="ctr" defTabSz="584200">
                <a:spcBef>
                  <a:spcPts val="0"/>
                </a:spcBef>
                <a:defRPr sz="3000" spc="0">
                  <a:solidFill>
                    <a:srgbClr val="222222">
                      <a:alpha val="77295"/>
                    </a:srgbClr>
                  </a:solidFill>
                  <a:latin typeface="야놀자 야체 OTF Regular"/>
                  <a:ea typeface="야놀자 야체 OTF Regular"/>
                  <a:cs typeface="야놀자 야체 OTF Regular"/>
                  <a:sym typeface="야놀자 야체 OTF Regular"/>
                </a:defRPr>
              </a:lvl1pPr>
            </a:lstStyle>
            <a:p>
              <a:r>
                <a:rPr sz="1050"/>
                <a:t>전체 편차</a:t>
              </a:r>
            </a:p>
          </p:txBody>
        </p:sp>
        <p:sp>
          <p:nvSpPr>
            <p:cNvPr id="696" name="회귀방정식의 편차"/>
            <p:cNvSpPr txBox="1"/>
            <p:nvPr/>
          </p:nvSpPr>
          <p:spPr>
            <a:xfrm>
              <a:off x="3256050" y="118229"/>
              <a:ext cx="2883047" cy="6810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4288" tIns="14288" rIns="14288" bIns="14288" numCol="1" anchor="ctr">
              <a:noAutofit/>
            </a:bodyPr>
            <a:lstStyle>
              <a:lvl1pPr algn="ctr" defTabSz="584200">
                <a:spcBef>
                  <a:spcPts val="0"/>
                </a:spcBef>
                <a:defRPr sz="3000" spc="0">
                  <a:solidFill>
                    <a:srgbClr val="000000">
                      <a:alpha val="69571"/>
                    </a:srgbClr>
                  </a:solidFill>
                  <a:latin typeface="야놀자 야체 OTF Regular"/>
                  <a:ea typeface="야놀자 야체 OTF Regular"/>
                  <a:cs typeface="야놀자 야체 OTF Regular"/>
                  <a:sym typeface="야놀자 야체 OTF Regular"/>
                </a:defRPr>
              </a:lvl1pPr>
            </a:lstStyle>
            <a:p>
              <a:r>
                <a:rPr sz="1050" dirty="0" err="1"/>
                <a:t>회귀방정식의</a:t>
              </a:r>
              <a:r>
                <a:rPr sz="1050" dirty="0"/>
                <a:t> </a:t>
              </a:r>
              <a:r>
                <a:rPr sz="1050" dirty="0" err="1"/>
                <a:t>편차</a:t>
              </a:r>
              <a:endParaRPr sz="1050" dirty="0"/>
            </a:p>
          </p:txBody>
        </p:sp>
      </p:grpSp>
      <p:pic>
        <p:nvPicPr>
          <p:cNvPr id="698" name="Image" descr="Image"/>
          <p:cNvPicPr>
            <a:picLocks noChangeAspect="1"/>
          </p:cNvPicPr>
          <p:nvPr/>
        </p:nvPicPr>
        <p:blipFill>
          <a:blip r:embed="rId3"/>
          <a:srcRect t="10757" r="3001" b="2250"/>
          <a:stretch>
            <a:fillRect/>
          </a:stretch>
        </p:blipFill>
        <p:spPr>
          <a:xfrm>
            <a:off x="5527825" y="2077554"/>
            <a:ext cx="1638635" cy="1300354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699" name="표 1"/>
          <p:cNvGraphicFramePr/>
          <p:nvPr>
            <p:extLst>
              <p:ext uri="{D42A27DB-BD31-4B8C-83A1-F6EECF244321}">
                <p14:modId xmlns:p14="http://schemas.microsoft.com/office/powerpoint/2010/main" val="403013086"/>
              </p:ext>
            </p:extLst>
          </p:nvPr>
        </p:nvGraphicFramePr>
        <p:xfrm>
          <a:off x="2061001" y="3663407"/>
          <a:ext cx="5145267" cy="1026584"/>
        </p:xfrm>
        <a:graphic>
          <a:graphicData uri="http://schemas.openxmlformats.org/drawingml/2006/table">
            <a:tbl>
              <a:tblPr firstRow="1"/>
              <a:tblGrid>
                <a:gridCol w="1715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5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5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646">
                <a:tc>
                  <a:txBody>
                    <a:bodyPr/>
                    <a:lstStyle/>
                    <a:p>
                      <a:pPr algn="ctr" defTabSz="584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 dirty="0" err="1">
                          <a:solidFill>
                            <a:srgbClr val="FFFFFF"/>
                          </a:solidFill>
                          <a:latin typeface="KoreanYNMYTL"/>
                          <a:ea typeface="KoreanYNMYTL"/>
                          <a:cs typeface="KoreanYNMYTL"/>
                          <a:sym typeface="KoreanYNMYTL"/>
                        </a:rPr>
                        <a:t>구분</a:t>
                      </a:r>
                      <a:endParaRPr sz="900" dirty="0">
                        <a:solidFill>
                          <a:srgbClr val="FFFFFF"/>
                        </a:solidFill>
                        <a:latin typeface="KoreanYNMYTL"/>
                        <a:ea typeface="KoreanYNMYTL"/>
                        <a:cs typeface="KoreanYNMYTL"/>
                        <a:sym typeface="KoreanYNMYTL"/>
                      </a:endParaRPr>
                    </a:p>
                  </a:txBody>
                  <a:tcPr marL="14288" marR="14288" marT="14288" marB="14288" anchor="ctr" horzOverflow="overflow">
                    <a:solidFill>
                      <a:srgbClr val="80878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4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 dirty="0" err="1">
                          <a:solidFill>
                            <a:srgbClr val="FFFFFF"/>
                          </a:solidFill>
                          <a:latin typeface="KoreanYNMYTL"/>
                          <a:ea typeface="KoreanYNMYTL"/>
                          <a:cs typeface="KoreanYNMYTL"/>
                          <a:sym typeface="KoreanYNMYTL"/>
                        </a:rPr>
                        <a:t>결정계수</a:t>
                      </a:r>
                      <a:endParaRPr sz="900" dirty="0">
                        <a:solidFill>
                          <a:srgbClr val="FFFFFF"/>
                        </a:solidFill>
                        <a:latin typeface="KoreanYNMYTL"/>
                        <a:ea typeface="KoreanYNMYTL"/>
                        <a:cs typeface="KoreanYNMYTL"/>
                        <a:sym typeface="KoreanYNMYTL"/>
                      </a:endParaRPr>
                    </a:p>
                  </a:txBody>
                  <a:tcPr marL="14288" marR="14288" marT="14288" marB="14288" anchor="ctr" horzOverflow="overflow">
                    <a:solidFill>
                      <a:srgbClr val="80878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4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rgbClr val="FFFFFF"/>
                          </a:solidFill>
                          <a:latin typeface="KoreanYNMYTL"/>
                          <a:ea typeface="KoreanYNMYTL"/>
                          <a:cs typeface="KoreanYNMYTL"/>
                          <a:sym typeface="KoreanYNMYTL"/>
                        </a:rPr>
                        <a:t>효과 크기</a:t>
                      </a:r>
                    </a:p>
                  </a:txBody>
                  <a:tcPr marL="14288" marR="14288" marT="14288" marB="14288" anchor="ctr" horzOverflow="overflow">
                    <a:solidFill>
                      <a:srgbClr val="8087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646">
                <a:tc>
                  <a:txBody>
                    <a:bodyPr/>
                    <a:lstStyle/>
                    <a:p>
                      <a:pPr algn="ctr" defTabSz="584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KoreanYNMYTL"/>
                          <a:ea typeface="KoreanYNMYTL"/>
                          <a:cs typeface="KoreanYNMYTL"/>
                          <a:sym typeface="KoreanYNMYTL"/>
                        </a:rPr>
                        <a:t>large</a:t>
                      </a:r>
                    </a:p>
                  </a:txBody>
                  <a:tcPr marL="14288" marR="14288" marT="14288" marB="14288" anchor="ctr" horzOverflow="overflow"/>
                </a:tc>
                <a:tc>
                  <a:txBody>
                    <a:bodyPr/>
                    <a:lstStyle/>
                    <a:p>
                      <a:pPr algn="ctr" defTabSz="584200">
                        <a:defRPr sz="2900">
                          <a:latin typeface="KoreanYNMYTL"/>
                          <a:ea typeface="KoreanYNMYTL"/>
                          <a:cs typeface="KoreanYNMYTL"/>
                          <a:sym typeface="KoreanYNMYTL"/>
                        </a:defRPr>
                      </a:pPr>
                      <a:r>
                        <a:rPr sz="900" dirty="0">
                          <a:solidFill>
                            <a:schemeClr val="tx1"/>
                          </a:solidFill>
                        </a:rPr>
                        <a:t>0.26 ≦ R</a:t>
                      </a:r>
                      <a:r>
                        <a:rPr sz="900" baseline="31999" dirty="0">
                          <a:solidFill>
                            <a:schemeClr val="tx1"/>
                          </a:solidFill>
                          <a:latin typeface="Al Bayan Plain"/>
                          <a:ea typeface="Al Bayan Plain"/>
                          <a:cs typeface="Al Bayan Plain"/>
                          <a:sym typeface="Al Bayan Plain"/>
                        </a:rPr>
                        <a:t>2</a:t>
                      </a:r>
                    </a:p>
                  </a:txBody>
                  <a:tcPr marL="14288" marR="14288" marT="14288" marB="14288" anchor="ctr" horzOverflow="overflow"/>
                </a:tc>
                <a:tc>
                  <a:txBody>
                    <a:bodyPr/>
                    <a:lstStyle/>
                    <a:p>
                      <a:pPr algn="ctr" defTabSz="584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KoreanYNMYTL"/>
                          <a:ea typeface="KoreanYNMYTL"/>
                          <a:cs typeface="KoreanYNMYTL"/>
                          <a:sym typeface="KoreanYNMYTL"/>
                        </a:rPr>
                        <a:t>0.35</a:t>
                      </a:r>
                    </a:p>
                  </a:txBody>
                  <a:tcPr marL="14288" marR="14288" marT="14288" marB="14288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646">
                <a:tc>
                  <a:txBody>
                    <a:bodyPr/>
                    <a:lstStyle/>
                    <a:p>
                      <a:pPr algn="ctr" defTabSz="584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>
                          <a:solidFill>
                            <a:schemeClr val="tx1"/>
                          </a:solidFill>
                          <a:latin typeface="KoreanYNMYTL"/>
                          <a:ea typeface="KoreanYNMYTL"/>
                          <a:cs typeface="KoreanYNMYTL"/>
                          <a:sym typeface="KoreanYNMYTL"/>
                        </a:rPr>
                        <a:t>middle</a:t>
                      </a:r>
                    </a:p>
                  </a:txBody>
                  <a:tcPr marL="14288" marR="14288" marT="14288" marB="14288" anchor="ctr" horzOverflow="overflow"/>
                </a:tc>
                <a:tc>
                  <a:txBody>
                    <a:bodyPr/>
                    <a:lstStyle/>
                    <a:p>
                      <a:pPr algn="ctr" defTabSz="584200">
                        <a:defRPr sz="2900">
                          <a:latin typeface="KoreanYNMYTL"/>
                          <a:ea typeface="KoreanYNMYTL"/>
                          <a:cs typeface="KoreanYNMYTL"/>
                          <a:sym typeface="KoreanYNMYTL"/>
                        </a:defRPr>
                      </a:pPr>
                      <a:r>
                        <a:rPr sz="900" dirty="0">
                          <a:solidFill>
                            <a:schemeClr val="tx1"/>
                          </a:solidFill>
                        </a:rPr>
                        <a:t>0.13 ≦ R</a:t>
                      </a:r>
                      <a:r>
                        <a:rPr sz="900" baseline="31999" dirty="0">
                          <a:solidFill>
                            <a:schemeClr val="tx1"/>
                          </a:solidFill>
                          <a:latin typeface="Al Bayan Plain"/>
                          <a:ea typeface="Al Bayan Plain"/>
                          <a:cs typeface="Al Bayan Plain"/>
                          <a:sym typeface="Al Bayan Plain"/>
                        </a:rPr>
                        <a:t>2 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08SeoulNamsan L"/>
                          <a:ea typeface="08SeoulNamsan L"/>
                          <a:cs typeface="08SeoulNamsan L"/>
                          <a:sym typeface="08SeoulNamsan L"/>
                        </a:rPr>
                        <a:t>&lt;</a:t>
                      </a:r>
                      <a:r>
                        <a:rPr sz="900" baseline="31999" dirty="0">
                          <a:solidFill>
                            <a:schemeClr val="tx1"/>
                          </a:solidFill>
                          <a:latin typeface="Al Bayan Plain"/>
                          <a:ea typeface="Al Bayan Plain"/>
                          <a:cs typeface="Al Bayan Plain"/>
                          <a:sym typeface="Al Bayan Plain"/>
                        </a:rPr>
                        <a:t>  </a:t>
                      </a:r>
                      <a:r>
                        <a:rPr sz="900" dirty="0">
                          <a:solidFill>
                            <a:schemeClr val="tx1"/>
                          </a:solidFill>
                        </a:rPr>
                        <a:t>0.26</a:t>
                      </a:r>
                    </a:p>
                  </a:txBody>
                  <a:tcPr marL="14288" marR="14288" marT="14288" marB="14288" anchor="ctr" horzOverflow="overflow"/>
                </a:tc>
                <a:tc>
                  <a:txBody>
                    <a:bodyPr/>
                    <a:lstStyle/>
                    <a:p>
                      <a:pPr algn="ctr" defTabSz="584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KoreanYNMYTL"/>
                          <a:ea typeface="KoreanYNMYTL"/>
                          <a:cs typeface="KoreanYNMYTL"/>
                          <a:sym typeface="KoreanYNMYTL"/>
                        </a:rPr>
                        <a:t>0.15</a:t>
                      </a:r>
                    </a:p>
                  </a:txBody>
                  <a:tcPr marL="14288" marR="14288" marT="14288" marB="14288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646">
                <a:tc>
                  <a:txBody>
                    <a:bodyPr/>
                    <a:lstStyle/>
                    <a:p>
                      <a:pPr algn="ctr" defTabSz="584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KoreanYNMYTL"/>
                          <a:ea typeface="KoreanYNMYTL"/>
                          <a:cs typeface="KoreanYNMYTL"/>
                          <a:sym typeface="KoreanYNMYTL"/>
                        </a:rPr>
                        <a:t>small</a:t>
                      </a:r>
                    </a:p>
                  </a:txBody>
                  <a:tcPr marL="14288" marR="14288" marT="14288" marB="14288" anchor="ctr" horzOverflow="overflow"/>
                </a:tc>
                <a:tc>
                  <a:txBody>
                    <a:bodyPr/>
                    <a:lstStyle/>
                    <a:p>
                      <a:pPr algn="ctr" defTabSz="584200">
                        <a:defRPr sz="2900">
                          <a:latin typeface="KoreanYNMYTL"/>
                          <a:ea typeface="KoreanYNMYTL"/>
                          <a:cs typeface="KoreanYNMYTL"/>
                          <a:sym typeface="KoreanYNMYTL"/>
                        </a:defRPr>
                      </a:pPr>
                      <a:r>
                        <a:rPr sz="900" dirty="0">
                          <a:solidFill>
                            <a:schemeClr val="tx1"/>
                          </a:solidFill>
                        </a:rPr>
                        <a:t>0.02 ≦ R</a:t>
                      </a:r>
                      <a:r>
                        <a:rPr sz="900" baseline="31999" dirty="0">
                          <a:solidFill>
                            <a:schemeClr val="tx1"/>
                          </a:solidFill>
                          <a:latin typeface="Al Bayan Plain"/>
                          <a:ea typeface="Al Bayan Plain"/>
                          <a:cs typeface="Al Bayan Plain"/>
                          <a:sym typeface="Al Bayan Plain"/>
                        </a:rPr>
                        <a:t>2 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08SeoulNamsan L"/>
                          <a:ea typeface="08SeoulNamsan L"/>
                          <a:cs typeface="08SeoulNamsan L"/>
                          <a:sym typeface="08SeoulNamsan L"/>
                        </a:rPr>
                        <a:t>&lt; </a:t>
                      </a:r>
                      <a:r>
                        <a:rPr sz="900" dirty="0">
                          <a:solidFill>
                            <a:schemeClr val="tx1"/>
                          </a:solidFill>
                        </a:rPr>
                        <a:t>0.13</a:t>
                      </a:r>
                    </a:p>
                  </a:txBody>
                  <a:tcPr marL="14288" marR="14288" marT="14288" marB="14288" anchor="ctr" horzOverflow="overflow"/>
                </a:tc>
                <a:tc>
                  <a:txBody>
                    <a:bodyPr/>
                    <a:lstStyle/>
                    <a:p>
                      <a:pPr algn="ctr" defTabSz="584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KoreanYNMYTL"/>
                          <a:ea typeface="KoreanYNMYTL"/>
                          <a:cs typeface="KoreanYNMYTL"/>
                          <a:sym typeface="KoreanYNMYTL"/>
                        </a:rPr>
                        <a:t>0.02</a:t>
                      </a:r>
                    </a:p>
                  </a:txBody>
                  <a:tcPr marL="14288" marR="14288" marT="14288" marB="14288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00" name="Line"/>
          <p:cNvSpPr/>
          <p:nvPr/>
        </p:nvSpPr>
        <p:spPr>
          <a:xfrm>
            <a:off x="5467103" y="2732290"/>
            <a:ext cx="1362911" cy="0"/>
          </a:xfrm>
          <a:prstGeom prst="line">
            <a:avLst/>
          </a:prstGeom>
          <a:ln w="12700">
            <a:solidFill>
              <a:srgbClr val="5A5F5E"/>
            </a:solidFill>
            <a:miter lim="400000"/>
          </a:ln>
        </p:spPr>
        <p:txBody>
          <a:bodyPr lIns="14288" tIns="14288" rIns="14288" bIns="14288" anchor="ctr"/>
          <a:lstStyle/>
          <a:p>
            <a:pPr algn="ctr" defTabSz="164306">
              <a:defRPr sz="3600" spc="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endParaRPr sz="1013"/>
          </a:p>
        </p:txBody>
      </p:sp>
      <p:sp>
        <p:nvSpPr>
          <p:cNvPr id="701" name="Line"/>
          <p:cNvSpPr/>
          <p:nvPr/>
        </p:nvSpPr>
        <p:spPr>
          <a:xfrm>
            <a:off x="5467102" y="2189365"/>
            <a:ext cx="1362911" cy="0"/>
          </a:xfrm>
          <a:prstGeom prst="line">
            <a:avLst/>
          </a:prstGeom>
          <a:ln w="12700">
            <a:solidFill>
              <a:srgbClr val="5A5F5E"/>
            </a:solidFill>
            <a:miter lim="400000"/>
          </a:ln>
        </p:spPr>
        <p:txBody>
          <a:bodyPr lIns="14288" tIns="14288" rIns="14288" bIns="14288" anchor="ctr"/>
          <a:lstStyle/>
          <a:p>
            <a:pPr algn="ctr" defTabSz="164306">
              <a:defRPr sz="3600" spc="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endParaRPr sz="1013"/>
          </a:p>
        </p:txBody>
      </p:sp>
      <p:sp>
        <p:nvSpPr>
          <p:cNvPr id="702" name="Line"/>
          <p:cNvSpPr/>
          <p:nvPr/>
        </p:nvSpPr>
        <p:spPr>
          <a:xfrm>
            <a:off x="5467103" y="2492003"/>
            <a:ext cx="996893" cy="0"/>
          </a:xfrm>
          <a:prstGeom prst="line">
            <a:avLst/>
          </a:prstGeom>
          <a:ln w="12700">
            <a:solidFill>
              <a:srgbClr val="5A5F5E"/>
            </a:solidFill>
            <a:miter lim="400000"/>
          </a:ln>
        </p:spPr>
        <p:txBody>
          <a:bodyPr lIns="14288" tIns="14288" rIns="14288" bIns="14288" anchor="ctr"/>
          <a:lstStyle/>
          <a:p>
            <a:pPr algn="ctr" defTabSz="164306">
              <a:defRPr sz="3600" spc="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endParaRPr sz="1013"/>
          </a:p>
        </p:txBody>
      </p:sp>
      <p:sp>
        <p:nvSpPr>
          <p:cNvPr id="703" name="Line"/>
          <p:cNvSpPr/>
          <p:nvPr/>
        </p:nvSpPr>
        <p:spPr>
          <a:xfrm>
            <a:off x="6465782" y="2189365"/>
            <a:ext cx="0" cy="986112"/>
          </a:xfrm>
          <a:prstGeom prst="line">
            <a:avLst/>
          </a:prstGeom>
          <a:ln w="12700">
            <a:solidFill>
              <a:srgbClr val="5A5F5E"/>
            </a:solidFill>
            <a:custDash>
              <a:ds d="200000" sp="200000"/>
            </a:custDash>
            <a:miter lim="400000"/>
          </a:ln>
        </p:spPr>
        <p:txBody>
          <a:bodyPr lIns="14288" tIns="14288" rIns="14288" bIns="14288" anchor="ctr"/>
          <a:lstStyle/>
          <a:p>
            <a:pPr algn="ctr" defTabSz="164306">
              <a:defRPr sz="3600" spc="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endParaRPr sz="1013"/>
          </a:p>
        </p:txBody>
      </p:sp>
      <p:sp>
        <p:nvSpPr>
          <p:cNvPr id="704" name="Circle"/>
          <p:cNvSpPr/>
          <p:nvPr/>
        </p:nvSpPr>
        <p:spPr>
          <a:xfrm>
            <a:off x="6459300" y="2182900"/>
            <a:ext cx="16535" cy="16502"/>
          </a:xfrm>
          <a:prstGeom prst="ellipse">
            <a:avLst/>
          </a:prstGeom>
          <a:solidFill>
            <a:srgbClr val="808785"/>
          </a:solidFill>
          <a:ln w="12700">
            <a:miter lim="400000"/>
          </a:ln>
        </p:spPr>
        <p:txBody>
          <a:bodyPr lIns="14288" tIns="14288" rIns="14288" bIns="14288" anchor="ctr"/>
          <a:lstStyle/>
          <a:p>
            <a:pPr algn="ctr" defTabSz="164306">
              <a:defRPr sz="3600" spc="0">
                <a:latin typeface="Gill Sans Light"/>
                <a:ea typeface="Gill Sans Light"/>
                <a:cs typeface="Gill Sans Light"/>
                <a:sym typeface="Gill Sans Light"/>
              </a:defRPr>
            </a:pPr>
            <a:endParaRPr sz="1013"/>
          </a:p>
        </p:txBody>
      </p:sp>
      <p:sp>
        <p:nvSpPr>
          <p:cNvPr id="705" name="Line"/>
          <p:cNvSpPr/>
          <p:nvPr/>
        </p:nvSpPr>
        <p:spPr>
          <a:xfrm flipV="1">
            <a:off x="6334877" y="2197149"/>
            <a:ext cx="0" cy="287071"/>
          </a:xfrm>
          <a:prstGeom prst="line">
            <a:avLst/>
          </a:prstGeom>
          <a:ln w="12700">
            <a:solidFill>
              <a:srgbClr val="5A5F5E"/>
            </a:solidFill>
            <a:miter lim="400000"/>
            <a:headEnd type="arrow"/>
            <a:tailEnd type="arrow"/>
          </a:ln>
        </p:spPr>
        <p:txBody>
          <a:bodyPr lIns="14288" tIns="14288" rIns="14288" bIns="14288" anchor="ctr"/>
          <a:lstStyle/>
          <a:p>
            <a:pPr algn="ctr" defTabSz="164306">
              <a:defRPr sz="3600" spc="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endParaRPr sz="1013"/>
          </a:p>
        </p:txBody>
      </p:sp>
      <p:sp>
        <p:nvSpPr>
          <p:cNvPr id="706" name="Line"/>
          <p:cNvSpPr/>
          <p:nvPr/>
        </p:nvSpPr>
        <p:spPr>
          <a:xfrm flipV="1">
            <a:off x="6334877" y="2501938"/>
            <a:ext cx="0" cy="209954"/>
          </a:xfrm>
          <a:prstGeom prst="line">
            <a:avLst/>
          </a:prstGeom>
          <a:ln w="12700">
            <a:solidFill>
              <a:srgbClr val="5A5F5E"/>
            </a:solidFill>
            <a:miter lim="400000"/>
            <a:headEnd type="arrow"/>
            <a:tailEnd type="arrow"/>
          </a:ln>
        </p:spPr>
        <p:txBody>
          <a:bodyPr lIns="14288" tIns="14288" rIns="14288" bIns="14288" anchor="ctr"/>
          <a:lstStyle/>
          <a:p>
            <a:pPr algn="ctr" defTabSz="164306">
              <a:defRPr sz="3600" spc="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endParaRPr sz="1013"/>
          </a:p>
        </p:txBody>
      </p:sp>
      <p:sp>
        <p:nvSpPr>
          <p:cNvPr id="707" name="Line"/>
          <p:cNvSpPr/>
          <p:nvPr/>
        </p:nvSpPr>
        <p:spPr>
          <a:xfrm flipV="1">
            <a:off x="6674205" y="2198509"/>
            <a:ext cx="0" cy="513383"/>
          </a:xfrm>
          <a:prstGeom prst="line">
            <a:avLst/>
          </a:prstGeom>
          <a:ln w="12700">
            <a:solidFill>
              <a:srgbClr val="5A5F5E"/>
            </a:solidFill>
            <a:miter lim="400000"/>
            <a:headEnd type="arrow"/>
            <a:tailEnd type="arrow"/>
          </a:ln>
        </p:spPr>
        <p:txBody>
          <a:bodyPr lIns="14288" tIns="14288" rIns="14288" bIns="14288" anchor="ctr"/>
          <a:lstStyle/>
          <a:p>
            <a:pPr algn="ctr" defTabSz="164306">
              <a:defRPr sz="3600" spc="0">
                <a:solidFill>
                  <a:srgbClr val="535353"/>
                </a:solidFill>
                <a:latin typeface="Gill Sans Light"/>
                <a:ea typeface="Gill Sans Light"/>
                <a:cs typeface="Gill Sans Light"/>
                <a:sym typeface="Gill Sans Light"/>
              </a:defRPr>
            </a:pPr>
            <a:endParaRPr sz="1013"/>
          </a:p>
        </p:txBody>
      </p:sp>
      <p:sp>
        <p:nvSpPr>
          <p:cNvPr id="708" name="A"/>
          <p:cNvSpPr txBox="1"/>
          <p:nvPr/>
        </p:nvSpPr>
        <p:spPr>
          <a:xfrm>
            <a:off x="6571245" y="2425585"/>
            <a:ext cx="89770" cy="1154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>
            <a:lvl1pPr algn="ctr" defTabSz="584200">
              <a:spcBef>
                <a:spcPts val="0"/>
              </a:spcBef>
              <a:defRPr sz="2000" b="1" spc="0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rPr sz="563"/>
              <a:t>A</a:t>
            </a:r>
          </a:p>
        </p:txBody>
      </p:sp>
      <p:sp>
        <p:nvSpPr>
          <p:cNvPr id="709" name="B"/>
          <p:cNvSpPr txBox="1"/>
          <p:nvPr/>
        </p:nvSpPr>
        <p:spPr>
          <a:xfrm>
            <a:off x="6235123" y="2298068"/>
            <a:ext cx="83357" cy="1154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>
            <a:lvl1pPr algn="ctr" defTabSz="584200">
              <a:spcBef>
                <a:spcPts val="0"/>
              </a:spcBef>
              <a:defRPr sz="2000" b="1" spc="0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rPr sz="563"/>
              <a:t>B</a:t>
            </a:r>
          </a:p>
        </p:txBody>
      </p:sp>
      <p:sp>
        <p:nvSpPr>
          <p:cNvPr id="710" name="C"/>
          <p:cNvSpPr txBox="1"/>
          <p:nvPr/>
        </p:nvSpPr>
        <p:spPr>
          <a:xfrm>
            <a:off x="6235924" y="2570456"/>
            <a:ext cx="81755" cy="1154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>
            <a:lvl1pPr algn="ctr" defTabSz="584200">
              <a:spcBef>
                <a:spcPts val="0"/>
              </a:spcBef>
              <a:defRPr sz="2000" b="1" spc="0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rPr sz="563"/>
              <a:t>C</a:t>
            </a:r>
          </a:p>
        </p:txBody>
      </p:sp>
      <p:pic>
        <p:nvPicPr>
          <p:cNvPr id="711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9225" y="2093604"/>
            <a:ext cx="167879" cy="178594"/>
          </a:xfrm>
          <a:prstGeom prst="rect">
            <a:avLst/>
          </a:prstGeom>
          <a:ln w="12700">
            <a:miter lim="400000"/>
          </a:ln>
        </p:spPr>
      </p:pic>
      <p:pic>
        <p:nvPicPr>
          <p:cNvPr id="712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6008" y="2365664"/>
            <a:ext cx="214313" cy="207169"/>
          </a:xfrm>
          <a:prstGeom prst="rect">
            <a:avLst/>
          </a:prstGeom>
          <a:ln w="12700">
            <a:miter lim="400000"/>
          </a:ln>
        </p:spPr>
      </p:pic>
      <p:pic>
        <p:nvPicPr>
          <p:cNvPr id="713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6901" y="1839576"/>
            <a:ext cx="745144" cy="26691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4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9041" y="2856896"/>
            <a:ext cx="800658" cy="266886"/>
          </a:xfrm>
          <a:prstGeom prst="rect">
            <a:avLst/>
          </a:prstGeom>
          <a:ln w="12700">
            <a:miter lim="400000"/>
          </a:ln>
        </p:spPr>
      </p:pic>
      <p:pic>
        <p:nvPicPr>
          <p:cNvPr id="715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6008" y="2620590"/>
            <a:ext cx="167879" cy="214313"/>
          </a:xfrm>
          <a:prstGeom prst="rect">
            <a:avLst/>
          </a:prstGeom>
          <a:ln w="12700">
            <a:miter lim="400000"/>
          </a:ln>
        </p:spPr>
      </p:pic>
      <p:pic>
        <p:nvPicPr>
          <p:cNvPr id="716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60827" y="2305041"/>
            <a:ext cx="757377" cy="227743"/>
          </a:xfrm>
          <a:prstGeom prst="rect">
            <a:avLst/>
          </a:prstGeom>
          <a:ln w="12700">
            <a:miter lim="400000"/>
          </a:ln>
        </p:spPr>
      </p:pic>
      <p:sp>
        <p:nvSpPr>
          <p:cNvPr id="717" name="총 편차"/>
          <p:cNvSpPr txBox="1"/>
          <p:nvPr/>
        </p:nvSpPr>
        <p:spPr>
          <a:xfrm>
            <a:off x="3075285" y="1877802"/>
            <a:ext cx="434415" cy="19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sz="1050" dirty="0" err="1">
                <a:latin typeface="ChosunilboNM" panose="02030304000000000000" pitchFamily="18" charset="-128"/>
              </a:rPr>
              <a:t>총</a:t>
            </a:r>
            <a:r>
              <a:rPr sz="1050" dirty="0">
                <a:latin typeface="ChosunilboNM" panose="02030304000000000000" pitchFamily="18" charset="-128"/>
              </a:rPr>
              <a:t> </a:t>
            </a:r>
            <a:r>
              <a:rPr sz="1050" dirty="0" err="1">
                <a:latin typeface="ChosunilboNM" panose="02030304000000000000" pitchFamily="18" charset="-128"/>
              </a:rPr>
              <a:t>편차</a:t>
            </a:r>
            <a:endParaRPr sz="1050" dirty="0">
              <a:latin typeface="ChosunilboNM" panose="02030304000000000000" pitchFamily="18" charset="-128"/>
            </a:endParaRPr>
          </a:p>
        </p:txBody>
      </p:sp>
      <p:sp>
        <p:nvSpPr>
          <p:cNvPr id="718" name="회귀방정식으로 설명되지 않는 편차"/>
          <p:cNvSpPr txBox="1"/>
          <p:nvPr/>
        </p:nvSpPr>
        <p:spPr>
          <a:xfrm>
            <a:off x="3066906" y="2323695"/>
            <a:ext cx="1976504" cy="19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sz="1050" dirty="0" err="1">
                <a:latin typeface="ChosunilboNM" panose="02030304000000000000" pitchFamily="18" charset="-128"/>
              </a:rPr>
              <a:t>회귀방정식으로</a:t>
            </a:r>
            <a:r>
              <a:rPr sz="1050" dirty="0">
                <a:latin typeface="ChosunilboNM" panose="02030304000000000000" pitchFamily="18" charset="-128"/>
              </a:rPr>
              <a:t> </a:t>
            </a:r>
            <a:r>
              <a:rPr sz="1050" dirty="0" err="1">
                <a:latin typeface="ChosunilboNM" panose="02030304000000000000" pitchFamily="18" charset="-128"/>
              </a:rPr>
              <a:t>설명되지</a:t>
            </a:r>
            <a:r>
              <a:rPr sz="1050" dirty="0">
                <a:latin typeface="ChosunilboNM" panose="02030304000000000000" pitchFamily="18" charset="-128"/>
              </a:rPr>
              <a:t> </a:t>
            </a:r>
            <a:r>
              <a:rPr sz="1050" dirty="0" err="1">
                <a:latin typeface="ChosunilboNM" panose="02030304000000000000" pitchFamily="18" charset="-128"/>
              </a:rPr>
              <a:t>않는</a:t>
            </a:r>
            <a:r>
              <a:rPr sz="1050" dirty="0">
                <a:latin typeface="ChosunilboNM" panose="02030304000000000000" pitchFamily="18" charset="-128"/>
              </a:rPr>
              <a:t> </a:t>
            </a:r>
            <a:r>
              <a:rPr sz="1050" dirty="0" err="1">
                <a:latin typeface="ChosunilboNM" panose="02030304000000000000" pitchFamily="18" charset="-128"/>
              </a:rPr>
              <a:t>편차</a:t>
            </a:r>
            <a:endParaRPr sz="1050" dirty="0">
              <a:latin typeface="ChosunilboNM" panose="02030304000000000000" pitchFamily="18" charset="-128"/>
            </a:endParaRPr>
          </a:p>
        </p:txBody>
      </p:sp>
      <p:sp>
        <p:nvSpPr>
          <p:cNvPr id="719" name="회귀방정식으로 설명되는 편차"/>
          <p:cNvSpPr txBox="1"/>
          <p:nvPr/>
        </p:nvSpPr>
        <p:spPr>
          <a:xfrm>
            <a:off x="3067170" y="2902496"/>
            <a:ext cx="1692772" cy="19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sz="1050" dirty="0" err="1">
                <a:latin typeface="ChosunilboNM" panose="02030304000000000000" pitchFamily="18" charset="-128"/>
              </a:rPr>
              <a:t>회귀방정식으로</a:t>
            </a:r>
            <a:r>
              <a:rPr sz="1050" dirty="0">
                <a:latin typeface="ChosunilboNM" panose="02030304000000000000" pitchFamily="18" charset="-128"/>
              </a:rPr>
              <a:t> </a:t>
            </a:r>
            <a:r>
              <a:rPr sz="1050" dirty="0" err="1">
                <a:latin typeface="ChosunilboNM" panose="02030304000000000000" pitchFamily="18" charset="-128"/>
              </a:rPr>
              <a:t>설명되는</a:t>
            </a:r>
            <a:r>
              <a:rPr sz="1050" dirty="0">
                <a:latin typeface="ChosunilboNM" panose="02030304000000000000" pitchFamily="18" charset="-128"/>
              </a:rPr>
              <a:t> </a:t>
            </a:r>
            <a:r>
              <a:rPr sz="1050" dirty="0" err="1">
                <a:latin typeface="ChosunilboNM" panose="02030304000000000000" pitchFamily="18" charset="-128"/>
              </a:rPr>
              <a:t>편차</a:t>
            </a:r>
            <a:endParaRPr sz="1050" dirty="0">
              <a:latin typeface="ChosunilboNM" panose="02030304000000000000" pitchFamily="18" charset="-128"/>
            </a:endParaRPr>
          </a:p>
        </p:txBody>
      </p:sp>
      <p:sp>
        <p:nvSpPr>
          <p:cNvPr id="2" name="직사각형 2">
            <a:extLst>
              <a:ext uri="{FF2B5EF4-FFF2-40B4-BE49-F238E27FC236}">
                <a16:creationId xmlns:a16="http://schemas.microsoft.com/office/drawing/2014/main" id="{3148604B-5B28-21EE-1CA3-451BAB89BA01}"/>
              </a:ext>
            </a:extLst>
          </p:cNvPr>
          <p:cNvSpPr/>
          <p:nvPr/>
        </p:nvSpPr>
        <p:spPr>
          <a:xfrm>
            <a:off x="732226" y="960850"/>
            <a:ext cx="7679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u="sng" spc="-300" dirty="0">
                <a:solidFill>
                  <a:schemeClr val="bg1">
                    <a:lumMod val="7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회귀분석</a:t>
            </a:r>
            <a:r>
              <a:rPr lang="ko-KR" altLang="en-US" sz="2000" spc="-30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2000" spc="-30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Regression</a:t>
            </a:r>
          </a:p>
        </p:txBody>
      </p:sp>
      <p:sp>
        <p:nvSpPr>
          <p:cNvPr id="3" name="직사각형 3">
            <a:extLst>
              <a:ext uri="{FF2B5EF4-FFF2-40B4-BE49-F238E27FC236}">
                <a16:creationId xmlns:a16="http://schemas.microsoft.com/office/drawing/2014/main" id="{6851ABB9-3D25-24FF-26A2-110C307DDAD1}"/>
              </a:ext>
            </a:extLst>
          </p:cNvPr>
          <p:cNvSpPr/>
          <p:nvPr/>
        </p:nvSpPr>
        <p:spPr>
          <a:xfrm>
            <a:off x="500530" y="590968"/>
            <a:ext cx="6536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Section 04 |  </a:t>
            </a:r>
            <a:r>
              <a:rPr lang="ko-KR" altLang="en-US" sz="200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상관과 예측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Rectangle"/>
          <p:cNvSpPr/>
          <p:nvPr/>
        </p:nvSpPr>
        <p:spPr>
          <a:xfrm>
            <a:off x="1053463" y="2682765"/>
            <a:ext cx="5268533" cy="183190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76200" dir="18900000" rotWithShape="0">
              <a:srgbClr val="000000">
                <a:alpha val="80000"/>
              </a:srgbClr>
            </a:outerShdw>
          </a:effectLst>
        </p:spPr>
        <p:txBody>
          <a:bodyPr lIns="14288" tIns="14288" rIns="14288" bIns="14288" anchor="ctr"/>
          <a:lstStyle/>
          <a:p>
            <a:pPr algn="ctr">
              <a:defRPr sz="3200" spc="0">
                <a:effectLst>
                  <a:outerShdw blurRad="25400" dist="23998" dir="2700000" rotWithShape="0">
                    <a:srgbClr val="000000">
                      <a:alpha val="31034"/>
                    </a:srgbClr>
                  </a:outerShdw>
                </a:effectLst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200"/>
          </a:p>
        </p:txBody>
      </p:sp>
      <p:grpSp>
        <p:nvGrpSpPr>
          <p:cNvPr id="725" name="Group"/>
          <p:cNvGrpSpPr/>
          <p:nvPr/>
        </p:nvGrpSpPr>
        <p:grpSpPr>
          <a:xfrm>
            <a:off x="1025907" y="1759830"/>
            <a:ext cx="4389674" cy="599590"/>
            <a:chOff x="0" y="0"/>
            <a:chExt cx="8759329" cy="2131872"/>
          </a:xfrm>
        </p:grpSpPr>
        <p:sp>
          <p:nvSpPr>
            <p:cNvPr id="723" name="H0 :  독립변수는 종속변수에 영향을 주지 않는다."/>
            <p:cNvSpPr txBox="1"/>
            <p:nvPr/>
          </p:nvSpPr>
          <p:spPr>
            <a:xfrm>
              <a:off x="0" y="0"/>
              <a:ext cx="8759330" cy="9356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4288" tIns="14288" rIns="14288" bIns="14288" numCol="1" anchor="ctr">
              <a:noAutofit/>
            </a:bodyPr>
            <a:lstStyle/>
            <a:p>
              <a:pPr>
                <a:defRPr sz="3900" spc="-195"/>
              </a:pPr>
              <a:r>
                <a:rPr sz="1097" dirty="0">
                  <a:latin typeface="ChosunilboNM" panose="02030304000000000000" pitchFamily="18" charset="-128"/>
                </a:rPr>
                <a:t>H</a:t>
              </a:r>
              <a:r>
                <a:rPr sz="1097" baseline="-5999" dirty="0">
                  <a:latin typeface="ChosunilboNM" panose="02030304000000000000" pitchFamily="18" charset="-128"/>
                </a:rPr>
                <a:t>0</a:t>
              </a:r>
              <a:r>
                <a:rPr sz="1097" dirty="0">
                  <a:latin typeface="ChosunilboNM" panose="02030304000000000000" pitchFamily="18" charset="-128"/>
                </a:rPr>
                <a:t> :  </a:t>
              </a:r>
              <a:r>
                <a:rPr sz="1097" dirty="0" err="1">
                  <a:latin typeface="ChosunilboNM" panose="02030304000000000000" pitchFamily="18" charset="-128"/>
                </a:rPr>
                <a:t>독립변수는</a:t>
              </a:r>
              <a:r>
                <a:rPr sz="1097" dirty="0">
                  <a:latin typeface="ChosunilboNM" panose="02030304000000000000" pitchFamily="18" charset="-128"/>
                </a:rPr>
                <a:t> </a:t>
              </a:r>
              <a:r>
                <a:rPr sz="1097" dirty="0" err="1">
                  <a:latin typeface="ChosunilboNM" panose="02030304000000000000" pitchFamily="18" charset="-128"/>
                </a:rPr>
                <a:t>종속변수에</a:t>
              </a:r>
              <a:r>
                <a:rPr sz="1097" dirty="0">
                  <a:latin typeface="ChosunilboNM" panose="02030304000000000000" pitchFamily="18" charset="-128"/>
                </a:rPr>
                <a:t> </a:t>
              </a:r>
              <a:r>
                <a:rPr sz="1097" dirty="0" err="1">
                  <a:latin typeface="ChosunilboNM" panose="02030304000000000000" pitchFamily="18" charset="-128"/>
                </a:rPr>
                <a:t>영향을</a:t>
              </a:r>
              <a:r>
                <a:rPr sz="1097" dirty="0">
                  <a:latin typeface="ChosunilboNM" panose="02030304000000000000" pitchFamily="18" charset="-128"/>
                </a:rPr>
                <a:t> </a:t>
              </a:r>
              <a:r>
                <a:rPr sz="1097" dirty="0" err="1">
                  <a:latin typeface="ChosunilboNM" panose="02030304000000000000" pitchFamily="18" charset="-128"/>
                </a:rPr>
                <a:t>주지</a:t>
              </a:r>
              <a:r>
                <a:rPr sz="1097" dirty="0">
                  <a:latin typeface="ChosunilboNM" panose="02030304000000000000" pitchFamily="18" charset="-128"/>
                </a:rPr>
                <a:t> </a:t>
              </a:r>
              <a:r>
                <a:rPr sz="1097" dirty="0" err="1">
                  <a:latin typeface="ChosunilboNM" panose="02030304000000000000" pitchFamily="18" charset="-128"/>
                </a:rPr>
                <a:t>않는다</a:t>
              </a:r>
              <a:r>
                <a:rPr sz="1097" dirty="0">
                  <a:latin typeface="ChosunilboNM" panose="02030304000000000000" pitchFamily="18" charset="-128"/>
                </a:rPr>
                <a:t>.</a:t>
              </a:r>
            </a:p>
          </p:txBody>
        </p:sp>
        <p:sp>
          <p:nvSpPr>
            <p:cNvPr id="724" name="H1  :  독립변수는 종속변수에 영향을 준다."/>
            <p:cNvSpPr txBox="1"/>
            <p:nvPr/>
          </p:nvSpPr>
          <p:spPr>
            <a:xfrm>
              <a:off x="0" y="1196209"/>
              <a:ext cx="7507352" cy="9356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4288" tIns="14288" rIns="14288" bIns="14288" numCol="1" anchor="ctr">
              <a:noAutofit/>
            </a:bodyPr>
            <a:lstStyle/>
            <a:p>
              <a:r>
                <a:rPr sz="1097" spc="-55" dirty="0">
                  <a:latin typeface="ChosunilboNM" panose="02030304000000000000" pitchFamily="18" charset="-128"/>
                </a:rPr>
                <a:t>H</a:t>
              </a:r>
              <a:r>
                <a:rPr sz="1097" spc="-55" baseline="-5999" dirty="0">
                  <a:latin typeface="ChosunilboNM" panose="02030304000000000000" pitchFamily="18" charset="-128"/>
                </a:rPr>
                <a:t>1</a:t>
              </a:r>
              <a:r>
                <a:rPr sz="1097" spc="-55" dirty="0">
                  <a:latin typeface="ChosunilboNM" panose="02030304000000000000" pitchFamily="18" charset="-128"/>
                </a:rPr>
                <a:t>  :  </a:t>
              </a:r>
              <a:r>
                <a:rPr sz="1097" spc="-55" dirty="0" err="1">
                  <a:latin typeface="ChosunilboNM" panose="02030304000000000000" pitchFamily="18" charset="-128"/>
                </a:rPr>
                <a:t>독립변수는</a:t>
              </a:r>
              <a:r>
                <a:rPr sz="1097" spc="-55" dirty="0">
                  <a:latin typeface="ChosunilboNM" panose="02030304000000000000" pitchFamily="18" charset="-128"/>
                </a:rPr>
                <a:t> </a:t>
              </a:r>
              <a:r>
                <a:rPr sz="1097" spc="-55" dirty="0" err="1">
                  <a:latin typeface="ChosunilboNM" panose="02030304000000000000" pitchFamily="18" charset="-128"/>
                </a:rPr>
                <a:t>종속변수에</a:t>
              </a:r>
              <a:r>
                <a:rPr sz="1097" spc="-55" dirty="0">
                  <a:latin typeface="ChosunilboNM" panose="02030304000000000000" pitchFamily="18" charset="-128"/>
                </a:rPr>
                <a:t> </a:t>
              </a:r>
              <a:r>
                <a:rPr sz="1097" spc="-55" dirty="0" err="1">
                  <a:latin typeface="ChosunilboNM" panose="02030304000000000000" pitchFamily="18" charset="-128"/>
                </a:rPr>
                <a:t>영향을</a:t>
              </a:r>
              <a:r>
                <a:rPr sz="1097" spc="-55" dirty="0">
                  <a:latin typeface="ChosunilboNM" panose="02030304000000000000" pitchFamily="18" charset="-128"/>
                </a:rPr>
                <a:t> </a:t>
              </a:r>
              <a:r>
                <a:rPr sz="1097" spc="-55" dirty="0" err="1">
                  <a:latin typeface="ChosunilboNM" panose="02030304000000000000" pitchFamily="18" charset="-128"/>
                </a:rPr>
                <a:t>준다</a:t>
              </a:r>
              <a:r>
                <a:rPr sz="1097" spc="-55" dirty="0">
                  <a:latin typeface="ChosunilboNM" panose="02030304000000000000" pitchFamily="18" charset="-128"/>
                </a:rPr>
                <a:t>.</a:t>
              </a:r>
            </a:p>
          </p:txBody>
        </p:sp>
      </p:grpSp>
      <p:pic>
        <p:nvPicPr>
          <p:cNvPr id="72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216" y="2879166"/>
            <a:ext cx="929823" cy="164306"/>
          </a:xfrm>
          <a:prstGeom prst="rect">
            <a:avLst/>
          </a:prstGeom>
          <a:ln w="12700">
            <a:miter lim="400000"/>
          </a:ln>
        </p:spPr>
      </p:pic>
      <p:pic>
        <p:nvPicPr>
          <p:cNvPr id="72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113" y="3170236"/>
            <a:ext cx="859926" cy="736510"/>
          </a:xfrm>
          <a:prstGeom prst="rect">
            <a:avLst/>
          </a:prstGeom>
          <a:ln w="12700">
            <a:miter lim="400000"/>
          </a:ln>
        </p:spPr>
      </p:pic>
      <p:sp>
        <p:nvSpPr>
          <p:cNvPr id="728" name="사용빈도"/>
          <p:cNvSpPr txBox="1"/>
          <p:nvPr/>
        </p:nvSpPr>
        <p:spPr>
          <a:xfrm>
            <a:off x="1285514" y="3207440"/>
            <a:ext cx="637997" cy="244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>
            <a:lvl1pPr algn="ctr" defTabSz="584200">
              <a:spcBef>
                <a:spcPts val="0"/>
              </a:spcBef>
              <a:defRPr sz="3600" spc="0">
                <a:solidFill>
                  <a:srgbClr val="535353"/>
                </a:solidFill>
                <a:latin typeface="KoreanYNMYTL"/>
                <a:ea typeface="KoreanYNMYTL"/>
                <a:cs typeface="KoreanYNMYTL"/>
                <a:sym typeface="KoreanYNMYTL"/>
              </a:defRPr>
            </a:lvl1pPr>
          </a:lstStyle>
          <a:p>
            <a:r>
              <a:rPr sz="1400"/>
              <a:t>사용빈도</a:t>
            </a:r>
          </a:p>
        </p:txBody>
      </p:sp>
      <p:sp>
        <p:nvSpPr>
          <p:cNvPr id="729" name="수리비용"/>
          <p:cNvSpPr txBox="1"/>
          <p:nvPr/>
        </p:nvSpPr>
        <p:spPr>
          <a:xfrm>
            <a:off x="1287426" y="3426543"/>
            <a:ext cx="625173" cy="244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>
            <a:lvl1pPr algn="ctr" defTabSz="584200">
              <a:spcBef>
                <a:spcPts val="0"/>
              </a:spcBef>
              <a:defRPr sz="3600" spc="0">
                <a:solidFill>
                  <a:srgbClr val="535353"/>
                </a:solidFill>
                <a:latin typeface="KoreanYNMYTL"/>
                <a:ea typeface="KoreanYNMYTL"/>
                <a:cs typeface="KoreanYNMYTL"/>
                <a:sym typeface="KoreanYNMYTL"/>
              </a:defRPr>
            </a:lvl1pPr>
          </a:lstStyle>
          <a:p>
            <a:r>
              <a:rPr sz="1400" dirty="0" err="1"/>
              <a:t>수리비용</a:t>
            </a:r>
            <a:endParaRPr sz="1400" dirty="0"/>
          </a:p>
        </p:txBody>
      </p:sp>
      <p:pic>
        <p:nvPicPr>
          <p:cNvPr id="730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0132" y="2992745"/>
            <a:ext cx="117872" cy="164306"/>
          </a:xfrm>
          <a:prstGeom prst="rect">
            <a:avLst/>
          </a:prstGeom>
          <a:ln w="12700">
            <a:miter lim="400000"/>
          </a:ln>
        </p:spPr>
      </p:pic>
      <p:pic>
        <p:nvPicPr>
          <p:cNvPr id="731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6566" y="2992745"/>
            <a:ext cx="117872" cy="164306"/>
          </a:xfrm>
          <a:prstGeom prst="rect">
            <a:avLst/>
          </a:prstGeom>
          <a:ln w="12700">
            <a:miter lim="400000"/>
          </a:ln>
        </p:spPr>
      </p:pic>
      <p:sp>
        <p:nvSpPr>
          <p:cNvPr id="732" name="532.37"/>
          <p:cNvSpPr txBox="1"/>
          <p:nvPr/>
        </p:nvSpPr>
        <p:spPr>
          <a:xfrm>
            <a:off x="2003879" y="3207868"/>
            <a:ext cx="455254" cy="244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>
            <a:lvl1pPr algn="ctr" defTabSz="584200">
              <a:spcBef>
                <a:spcPts val="0"/>
              </a:spcBef>
              <a:defRPr sz="3600" spc="0">
                <a:solidFill>
                  <a:srgbClr val="535353"/>
                </a:solidFill>
                <a:latin typeface="야놀자 야체 OTF Regular"/>
                <a:ea typeface="야놀자 야체 OTF Regular"/>
                <a:cs typeface="야놀자 야체 OTF Regular"/>
                <a:sym typeface="야놀자 야체 OTF Regular"/>
              </a:defRPr>
            </a:lvl1pPr>
          </a:lstStyle>
          <a:p>
            <a:r>
              <a:rPr sz="1400"/>
              <a:t>532.37</a:t>
            </a:r>
          </a:p>
        </p:txBody>
      </p:sp>
      <p:sp>
        <p:nvSpPr>
          <p:cNvPr id="733" name="2.67"/>
          <p:cNvSpPr txBox="1"/>
          <p:nvPr/>
        </p:nvSpPr>
        <p:spPr>
          <a:xfrm>
            <a:off x="2544365" y="3207440"/>
            <a:ext cx="302969" cy="244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>
            <a:lvl1pPr algn="ctr" defTabSz="584200">
              <a:spcBef>
                <a:spcPts val="0"/>
              </a:spcBef>
              <a:defRPr sz="3600" spc="0">
                <a:solidFill>
                  <a:srgbClr val="535353"/>
                </a:solidFill>
                <a:latin typeface="야놀자 야체 OTF Regular"/>
                <a:ea typeface="야놀자 야체 OTF Regular"/>
                <a:cs typeface="야놀자 야체 OTF Regular"/>
                <a:sym typeface="야놀자 야체 OTF Regular"/>
              </a:defRPr>
            </a:lvl1pPr>
          </a:lstStyle>
          <a:p>
            <a:r>
              <a:rPr sz="1400"/>
              <a:t>2.67</a:t>
            </a:r>
          </a:p>
        </p:txBody>
      </p:sp>
      <p:sp>
        <p:nvSpPr>
          <p:cNvPr id="734" name="23.18"/>
          <p:cNvSpPr txBox="1"/>
          <p:nvPr/>
        </p:nvSpPr>
        <p:spPr>
          <a:xfrm>
            <a:off x="2064113" y="3417131"/>
            <a:ext cx="349457" cy="244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>
            <a:lvl1pPr algn="ctr" defTabSz="584200">
              <a:spcBef>
                <a:spcPts val="0"/>
              </a:spcBef>
              <a:defRPr sz="3600" spc="0">
                <a:solidFill>
                  <a:srgbClr val="535353"/>
                </a:solidFill>
                <a:latin typeface="야놀자 야체 OTF Regular"/>
                <a:ea typeface="야놀자 야체 OTF Regular"/>
                <a:cs typeface="야놀자 야체 OTF Regular"/>
                <a:sym typeface="야놀자 야체 OTF Regular"/>
              </a:defRPr>
            </a:lvl1pPr>
          </a:lstStyle>
          <a:p>
            <a:r>
              <a:rPr sz="1400"/>
              <a:t>23.18</a:t>
            </a:r>
          </a:p>
        </p:txBody>
      </p:sp>
      <p:sp>
        <p:nvSpPr>
          <p:cNvPr id="735" name="0.27"/>
          <p:cNvSpPr txBox="1"/>
          <p:nvPr/>
        </p:nvSpPr>
        <p:spPr>
          <a:xfrm>
            <a:off x="2532721" y="3417131"/>
            <a:ext cx="302969" cy="244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>
            <a:lvl1pPr algn="ctr" defTabSz="584200">
              <a:spcBef>
                <a:spcPts val="0"/>
              </a:spcBef>
              <a:defRPr sz="3600" spc="0">
                <a:solidFill>
                  <a:srgbClr val="535353"/>
                </a:solidFill>
                <a:latin typeface="야놀자 야체 OTF Regular"/>
                <a:ea typeface="야놀자 야체 OTF Regular"/>
                <a:cs typeface="야놀자 야체 OTF Regular"/>
                <a:sym typeface="야놀자 야체 OTF Regular"/>
              </a:defRPr>
            </a:lvl1pPr>
          </a:lstStyle>
          <a:p>
            <a:r>
              <a:rPr sz="1400"/>
              <a:t>0.27</a:t>
            </a:r>
          </a:p>
        </p:txBody>
      </p:sp>
      <p:sp>
        <p:nvSpPr>
          <p:cNvPr id="736" name=".521"/>
          <p:cNvSpPr txBox="1"/>
          <p:nvPr/>
        </p:nvSpPr>
        <p:spPr>
          <a:xfrm>
            <a:off x="2994413" y="3210960"/>
            <a:ext cx="266099" cy="244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>
            <a:lvl1pPr algn="ctr" defTabSz="584200">
              <a:spcBef>
                <a:spcPts val="0"/>
              </a:spcBef>
              <a:defRPr sz="3600" spc="0">
                <a:solidFill>
                  <a:srgbClr val="535353"/>
                </a:solidFill>
                <a:latin typeface="야놀자 야체 OTF Regular"/>
                <a:ea typeface="야놀자 야체 OTF Regular"/>
                <a:cs typeface="야놀자 야체 OTF Regular"/>
                <a:sym typeface="야놀자 야체 OTF Regular"/>
              </a:defRPr>
            </a:lvl1pPr>
          </a:lstStyle>
          <a:p>
            <a:r>
              <a:rPr sz="1400"/>
              <a:t>.521</a:t>
            </a:r>
          </a:p>
        </p:txBody>
      </p:sp>
      <p:pic>
        <p:nvPicPr>
          <p:cNvPr id="737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6497" y="2992745"/>
            <a:ext cx="150019" cy="164306"/>
          </a:xfrm>
          <a:prstGeom prst="rect">
            <a:avLst/>
          </a:prstGeom>
          <a:ln w="12700">
            <a:miter lim="400000"/>
          </a:ln>
        </p:spPr>
      </p:pic>
      <p:sp>
        <p:nvSpPr>
          <p:cNvPr id="738" name="b1 = .521 * .27 / 2.67  =  0.052"/>
          <p:cNvSpPr txBox="1"/>
          <p:nvPr/>
        </p:nvSpPr>
        <p:spPr>
          <a:xfrm>
            <a:off x="1493396" y="3729088"/>
            <a:ext cx="1933223" cy="244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>
            <a:lvl1pPr defTabSz="584200">
              <a:spcBef>
                <a:spcPts val="0"/>
              </a:spcBef>
              <a:defRPr sz="3600" spc="0">
                <a:solidFill>
                  <a:srgbClr val="535353"/>
                </a:solidFill>
                <a:latin typeface="야놀자 야체 OTF Regular"/>
                <a:ea typeface="야놀자 야체 OTF Regular"/>
                <a:cs typeface="야놀자 야체 OTF Regular"/>
                <a:sym typeface="야놀자 야체 OTF Regular"/>
              </a:defRPr>
            </a:lvl1pPr>
          </a:lstStyle>
          <a:p>
            <a:r>
              <a:rPr sz="1400"/>
              <a:t>b1 = .521 * .27 / 2.67  =  0.052</a:t>
            </a:r>
          </a:p>
        </p:txBody>
      </p:sp>
      <p:sp>
        <p:nvSpPr>
          <p:cNvPr id="739" name="b0 = 23.18 - 0.052 * 532.37  = -4.868"/>
          <p:cNvSpPr txBox="1"/>
          <p:nvPr/>
        </p:nvSpPr>
        <p:spPr>
          <a:xfrm>
            <a:off x="1487889" y="3947721"/>
            <a:ext cx="2454199" cy="244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>
            <a:lvl1pPr defTabSz="584200">
              <a:spcBef>
                <a:spcPts val="0"/>
              </a:spcBef>
              <a:defRPr sz="3600" spc="0">
                <a:solidFill>
                  <a:srgbClr val="535353"/>
                </a:solidFill>
                <a:latin typeface="야놀자 야체 OTF Regular"/>
                <a:ea typeface="야놀자 야체 OTF Regular"/>
                <a:cs typeface="야놀자 야체 OTF Regular"/>
                <a:sym typeface="야놀자 야체 OTF Regular"/>
              </a:defRPr>
            </a:lvl1pPr>
          </a:lstStyle>
          <a:p>
            <a:r>
              <a:rPr sz="1400"/>
              <a:t>b0 = 23.18 - 0.052 * 532.37  = -4.868</a:t>
            </a:r>
          </a:p>
        </p:txBody>
      </p:sp>
      <p:sp>
        <p:nvSpPr>
          <p:cNvPr id="740" name="y = -4.868 + 0.052 * x"/>
          <p:cNvSpPr txBox="1"/>
          <p:nvPr/>
        </p:nvSpPr>
        <p:spPr>
          <a:xfrm>
            <a:off x="4438333" y="3973468"/>
            <a:ext cx="1485985" cy="244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>
            <a:lvl1pPr defTabSz="584200">
              <a:spcBef>
                <a:spcPts val="0"/>
              </a:spcBef>
              <a:defRPr sz="3600" spc="0">
                <a:solidFill>
                  <a:srgbClr val="535353"/>
                </a:solidFill>
                <a:latin typeface="야놀자 야체 OTF Regular"/>
                <a:ea typeface="야놀자 야체 OTF Regular"/>
                <a:cs typeface="야놀자 야체 OTF Regular"/>
                <a:sym typeface="야놀자 야체 OTF Regular"/>
              </a:defRPr>
            </a:lvl1pPr>
          </a:lstStyle>
          <a:p>
            <a:r>
              <a:rPr sz="1400"/>
              <a:t>y = -4.868 + 0.052 * x</a:t>
            </a:r>
          </a:p>
        </p:txBody>
      </p:sp>
      <p:sp>
        <p:nvSpPr>
          <p:cNvPr id="741" name="가설검정"/>
          <p:cNvSpPr txBox="1"/>
          <p:nvPr/>
        </p:nvSpPr>
        <p:spPr>
          <a:xfrm>
            <a:off x="821363" y="1398446"/>
            <a:ext cx="727764" cy="259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/>
          <a:p>
            <a:r>
              <a:rPr sz="1500" dirty="0" err="1">
                <a:latin typeface="ChosunilboNM" panose="02030304000000000000" pitchFamily="18" charset="-128"/>
              </a:rPr>
              <a:t>가설검정</a:t>
            </a:r>
            <a:endParaRPr sz="1500" dirty="0">
              <a:latin typeface="ChosunilboNM" panose="02030304000000000000" pitchFamily="18" charset="-128"/>
            </a:endParaRPr>
          </a:p>
        </p:txBody>
      </p:sp>
      <p:sp>
        <p:nvSpPr>
          <p:cNvPr id="742" name="n = 30"/>
          <p:cNvSpPr txBox="1"/>
          <p:nvPr/>
        </p:nvSpPr>
        <p:spPr>
          <a:xfrm>
            <a:off x="1478381" y="3018270"/>
            <a:ext cx="365487" cy="151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>
            <a:lvl1pPr algn="ctr" defTabSz="584200">
              <a:spcBef>
                <a:spcPts val="0"/>
              </a:spcBef>
              <a:defRPr sz="2600" spc="0">
                <a:solidFill>
                  <a:srgbClr val="000000"/>
                </a:solidFill>
                <a:latin typeface="KoreanYNMYTL"/>
                <a:ea typeface="KoreanYNMYTL"/>
                <a:cs typeface="KoreanYNMYTL"/>
                <a:sym typeface="KoreanYNMYTL"/>
              </a:defRPr>
            </a:lvl1pPr>
          </a:lstStyle>
          <a:p>
            <a:r>
              <a:rPr sz="800" dirty="0"/>
              <a:t>n = 30</a:t>
            </a:r>
          </a:p>
        </p:txBody>
      </p:sp>
      <p:sp>
        <p:nvSpPr>
          <p:cNvPr id="2" name="직사각형 2">
            <a:extLst>
              <a:ext uri="{FF2B5EF4-FFF2-40B4-BE49-F238E27FC236}">
                <a16:creationId xmlns:a16="http://schemas.microsoft.com/office/drawing/2014/main" id="{26C76BE2-2AAE-26BB-BDB9-A5B85C68B34C}"/>
              </a:ext>
            </a:extLst>
          </p:cNvPr>
          <p:cNvSpPr/>
          <p:nvPr/>
        </p:nvSpPr>
        <p:spPr>
          <a:xfrm>
            <a:off x="732226" y="960850"/>
            <a:ext cx="7679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u="sng" spc="-300" dirty="0">
                <a:solidFill>
                  <a:schemeClr val="bg1">
                    <a:lumMod val="7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회귀분석</a:t>
            </a:r>
            <a:r>
              <a:rPr lang="ko-KR" altLang="en-US" sz="2000" spc="-30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2000" spc="-30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Regression</a:t>
            </a:r>
          </a:p>
        </p:txBody>
      </p:sp>
      <p:sp>
        <p:nvSpPr>
          <p:cNvPr id="3" name="직사각형 3">
            <a:extLst>
              <a:ext uri="{FF2B5EF4-FFF2-40B4-BE49-F238E27FC236}">
                <a16:creationId xmlns:a16="http://schemas.microsoft.com/office/drawing/2014/main" id="{2F674D94-1E92-D2F0-2877-9D35E60D53FB}"/>
              </a:ext>
            </a:extLst>
          </p:cNvPr>
          <p:cNvSpPr/>
          <p:nvPr/>
        </p:nvSpPr>
        <p:spPr>
          <a:xfrm>
            <a:off x="500530" y="590968"/>
            <a:ext cx="6536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Section 04 |  </a:t>
            </a:r>
            <a:r>
              <a:rPr lang="ko-KR" altLang="en-US" sz="200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상관과 예측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Rectangle"/>
          <p:cNvSpPr/>
          <p:nvPr/>
        </p:nvSpPr>
        <p:spPr>
          <a:xfrm>
            <a:off x="2134994" y="1655796"/>
            <a:ext cx="5268533" cy="183190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76200" dir="18900000" rotWithShape="0">
              <a:srgbClr val="000000">
                <a:alpha val="80000"/>
              </a:srgbClr>
            </a:outerShdw>
          </a:effectLst>
        </p:spPr>
        <p:txBody>
          <a:bodyPr lIns="14288" tIns="14288" rIns="14288" bIns="14288" anchor="ctr"/>
          <a:lstStyle/>
          <a:p>
            <a:pPr algn="ctr">
              <a:defRPr sz="3200" spc="0">
                <a:effectLst>
                  <a:outerShdw blurRad="25400" dist="23998" dir="2700000" rotWithShape="0">
                    <a:srgbClr val="000000">
                      <a:alpha val="31034"/>
                    </a:srgbClr>
                  </a:outerShdw>
                </a:effectLst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900"/>
          </a:p>
        </p:txBody>
      </p:sp>
      <p:pic>
        <p:nvPicPr>
          <p:cNvPr id="74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457" y="2325773"/>
            <a:ext cx="614363" cy="371475"/>
          </a:xfrm>
          <a:prstGeom prst="rect">
            <a:avLst/>
          </a:prstGeom>
          <a:ln w="12700">
            <a:miter lim="400000"/>
          </a:ln>
        </p:spPr>
      </p:pic>
      <p:pic>
        <p:nvPicPr>
          <p:cNvPr id="74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457" y="1861016"/>
            <a:ext cx="614363" cy="371475"/>
          </a:xfrm>
          <a:prstGeom prst="rect">
            <a:avLst/>
          </a:prstGeom>
          <a:ln w="12700">
            <a:miter lim="400000"/>
          </a:ln>
        </p:spPr>
      </p:pic>
      <p:pic>
        <p:nvPicPr>
          <p:cNvPr id="748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5673" y="1839899"/>
            <a:ext cx="975122" cy="228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49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5673" y="2419368"/>
            <a:ext cx="1028700" cy="228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50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5673" y="2140350"/>
            <a:ext cx="1028700" cy="207169"/>
          </a:xfrm>
          <a:prstGeom prst="rect">
            <a:avLst/>
          </a:prstGeom>
          <a:ln w="12700">
            <a:miter lim="400000"/>
          </a:ln>
        </p:spPr>
      </p:pic>
      <p:sp>
        <p:nvSpPr>
          <p:cNvPr id="751" name="R2 = 0.521 ^ 2 = 0.271"/>
          <p:cNvSpPr txBox="1"/>
          <p:nvPr/>
        </p:nvSpPr>
        <p:spPr>
          <a:xfrm>
            <a:off x="2595672" y="2696173"/>
            <a:ext cx="1168591" cy="213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/>
          <a:p>
            <a:pPr defTabSz="164306">
              <a:defRPr sz="3600" spc="0">
                <a:solidFill>
                  <a:srgbClr val="535353"/>
                </a:solidFill>
                <a:latin typeface="야놀자 야체 OTF Regular"/>
                <a:ea typeface="야놀자 야체 OTF Regular"/>
                <a:cs typeface="야놀자 야체 OTF Regular"/>
                <a:sym typeface="야놀자 야체 OTF Regular"/>
              </a:defRPr>
            </a:pPr>
            <a:r>
              <a:rPr sz="1200" dirty="0"/>
              <a:t>R</a:t>
            </a:r>
            <a:r>
              <a:rPr sz="1200" baseline="31999" dirty="0"/>
              <a:t>2</a:t>
            </a:r>
            <a:r>
              <a:rPr sz="1200" dirty="0"/>
              <a:t> = 0.521 ^ 2 = 0.271</a:t>
            </a:r>
          </a:p>
        </p:txBody>
      </p:sp>
      <p:sp>
        <p:nvSpPr>
          <p:cNvPr id="752" name="SST = 0.27 ^ 2 * 29 = 2.114"/>
          <p:cNvSpPr txBox="1"/>
          <p:nvPr/>
        </p:nvSpPr>
        <p:spPr>
          <a:xfrm>
            <a:off x="2595673" y="2912811"/>
            <a:ext cx="1471558" cy="213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>
            <a:lvl1pPr defTabSz="584200">
              <a:spcBef>
                <a:spcPts val="0"/>
              </a:spcBef>
              <a:defRPr sz="3600" spc="0">
                <a:solidFill>
                  <a:srgbClr val="535353"/>
                </a:solidFill>
                <a:latin typeface="야놀자 야체 OTF Regular"/>
                <a:ea typeface="야놀자 야체 OTF Regular"/>
                <a:cs typeface="야놀자 야체 OTF Regular"/>
                <a:sym typeface="야놀자 야체 OTF Regular"/>
              </a:defRPr>
            </a:lvl1pPr>
          </a:lstStyle>
          <a:p>
            <a:r>
              <a:rPr sz="1200"/>
              <a:t>SST = 0.27 ^ 2 * 29 = 2.114</a:t>
            </a:r>
          </a:p>
        </p:txBody>
      </p:sp>
      <p:sp>
        <p:nvSpPr>
          <p:cNvPr id="753" name="SSR = 0.271 * 2.114 = 0.573"/>
          <p:cNvSpPr txBox="1"/>
          <p:nvPr/>
        </p:nvSpPr>
        <p:spPr>
          <a:xfrm>
            <a:off x="2458505" y="3751283"/>
            <a:ext cx="2098332" cy="236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/>
          <a:p>
            <a:r>
              <a:rPr sz="1350" dirty="0">
                <a:latin typeface="ChosunilboNM" panose="02030304000000000000" pitchFamily="18" charset="-128"/>
              </a:rPr>
              <a:t>SSR = 0.271 * 2.114 = 0.573</a:t>
            </a:r>
          </a:p>
        </p:txBody>
      </p:sp>
      <p:sp>
        <p:nvSpPr>
          <p:cNvPr id="754" name="SSE = 2.114 - 0.573 = 1.541"/>
          <p:cNvSpPr txBox="1"/>
          <p:nvPr/>
        </p:nvSpPr>
        <p:spPr>
          <a:xfrm>
            <a:off x="2461711" y="4087068"/>
            <a:ext cx="2095126" cy="236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/>
          <a:p>
            <a:r>
              <a:rPr sz="1350" dirty="0">
                <a:latin typeface="ChosunilboNM" panose="02030304000000000000" pitchFamily="18" charset="-128"/>
              </a:rPr>
              <a:t>SSE = 2.114 - 0.573 = 1.541</a:t>
            </a:r>
          </a:p>
        </p:txBody>
      </p:sp>
      <p:sp>
        <p:nvSpPr>
          <p:cNvPr id="755" name="MSR = 0.573 / 1 = 0.573"/>
          <p:cNvSpPr txBox="1"/>
          <p:nvPr/>
        </p:nvSpPr>
        <p:spPr>
          <a:xfrm>
            <a:off x="5100364" y="3751283"/>
            <a:ext cx="1832234" cy="236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/>
          <a:p>
            <a:r>
              <a:rPr sz="1350" dirty="0">
                <a:latin typeface="ChosunilboNM" panose="02030304000000000000" pitchFamily="18" charset="-128"/>
              </a:rPr>
              <a:t>MSR = 0.573 / 1 = 0.573</a:t>
            </a:r>
          </a:p>
        </p:txBody>
      </p:sp>
      <p:sp>
        <p:nvSpPr>
          <p:cNvPr id="756" name="MSR = 1.541 / 28 = 0.055"/>
          <p:cNvSpPr txBox="1"/>
          <p:nvPr/>
        </p:nvSpPr>
        <p:spPr>
          <a:xfrm>
            <a:off x="5111818" y="4087068"/>
            <a:ext cx="1918796" cy="236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/>
          <a:p>
            <a:r>
              <a:rPr sz="1350" dirty="0">
                <a:latin typeface="ChosunilboNM" panose="02030304000000000000" pitchFamily="18" charset="-128"/>
              </a:rPr>
              <a:t>MSR = 1.541 / 28 = 0.055</a:t>
            </a:r>
          </a:p>
        </p:txBody>
      </p:sp>
      <p:sp>
        <p:nvSpPr>
          <p:cNvPr id="757" name="F = 0.573 / 0.055 = 10.418"/>
          <p:cNvSpPr txBox="1"/>
          <p:nvPr/>
        </p:nvSpPr>
        <p:spPr>
          <a:xfrm>
            <a:off x="5168952" y="2847790"/>
            <a:ext cx="1442704" cy="213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4288" tIns="14288" rIns="14288" bIns="14288" anchor="ctr">
            <a:spAutoFit/>
          </a:bodyPr>
          <a:lstStyle>
            <a:lvl1pPr defTabSz="584200">
              <a:spcBef>
                <a:spcPts val="0"/>
              </a:spcBef>
              <a:defRPr sz="3600" spc="0">
                <a:solidFill>
                  <a:srgbClr val="535353"/>
                </a:solidFill>
                <a:latin typeface="야놀자 야체 OTF Regular"/>
                <a:ea typeface="야놀자 야체 OTF Regular"/>
                <a:cs typeface="야놀자 야체 OTF Regular"/>
                <a:sym typeface="야놀자 야체 OTF Regular"/>
              </a:defRPr>
            </a:lvl1pPr>
          </a:lstStyle>
          <a:p>
            <a:r>
              <a:rPr sz="1200"/>
              <a:t>F = 0.573 / 0.055 = 10.418</a:t>
            </a:r>
          </a:p>
        </p:txBody>
      </p:sp>
      <p:sp>
        <p:nvSpPr>
          <p:cNvPr id="2" name="직사각형 2">
            <a:extLst>
              <a:ext uri="{FF2B5EF4-FFF2-40B4-BE49-F238E27FC236}">
                <a16:creationId xmlns:a16="http://schemas.microsoft.com/office/drawing/2014/main" id="{966F3ECE-1EF4-731C-AB52-DD048053ACDA}"/>
              </a:ext>
            </a:extLst>
          </p:cNvPr>
          <p:cNvSpPr/>
          <p:nvPr/>
        </p:nvSpPr>
        <p:spPr>
          <a:xfrm>
            <a:off x="732226" y="960850"/>
            <a:ext cx="7679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u="sng" spc="-300" dirty="0">
                <a:solidFill>
                  <a:schemeClr val="bg1">
                    <a:lumMod val="7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회귀분석</a:t>
            </a:r>
            <a:r>
              <a:rPr lang="ko-KR" altLang="en-US" sz="2000" spc="-30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2000" spc="-30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Regression</a:t>
            </a:r>
          </a:p>
        </p:txBody>
      </p:sp>
      <p:sp>
        <p:nvSpPr>
          <p:cNvPr id="3" name="직사각형 3">
            <a:extLst>
              <a:ext uri="{FF2B5EF4-FFF2-40B4-BE49-F238E27FC236}">
                <a16:creationId xmlns:a16="http://schemas.microsoft.com/office/drawing/2014/main" id="{A6211000-E956-919C-673D-15CFC816E23E}"/>
              </a:ext>
            </a:extLst>
          </p:cNvPr>
          <p:cNvSpPr/>
          <p:nvPr/>
        </p:nvSpPr>
        <p:spPr>
          <a:xfrm>
            <a:off x="500530" y="590968"/>
            <a:ext cx="6536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Section 04 |  </a:t>
            </a:r>
            <a:r>
              <a:rPr lang="ko-KR" altLang="en-US" sz="200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상관과 예측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D996B3C-9798-76A1-A631-221F95503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23</a:t>
            </a:fld>
            <a:endParaRPr lang="en-US" dirty="0"/>
          </a:p>
        </p:txBody>
      </p:sp>
      <p:pic>
        <p:nvPicPr>
          <p:cNvPr id="5" name="DataSaurus Dozen.gif" descr="DataSaurus Dozen.gif">
            <a:extLst>
              <a:ext uri="{FF2B5EF4-FFF2-40B4-BE49-F238E27FC236}">
                <a16:creationId xmlns:a16="http://schemas.microsoft.com/office/drawing/2014/main" id="{1F4AFBBC-6571-DB2C-7876-A5960AA91714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1" y="1501110"/>
            <a:ext cx="6515099" cy="2969672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ource : https://blog.revolutionanalytics.com/2017/05/the-datasaurus-dozen.html">
            <a:extLst>
              <a:ext uri="{FF2B5EF4-FFF2-40B4-BE49-F238E27FC236}">
                <a16:creationId xmlns:a16="http://schemas.microsoft.com/office/drawing/2014/main" id="{DB78E8A2-6C85-30CB-642B-9B681DD6CCAC}"/>
              </a:ext>
            </a:extLst>
          </p:cNvPr>
          <p:cNvSpPr txBox="1"/>
          <p:nvPr/>
        </p:nvSpPr>
        <p:spPr>
          <a:xfrm>
            <a:off x="3044009" y="4569132"/>
            <a:ext cx="5398273" cy="284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>
            <a:lvl1pPr>
              <a:defRPr sz="2900" spc="-145">
                <a:latin typeface="Noto Serif KR"/>
                <a:ea typeface="Noto Serif KR"/>
                <a:cs typeface="Noto Serif KR"/>
                <a:sym typeface="Noto Serif KR"/>
              </a:defRPr>
            </a:lvl1pPr>
          </a:lstStyle>
          <a:p>
            <a:r>
              <a:rPr sz="1350" dirty="0"/>
              <a:t>Source : https://blog.revolutionanalytics.com/2017/05/the-datasaurus-dozen.html</a:t>
            </a:r>
          </a:p>
        </p:txBody>
      </p:sp>
      <p:sp>
        <p:nvSpPr>
          <p:cNvPr id="8" name="직사각형 2">
            <a:extLst>
              <a:ext uri="{FF2B5EF4-FFF2-40B4-BE49-F238E27FC236}">
                <a16:creationId xmlns:a16="http://schemas.microsoft.com/office/drawing/2014/main" id="{63EDB0AE-7560-3A8B-1397-470F79C347A9}"/>
              </a:ext>
            </a:extLst>
          </p:cNvPr>
          <p:cNvSpPr/>
          <p:nvPr/>
        </p:nvSpPr>
        <p:spPr>
          <a:xfrm>
            <a:off x="732226" y="960850"/>
            <a:ext cx="7679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u="sng" spc="-300" dirty="0">
                <a:solidFill>
                  <a:schemeClr val="bg1">
                    <a:lumMod val="7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회귀분석</a:t>
            </a:r>
            <a:r>
              <a:rPr lang="ko-KR" altLang="en-US" sz="2000" spc="-30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2000" spc="-30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Regression</a:t>
            </a:r>
          </a:p>
        </p:txBody>
      </p:sp>
      <p:sp>
        <p:nvSpPr>
          <p:cNvPr id="9" name="직사각형 3">
            <a:extLst>
              <a:ext uri="{FF2B5EF4-FFF2-40B4-BE49-F238E27FC236}">
                <a16:creationId xmlns:a16="http://schemas.microsoft.com/office/drawing/2014/main" id="{5EF8167B-8119-0600-7075-14179B075F50}"/>
              </a:ext>
            </a:extLst>
          </p:cNvPr>
          <p:cNvSpPr/>
          <p:nvPr/>
        </p:nvSpPr>
        <p:spPr>
          <a:xfrm>
            <a:off x="500530" y="590968"/>
            <a:ext cx="6536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Section 04 |  </a:t>
            </a:r>
            <a:r>
              <a:rPr lang="ko-KR" altLang="en-US" sz="200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상관과 예측</a:t>
            </a:r>
          </a:p>
        </p:txBody>
      </p:sp>
    </p:spTree>
    <p:extLst>
      <p:ext uri="{BB962C8B-B14F-4D97-AF65-F5344CB8AC3E}">
        <p14:creationId xmlns:p14="http://schemas.microsoft.com/office/powerpoint/2010/main" val="5079165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02BD9-458E-DF4F-1BB1-699E96B54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1">
            <a:extLst>
              <a:ext uri="{FF2B5EF4-FFF2-40B4-BE49-F238E27FC236}">
                <a16:creationId xmlns:a16="http://schemas.microsoft.com/office/drawing/2014/main" id="{B2CEFEAF-3373-9F20-1E84-9B8B524CC5D2}"/>
              </a:ext>
            </a:extLst>
          </p:cNvPr>
          <p:cNvGraphicFramePr/>
          <p:nvPr/>
        </p:nvGraphicFramePr>
        <p:xfrm>
          <a:off x="1999367" y="2203192"/>
          <a:ext cx="5145267" cy="1283230"/>
        </p:xfrm>
        <a:graphic>
          <a:graphicData uri="http://schemas.openxmlformats.org/drawingml/2006/table">
            <a:tbl>
              <a:tblPr firstRow="1"/>
              <a:tblGrid>
                <a:gridCol w="1715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5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5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646">
                <a:tc>
                  <a:txBody>
                    <a:bodyPr/>
                    <a:lstStyle/>
                    <a:p>
                      <a:pPr algn="ctr" defTabSz="584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KoreanYNMYTL"/>
                          <a:ea typeface="KoreanYNMYTL"/>
                          <a:cs typeface="KoreanYNMYTL"/>
                          <a:sym typeface="KoreanYNMYTL"/>
                        </a:rPr>
                        <a:t>N=8</a:t>
                      </a:r>
                      <a:endParaRPr sz="800" dirty="0">
                        <a:solidFill>
                          <a:srgbClr val="FFFFFF"/>
                        </a:solidFill>
                        <a:latin typeface="KoreanYNMYTL"/>
                        <a:ea typeface="KoreanYNMYTL"/>
                        <a:cs typeface="KoreanYNMYTL"/>
                        <a:sym typeface="KoreanYNMYTL"/>
                      </a:endParaRPr>
                    </a:p>
                  </a:txBody>
                  <a:tcPr marL="14288" marR="14288" marT="14288" marB="14288" anchor="ctr" horzOverflow="overflow">
                    <a:solidFill>
                      <a:srgbClr val="80878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4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ko-KR" altLang="en-US" sz="800" dirty="0" err="1">
                          <a:solidFill>
                            <a:srgbClr val="FFFFFF"/>
                          </a:solidFill>
                          <a:latin typeface="KoreanYNMYTL"/>
                          <a:ea typeface="KoreanYNMYTL"/>
                          <a:cs typeface="KoreanYNMYTL"/>
                          <a:sym typeface="KoreanYNMYTL"/>
                        </a:rPr>
                        <a:t>팔굽혀펴기</a:t>
                      </a:r>
                      <a:endParaRPr sz="800" dirty="0">
                        <a:solidFill>
                          <a:srgbClr val="FFFFFF"/>
                        </a:solidFill>
                        <a:latin typeface="KoreanYNMYTL"/>
                        <a:ea typeface="KoreanYNMYTL"/>
                        <a:cs typeface="KoreanYNMYTL"/>
                        <a:sym typeface="KoreanYNMYTL"/>
                      </a:endParaRPr>
                    </a:p>
                  </a:txBody>
                  <a:tcPr marL="14288" marR="14288" marT="14288" marB="14288" anchor="ctr" horzOverflow="overflow">
                    <a:solidFill>
                      <a:srgbClr val="80878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4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ko-KR" altLang="en-US" sz="800" dirty="0">
                          <a:solidFill>
                            <a:srgbClr val="FFFFFF"/>
                          </a:solidFill>
                          <a:latin typeface="KoreanYNMYTL"/>
                          <a:ea typeface="KoreanYNMYTL"/>
                          <a:cs typeface="KoreanYNMYTL"/>
                          <a:sym typeface="KoreanYNMYTL"/>
                        </a:rPr>
                        <a:t>턱걸이</a:t>
                      </a:r>
                      <a:endParaRPr sz="800" dirty="0">
                        <a:solidFill>
                          <a:srgbClr val="FFFFFF"/>
                        </a:solidFill>
                        <a:latin typeface="KoreanYNMYTL"/>
                        <a:ea typeface="KoreanYNMYTL"/>
                        <a:cs typeface="KoreanYNMYTL"/>
                        <a:sym typeface="KoreanYNMYTL"/>
                      </a:endParaRPr>
                    </a:p>
                  </a:txBody>
                  <a:tcPr marL="14288" marR="14288" marT="14288" marB="14288" anchor="ctr" horzOverflow="overflow">
                    <a:solidFill>
                      <a:srgbClr val="8087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646">
                <a:tc>
                  <a:txBody>
                    <a:bodyPr/>
                    <a:lstStyle/>
                    <a:p>
                      <a:pPr algn="ctr" defTabSz="584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KoreanYNMYTL"/>
                          <a:ea typeface="KoreanYNMYTL"/>
                          <a:cs typeface="KoreanYNMYTL"/>
                          <a:sym typeface="KoreanYNMYTL"/>
                        </a:rPr>
                        <a:t>평균</a:t>
                      </a:r>
                      <a:endParaRPr sz="800" dirty="0">
                        <a:solidFill>
                          <a:schemeClr val="tx1"/>
                        </a:solidFill>
                        <a:latin typeface="KoreanYNMYTL"/>
                        <a:ea typeface="KoreanYNMYTL"/>
                        <a:cs typeface="KoreanYNMYTL"/>
                        <a:sym typeface="KoreanYNMYTL"/>
                      </a:endParaRPr>
                    </a:p>
                  </a:txBody>
                  <a:tcPr marL="14288" marR="14288" marT="14288" marB="14288" anchor="ctr" horzOverflow="overflow"/>
                </a:tc>
                <a:tc>
                  <a:txBody>
                    <a:bodyPr/>
                    <a:lstStyle/>
                    <a:p>
                      <a:pPr algn="ctr" defTabSz="584200">
                        <a:defRPr sz="2900">
                          <a:latin typeface="KoreanYNMYTL"/>
                          <a:ea typeface="KoreanYNMYTL"/>
                          <a:cs typeface="KoreanYNMYTL"/>
                          <a:sym typeface="KoreanYNMYTL"/>
                        </a:defRPr>
                      </a:pPr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KoreanYNMYTL"/>
                          <a:ea typeface="KoreanYNMYTL"/>
                          <a:cs typeface="Al Bayan Plain"/>
                          <a:sym typeface="Al Bayan Plain"/>
                        </a:rPr>
                        <a:t>9.25</a:t>
                      </a:r>
                      <a:endParaRPr sz="800" kern="1200" dirty="0">
                        <a:solidFill>
                          <a:schemeClr val="tx1"/>
                        </a:solidFill>
                        <a:latin typeface="KoreanYNMYTL"/>
                        <a:ea typeface="KoreanYNMYTL"/>
                        <a:cs typeface="Al Bayan Plain"/>
                        <a:sym typeface="Al Bayan Plain"/>
                      </a:endParaRPr>
                    </a:p>
                  </a:txBody>
                  <a:tcPr marL="14288" marR="14288" marT="14288" marB="14288" anchor="ctr" horzOverflow="overflow"/>
                </a:tc>
                <a:tc>
                  <a:txBody>
                    <a:bodyPr/>
                    <a:lstStyle/>
                    <a:p>
                      <a:pPr algn="ctr" defTabSz="584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KoreanYNMYTL"/>
                          <a:ea typeface="KoreanYNMYTL"/>
                          <a:cs typeface="KoreanYNMYTL"/>
                          <a:sym typeface="KoreanYNMYTL"/>
                        </a:rPr>
                        <a:t>4.875</a:t>
                      </a:r>
                      <a:endParaRPr sz="800" kern="1200" dirty="0">
                        <a:solidFill>
                          <a:schemeClr val="tx1"/>
                        </a:solidFill>
                        <a:latin typeface="KoreanYNMYTL"/>
                        <a:ea typeface="KoreanYNMYTL"/>
                        <a:cs typeface="KoreanYNMYTL"/>
                        <a:sym typeface="KoreanYNMYTL"/>
                      </a:endParaRPr>
                    </a:p>
                  </a:txBody>
                  <a:tcPr marL="14288" marR="14288" marT="14288" marB="14288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646">
                <a:tc>
                  <a:txBody>
                    <a:bodyPr/>
                    <a:lstStyle/>
                    <a:p>
                      <a:pPr algn="ctr" defTabSz="584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KoreanYNMYTL"/>
                          <a:ea typeface="KoreanYNMYTL"/>
                          <a:cs typeface="KoreanYNMYTL"/>
                          <a:sym typeface="KoreanYNMYTL"/>
                        </a:rPr>
                        <a:t>표준편차</a:t>
                      </a:r>
                      <a:endParaRPr sz="800" dirty="0">
                        <a:solidFill>
                          <a:schemeClr val="tx1"/>
                        </a:solidFill>
                        <a:latin typeface="KoreanYNMYTL"/>
                        <a:ea typeface="KoreanYNMYTL"/>
                        <a:cs typeface="KoreanYNMYTL"/>
                        <a:sym typeface="KoreanYNMYTL"/>
                      </a:endParaRPr>
                    </a:p>
                  </a:txBody>
                  <a:tcPr marL="14288" marR="14288" marT="14288" marB="14288" anchor="ctr" horzOverflow="overflow"/>
                </a:tc>
                <a:tc>
                  <a:txBody>
                    <a:bodyPr/>
                    <a:lstStyle/>
                    <a:p>
                      <a:pPr algn="ctr" defTabSz="584200">
                        <a:defRPr sz="2900">
                          <a:latin typeface="KoreanYNMYTL"/>
                          <a:ea typeface="KoreanYNMYTL"/>
                          <a:cs typeface="KoreanYNMYTL"/>
                          <a:sym typeface="KoreanYNMYTL"/>
                        </a:defRPr>
                      </a:pPr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KoreanYNMYTL"/>
                          <a:ea typeface="KoreanYNMYTL"/>
                        </a:rPr>
                        <a:t>4.7132</a:t>
                      </a:r>
                      <a:endParaRPr sz="800" kern="1200" dirty="0">
                        <a:solidFill>
                          <a:schemeClr val="tx1"/>
                        </a:solidFill>
                        <a:latin typeface="KoreanYNMYTL"/>
                        <a:ea typeface="KoreanYNMYTL"/>
                      </a:endParaRPr>
                    </a:p>
                  </a:txBody>
                  <a:tcPr marL="14288" marR="14288" marT="14288" marB="14288" anchor="ctr" horzOverflow="overflow"/>
                </a:tc>
                <a:tc>
                  <a:txBody>
                    <a:bodyPr/>
                    <a:lstStyle/>
                    <a:p>
                      <a:pPr algn="ctr" defTabSz="584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KoreanYNMYTL"/>
                          <a:ea typeface="KoreanYNMYTL"/>
                          <a:cs typeface="KoreanYNMYTL"/>
                          <a:sym typeface="KoreanYNMYTL"/>
                        </a:rPr>
                        <a:t>2.90</a:t>
                      </a:r>
                      <a:endParaRPr sz="800" kern="1200" dirty="0">
                        <a:solidFill>
                          <a:schemeClr val="tx1"/>
                        </a:solidFill>
                        <a:latin typeface="KoreanYNMYTL"/>
                        <a:ea typeface="KoreanYNMYTL"/>
                        <a:cs typeface="KoreanYNMYTL"/>
                        <a:sym typeface="KoreanYNMYTL"/>
                      </a:endParaRPr>
                    </a:p>
                  </a:txBody>
                  <a:tcPr marL="14288" marR="14288" marT="14288" marB="14288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646">
                <a:tc>
                  <a:txBody>
                    <a:bodyPr/>
                    <a:lstStyle/>
                    <a:p>
                      <a:pPr algn="ctr" defTabSz="584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KoreanYNMYTL"/>
                          <a:ea typeface="KoreanYNMYTL"/>
                          <a:cs typeface="KoreanYNMYTL"/>
                          <a:sym typeface="KoreanYNMYTL"/>
                        </a:rPr>
                        <a:t>상관계수</a:t>
                      </a:r>
                      <a:endParaRPr sz="800" dirty="0">
                        <a:solidFill>
                          <a:schemeClr val="tx1"/>
                        </a:solidFill>
                        <a:latin typeface="KoreanYNMYTL"/>
                        <a:ea typeface="KoreanYNMYTL"/>
                        <a:cs typeface="KoreanYNMYTL"/>
                        <a:sym typeface="KoreanYNMYTL"/>
                      </a:endParaRPr>
                    </a:p>
                  </a:txBody>
                  <a:tcPr marL="14288" marR="14288" marT="14288" marB="14288" anchor="ctr" horzOverflow="overflow"/>
                </a:tc>
                <a:tc gridSpan="2">
                  <a:txBody>
                    <a:bodyPr/>
                    <a:lstStyle/>
                    <a:p>
                      <a:pPr algn="ctr" defTabSz="584200">
                        <a:defRPr sz="2900">
                          <a:latin typeface="KoreanYNMYTL"/>
                          <a:ea typeface="KoreanYNMYTL"/>
                          <a:cs typeface="KoreanYNMYTL"/>
                          <a:sym typeface="KoreanYNMYTL"/>
                        </a:defRPr>
                      </a:pPr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KoreanYNMYTL"/>
                          <a:ea typeface="KoreanYNMYTL"/>
                        </a:rPr>
                        <a:t>0.9328</a:t>
                      </a:r>
                      <a:endParaRPr sz="800" kern="1200" dirty="0">
                        <a:solidFill>
                          <a:schemeClr val="tx1"/>
                        </a:solidFill>
                        <a:latin typeface="KoreanYNMYTL"/>
                        <a:ea typeface="KoreanYNMYTL"/>
                      </a:endParaRPr>
                    </a:p>
                  </a:txBody>
                  <a:tcPr marL="14288" marR="14288" marT="14288" marB="14288" anchor="ctr" horzOverflow="overflow"/>
                </a:tc>
                <a:tc hMerge="1">
                  <a:txBody>
                    <a:bodyPr/>
                    <a:lstStyle/>
                    <a:p>
                      <a:pPr algn="ctr" defTabSz="584200">
                        <a:defRPr sz="1800">
                          <a:solidFill>
                            <a:srgbClr val="000000"/>
                          </a:solidFill>
                        </a:defRPr>
                      </a:pPr>
                      <a:endParaRPr sz="1100" kern="1200" dirty="0">
                        <a:solidFill>
                          <a:schemeClr val="tx1"/>
                        </a:solidFill>
                        <a:latin typeface="KoreanYNMYTL"/>
                        <a:ea typeface="KoreanYNMYTL"/>
                        <a:cs typeface="KoreanYNMYTL"/>
                        <a:sym typeface="KoreanYNMYTL"/>
                      </a:endParaRPr>
                    </a:p>
                  </a:txBody>
                  <a:tcPr marL="19050" marR="19050" marT="19050" marB="1905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646">
                <a:tc>
                  <a:txBody>
                    <a:bodyPr/>
                    <a:lstStyle/>
                    <a:p>
                      <a:pPr algn="ctr" defTabSz="584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ko-KR" altLang="en-US" sz="800" kern="1200" dirty="0">
                          <a:solidFill>
                            <a:srgbClr val="FF0000"/>
                          </a:solidFill>
                          <a:latin typeface="KoreanYNMYTL"/>
                          <a:ea typeface="KoreanYNMYTL"/>
                          <a:cs typeface="KoreanYNMYTL"/>
                          <a:sym typeface="KoreanYNMYTL"/>
                        </a:rPr>
                        <a:t>박지훈 </a:t>
                      </a:r>
                      <a:r>
                        <a:rPr lang="en-US" altLang="ko-KR" sz="800" kern="1200" dirty="0">
                          <a:solidFill>
                            <a:srgbClr val="FF0000"/>
                          </a:solidFill>
                          <a:latin typeface="KoreanYNMYTL"/>
                          <a:ea typeface="KoreanYNMYTL"/>
                        </a:rPr>
                        <a:t>(</a:t>
                      </a:r>
                      <a:r>
                        <a:rPr lang="ko-KR" altLang="en-US" sz="800" kern="1200" dirty="0">
                          <a:solidFill>
                            <a:srgbClr val="FF0000"/>
                          </a:solidFill>
                          <a:latin typeface="KoreanYNMYTL"/>
                          <a:ea typeface="KoreanYNMYTL"/>
                          <a:cs typeface="KoreanYNMYTL"/>
                          <a:sym typeface="KoreanYNMYTL"/>
                        </a:rPr>
                        <a:t>본인이름</a:t>
                      </a:r>
                      <a:r>
                        <a:rPr lang="en-US" altLang="ko-KR" sz="800" kern="1200" dirty="0">
                          <a:solidFill>
                            <a:srgbClr val="FF0000"/>
                          </a:solidFill>
                          <a:latin typeface="KoreanYNMYTL"/>
                          <a:ea typeface="KoreanYNMYTL"/>
                        </a:rPr>
                        <a:t>)</a:t>
                      </a:r>
                      <a:endParaRPr sz="800" kern="1200" dirty="0">
                        <a:solidFill>
                          <a:srgbClr val="FF0000"/>
                        </a:solidFill>
                        <a:latin typeface="KoreanYNMYTL"/>
                        <a:ea typeface="KoreanYNMYTL"/>
                        <a:cs typeface="KoreanYNMYTL"/>
                        <a:sym typeface="KoreanYNMYTL"/>
                      </a:endParaRPr>
                    </a:p>
                  </a:txBody>
                  <a:tcPr marL="14288" marR="14288" marT="14288" marB="14288" anchor="ctr" horzOverflow="overflow"/>
                </a:tc>
                <a:tc>
                  <a:txBody>
                    <a:bodyPr/>
                    <a:lstStyle/>
                    <a:p>
                      <a:pPr algn="ctr" defTabSz="584200">
                        <a:defRPr sz="2900">
                          <a:latin typeface="KoreanYNMYTL"/>
                          <a:ea typeface="KoreanYNMYTL"/>
                          <a:cs typeface="KoreanYNMYTL"/>
                          <a:sym typeface="KoreanYNMYTL"/>
                        </a:defRPr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</a:rPr>
                        <a:t>32 </a:t>
                      </a:r>
                      <a:r>
                        <a:rPr lang="en-US" altLang="ko-KR" sz="800" kern="1200" dirty="0">
                          <a:solidFill>
                            <a:srgbClr val="FF0000"/>
                          </a:solidFill>
                          <a:latin typeface="KoreanYNMYTL"/>
                          <a:ea typeface="KoreanYNMYTL"/>
                        </a:rPr>
                        <a:t>(</a:t>
                      </a:r>
                      <a:r>
                        <a:rPr lang="ko-KR" altLang="en-US" sz="800" kern="1200" dirty="0">
                          <a:solidFill>
                            <a:srgbClr val="FF0000"/>
                          </a:solidFill>
                          <a:latin typeface="KoreanYNMYTL"/>
                          <a:ea typeface="KoreanYNMYTL"/>
                          <a:sym typeface="KoreanYNMYTL"/>
                        </a:rPr>
                        <a:t>본인 횟수</a:t>
                      </a:r>
                      <a:r>
                        <a:rPr lang="en-US" altLang="ko-KR" sz="800" kern="1200" dirty="0">
                          <a:solidFill>
                            <a:srgbClr val="FF0000"/>
                          </a:solidFill>
                          <a:latin typeface="KoreanYNMYTL"/>
                          <a:ea typeface="KoreanYNMYTL"/>
                        </a:rPr>
                        <a:t>)</a:t>
                      </a:r>
                      <a:endParaRPr sz="800" dirty="0">
                        <a:solidFill>
                          <a:srgbClr val="FF0000"/>
                        </a:solidFill>
                      </a:endParaRPr>
                    </a:p>
                  </a:txBody>
                  <a:tcPr marL="14288" marR="14288" marT="14288" marB="14288" anchor="ctr" horzOverflow="overflow"/>
                </a:tc>
                <a:tc>
                  <a:txBody>
                    <a:bodyPr/>
                    <a:lstStyle/>
                    <a:p>
                      <a:pPr algn="ctr" defTabSz="584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ko-KR" altLang="en-US" sz="800" dirty="0" err="1">
                          <a:solidFill>
                            <a:srgbClr val="FF0000"/>
                          </a:solidFill>
                          <a:latin typeface="KoreanYNMYTL"/>
                          <a:ea typeface="KoreanYNMYTL"/>
                          <a:cs typeface="KoreanYNMYTL"/>
                          <a:sym typeface="KoreanYNMYTL"/>
                        </a:rPr>
                        <a:t>추정값</a:t>
                      </a:r>
                      <a:endParaRPr sz="800" dirty="0">
                        <a:solidFill>
                          <a:srgbClr val="FF0000"/>
                        </a:solidFill>
                        <a:latin typeface="KoreanYNMYTL"/>
                        <a:ea typeface="KoreanYNMYTL"/>
                        <a:cs typeface="KoreanYNMYTL"/>
                        <a:sym typeface="KoreanYNMYTL"/>
                      </a:endParaRPr>
                    </a:p>
                  </a:txBody>
                  <a:tcPr marL="14288" marR="14288" marT="14288" marB="14288" anchor="ctr" horzOverflow="overflow"/>
                </a:tc>
                <a:extLst>
                  <a:ext uri="{0D108BD9-81ED-4DB2-BD59-A6C34878D82A}">
                    <a16:rowId xmlns:a16="http://schemas.microsoft.com/office/drawing/2014/main" val="683381985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45B0F267-B8D2-A18B-D06C-C138D2F9C38E}"/>
              </a:ext>
            </a:extLst>
          </p:cNvPr>
          <p:cNvSpPr/>
          <p:nvPr/>
        </p:nvSpPr>
        <p:spPr>
          <a:xfrm>
            <a:off x="885699" y="1416614"/>
            <a:ext cx="490254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100" b="1" u="sng" spc="-225" dirty="0">
                <a:latin typeface=" 윤명조420" panose="02030504000101010101" pitchFamily="18" charset="-127"/>
                <a:ea typeface=" 윤명조420" panose="02030504000101010101" pitchFamily="18" charset="-127"/>
              </a:rPr>
              <a:t>과제</a:t>
            </a:r>
            <a:endParaRPr lang="ko-KR" altLang="en-US" sz="2100" b="1" spc="-225" dirty="0">
              <a:solidFill>
                <a:schemeClr val="tx1">
                  <a:lumMod val="65000"/>
                  <a:lumOff val="35000"/>
                </a:schemeClr>
              </a:solidFill>
              <a:latin typeface=" 윤명조420" panose="02030504000101010101" pitchFamily="18" charset="-127"/>
              <a:ea typeface=" 윤명조420" panose="02030504000101010101" pitchFamily="18" charset="-127"/>
            </a:endParaRPr>
          </a:p>
        </p:txBody>
      </p:sp>
      <p:pic>
        <p:nvPicPr>
          <p:cNvPr id="10" name="Image" descr="Image">
            <a:extLst>
              <a:ext uri="{FF2B5EF4-FFF2-40B4-BE49-F238E27FC236}">
                <a16:creationId xmlns:a16="http://schemas.microsoft.com/office/drawing/2014/main" id="{BF458A29-1DA6-0B90-3AFF-05E132FC5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959" y="1756685"/>
            <a:ext cx="1328225" cy="2127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8CD9FB1A-06B4-F703-9916-F95B6900B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202" y="607911"/>
            <a:ext cx="1113236" cy="953466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SR = 0.271 * 2.114 = 0.573">
            <a:extLst>
              <a:ext uri="{FF2B5EF4-FFF2-40B4-BE49-F238E27FC236}">
                <a16:creationId xmlns:a16="http://schemas.microsoft.com/office/drawing/2014/main" id="{8E9F5480-0245-1507-5F95-4D8C2B85C94A}"/>
              </a:ext>
            </a:extLst>
          </p:cNvPr>
          <p:cNvSpPr txBox="1"/>
          <p:nvPr/>
        </p:nvSpPr>
        <p:spPr>
          <a:xfrm>
            <a:off x="2087149" y="3572604"/>
            <a:ext cx="4328798" cy="8252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4288" tIns="14288" rIns="14288" bIns="14288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pc="-113" dirty="0">
                <a:latin typeface=" 윤명조420" panose="02030504000101010101" pitchFamily="18" charset="-127"/>
                <a:ea typeface=" 윤명조420" panose="02030504000101010101" pitchFamily="18" charset="-127"/>
                <a:sym typeface="KoreanYNMYTL"/>
              </a:rPr>
              <a:t>B</a:t>
            </a:r>
            <a:r>
              <a:rPr lang="en-US" altLang="ko-KR" spc="-113" baseline="-25000" dirty="0">
                <a:latin typeface=" 윤명조420" panose="02030504000101010101" pitchFamily="18" charset="-127"/>
                <a:ea typeface=" 윤명조420" panose="02030504000101010101" pitchFamily="18" charset="-127"/>
                <a:sym typeface="KoreanYNMYTL"/>
              </a:rPr>
              <a:t>1</a:t>
            </a:r>
            <a:r>
              <a:rPr lang="en-US" altLang="ko-KR" spc="-113" dirty="0">
                <a:latin typeface=" 윤명조420" panose="02030504000101010101" pitchFamily="18" charset="-127"/>
                <a:ea typeface=" 윤명조420" panose="02030504000101010101" pitchFamily="18" charset="-127"/>
                <a:sym typeface="KoreanYNMYTL"/>
              </a:rPr>
              <a:t> </a:t>
            </a:r>
            <a:r>
              <a:rPr lang="en-US" altLang="ko-KR" spc="-113">
                <a:latin typeface=" 윤명조420" panose="02030504000101010101" pitchFamily="18" charset="-127"/>
                <a:ea typeface=" 윤명조420" panose="02030504000101010101" pitchFamily="18" charset="-127"/>
                <a:sym typeface="KoreanYNMYTL"/>
              </a:rPr>
              <a:t>= </a:t>
            </a:r>
            <a:r>
              <a:rPr lang="en-US" altLang="ko-KR" spc="-113">
                <a:latin typeface=" 윤명조420" panose="02030504000101010101" pitchFamily="18" charset="-127"/>
                <a:ea typeface=" 윤명조420" panose="02030504000101010101" pitchFamily="18" charset="-127"/>
              </a:rPr>
              <a:t>0.9328 * 2.90 / 4.7132 </a:t>
            </a:r>
            <a:r>
              <a:rPr lang="en-US" altLang="ko-KR" spc="-113" dirty="0">
                <a:latin typeface=" 윤명조420" panose="02030504000101010101" pitchFamily="18" charset="-127"/>
                <a:ea typeface=" 윤명조420" panose="02030504000101010101" pitchFamily="18" charset="-127"/>
              </a:rPr>
              <a:t>= 0.5740</a:t>
            </a:r>
          </a:p>
          <a:p>
            <a:pPr>
              <a:lnSpc>
                <a:spcPct val="150000"/>
              </a:lnSpc>
            </a:pPr>
            <a:r>
              <a:rPr lang="en-US" spc="-113" dirty="0">
                <a:latin typeface=" 윤명조420" panose="02030504000101010101" pitchFamily="18" charset="-127"/>
                <a:ea typeface=" 윤명조420" panose="02030504000101010101" pitchFamily="18" charset="-127"/>
              </a:rPr>
              <a:t>B</a:t>
            </a:r>
            <a:r>
              <a:rPr lang="en-US" spc="-113" baseline="-25000" dirty="0">
                <a:latin typeface=" 윤명조420" panose="02030504000101010101" pitchFamily="18" charset="-127"/>
                <a:ea typeface=" 윤명조420" panose="02030504000101010101" pitchFamily="18" charset="-127"/>
              </a:rPr>
              <a:t>0</a:t>
            </a:r>
            <a:r>
              <a:rPr lang="en-US" spc="-113" dirty="0">
                <a:latin typeface=" 윤명조420" panose="02030504000101010101" pitchFamily="18" charset="-127"/>
                <a:ea typeface=" 윤명조420" panose="02030504000101010101" pitchFamily="18" charset="-127"/>
              </a:rPr>
              <a:t> = 4.875 - </a:t>
            </a:r>
            <a:r>
              <a:rPr lang="en-US" altLang="ko-KR" spc="-113" dirty="0">
                <a:latin typeface=" 윤명조420" panose="02030504000101010101" pitchFamily="18" charset="-127"/>
                <a:ea typeface=" 윤명조420" panose="02030504000101010101" pitchFamily="18" charset="-127"/>
              </a:rPr>
              <a:t>(0.5740) (9.25) = -.4345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A39378-D9DE-766F-0E77-DF8BBCD8BCD0}"/>
              </a:ext>
            </a:extLst>
          </p:cNvPr>
          <p:cNvSpPr txBox="1"/>
          <p:nvPr/>
        </p:nvSpPr>
        <p:spPr>
          <a:xfrm>
            <a:off x="1999366" y="4644080"/>
            <a:ext cx="4044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pc="-113" dirty="0">
                <a:latin typeface=" 윤명조420" panose="02030504000101010101" pitchFamily="18" charset="-127"/>
                <a:ea typeface=" 윤명조420" panose="02030504000101010101" pitchFamily="18" charset="-127"/>
                <a:sym typeface="KoreanYNMYTL"/>
              </a:rPr>
              <a:t>턱걸이 </a:t>
            </a:r>
            <a:r>
              <a:rPr lang="en-US" altLang="ko-KR" spc="-113" dirty="0">
                <a:latin typeface=" 윤명조420" panose="02030504000101010101" pitchFamily="18" charset="-127"/>
                <a:ea typeface=" 윤명조420" panose="02030504000101010101" pitchFamily="18" charset="-127"/>
                <a:sym typeface="KoreanYNMYTL"/>
              </a:rPr>
              <a:t>= -.4345 + </a:t>
            </a:r>
            <a:r>
              <a:rPr lang="en-US" altLang="ko-KR" spc="-113" dirty="0">
                <a:latin typeface=" 윤명조420" panose="02030504000101010101" pitchFamily="18" charset="-127"/>
                <a:ea typeface=" 윤명조420" panose="02030504000101010101" pitchFamily="18" charset="-127"/>
              </a:rPr>
              <a:t>(0.5730 * 32) = </a:t>
            </a:r>
            <a:r>
              <a:rPr lang="en-US" altLang="ko-KR" spc="-113" dirty="0">
                <a:solidFill>
                  <a:srgbClr val="FF0000"/>
                </a:solidFill>
                <a:latin typeface=" 윤명조420" panose="02030504000101010101" pitchFamily="18" charset="-127"/>
                <a:ea typeface=" 윤명조420" panose="02030504000101010101" pitchFamily="18" charset="-127"/>
              </a:rPr>
              <a:t>17.93</a:t>
            </a:r>
            <a:endParaRPr lang="ko-KR" altLang="en-US" spc="-113" dirty="0">
              <a:solidFill>
                <a:srgbClr val="FF0000"/>
              </a:solidFill>
              <a:latin typeface=" 윤명조420" panose="02030504000101010101" pitchFamily="18" charset="-127"/>
              <a:ea typeface=" 윤명조420" panose="02030504000101010101" pitchFamily="18" charset="-127"/>
              <a:sym typeface="KoreanYNMYTL"/>
            </a:endParaRPr>
          </a:p>
        </p:txBody>
      </p:sp>
      <p:sp>
        <p:nvSpPr>
          <p:cNvPr id="2" name="직사각형 2">
            <a:extLst>
              <a:ext uri="{FF2B5EF4-FFF2-40B4-BE49-F238E27FC236}">
                <a16:creationId xmlns:a16="http://schemas.microsoft.com/office/drawing/2014/main" id="{A8970E4D-94FA-BAE9-3BCC-EFB82B12F564}"/>
              </a:ext>
            </a:extLst>
          </p:cNvPr>
          <p:cNvSpPr/>
          <p:nvPr/>
        </p:nvSpPr>
        <p:spPr>
          <a:xfrm>
            <a:off x="732226" y="960850"/>
            <a:ext cx="7679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u="sng" spc="-300" dirty="0">
                <a:solidFill>
                  <a:schemeClr val="bg1">
                    <a:lumMod val="7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회귀분석</a:t>
            </a:r>
            <a:r>
              <a:rPr lang="ko-KR" altLang="en-US" sz="2000" spc="-30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2000" spc="-30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Regression</a:t>
            </a:r>
          </a:p>
        </p:txBody>
      </p:sp>
      <p:sp>
        <p:nvSpPr>
          <p:cNvPr id="5" name="직사각형 3">
            <a:extLst>
              <a:ext uri="{FF2B5EF4-FFF2-40B4-BE49-F238E27FC236}">
                <a16:creationId xmlns:a16="http://schemas.microsoft.com/office/drawing/2014/main" id="{23F6B568-D290-ED99-9E38-9C5E19EB71D8}"/>
              </a:ext>
            </a:extLst>
          </p:cNvPr>
          <p:cNvSpPr/>
          <p:nvPr/>
        </p:nvSpPr>
        <p:spPr>
          <a:xfrm>
            <a:off x="500530" y="590968"/>
            <a:ext cx="6536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Section 04 |  </a:t>
            </a:r>
            <a:r>
              <a:rPr lang="ko-KR" altLang="en-US" sz="200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상관과 예측</a:t>
            </a:r>
          </a:p>
        </p:txBody>
      </p:sp>
    </p:spTree>
    <p:extLst>
      <p:ext uri="{BB962C8B-B14F-4D97-AF65-F5344CB8AC3E}">
        <p14:creationId xmlns:p14="http://schemas.microsoft.com/office/powerpoint/2010/main" val="2871726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1295</Words>
  <Application>Microsoft Macintosh PowerPoint</Application>
  <PresentationFormat>On-screen Show (16:9)</PresentationFormat>
  <Paragraphs>274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6" baseType="lpstr">
      <vt:lpstr> 윤명조420</vt:lpstr>
      <vt:lpstr>08SeoulNamsan L</vt:lpstr>
      <vt:lpstr>KoreanYNMYTL</vt:lpstr>
      <vt:lpstr>Al Bayan Plain</vt:lpstr>
      <vt:lpstr>Arial</vt:lpstr>
      <vt:lpstr>Baguet Script</vt:lpstr>
      <vt:lpstr>Cambria Math</vt:lpstr>
      <vt:lpstr>ChosunilboNM</vt:lpstr>
      <vt:lpstr>Wingdings</vt:lpstr>
      <vt:lpstr>더잠실 3 Regular</vt:lpstr>
      <vt:lpstr>더잠실 5 Bold</vt:lpstr>
      <vt:lpstr>Office Theme</vt:lpstr>
      <vt:lpstr>무도측정평가</vt:lpstr>
      <vt:lpstr>Section 04 | 상관과 예측</vt:lpstr>
      <vt:lpstr>사용목적</vt:lpstr>
      <vt:lpstr>PowerPoint Presentation</vt:lpstr>
      <vt:lpstr>상관관계의 종류</vt:lpstr>
      <vt:lpstr>기본모형</vt:lpstr>
      <vt:lpstr>PowerPoint Presentation</vt:lpstr>
      <vt:lpstr>상관분석 Correlation</vt:lpstr>
      <vt:lpstr>상관분석 Correlation</vt:lpstr>
      <vt:lpstr>상관분석 Correlation</vt:lpstr>
      <vt:lpstr>상관분석 Correlation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13</TotalTime>
  <Words>73</Words>
  <Application>Microsoft Macintosh PowerPoint</Application>
  <PresentationFormat>On-screen Show (16:9)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Baguet Script</vt:lpstr>
      <vt:lpstr>Calibri</vt:lpstr>
      <vt:lpstr>Cambria Math</vt:lpstr>
      <vt:lpstr>ChosunilboNM</vt:lpstr>
      <vt:lpstr>더잠실 3 Regular</vt:lpstr>
      <vt:lpstr>더잠실 5 Bold</vt:lpstr>
      <vt:lpstr>Office Theme</vt:lpstr>
      <vt:lpstr>테스트 발표</vt:lpstr>
      <vt:lpstr>제목 슬라이드</vt:lpstr>
      <vt:lpstr>연구배경</vt:lpstr>
      <vt:lpstr>연구방법</vt:lpstr>
      <vt:lpstr>결과</vt:lpstr>
      <vt:lpstr>결론</vt:lpstr>
      <vt:lpstr>회귀분석</vt:lpstr>
      <vt:lpstr>카이제곱분포</vt:lpstr>
      <vt:lpstr>기술통계</vt:lpstr>
      <vt:lpstr>연구설계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무도측정평가</dc:title>
  <dc:creator>Jihoon, Park</dc:creator>
  <cp:keywords/>
  <cp:lastModifiedBy>Jihoon Park</cp:lastModifiedBy>
  <cp:revision>3</cp:revision>
  <dcterms:created xsi:type="dcterms:W3CDTF">2026-09-29T01:21:26Z</dcterms:created>
  <dcterms:modified xsi:type="dcterms:W3CDTF">2026-09-29T02:00:16Z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liases">
    <vt:lpwstr/>
  </property>
  <property fmtid="{D5CDD505-2E9C-101B-9397-08002B2CF9AE}" pid="3" name="id">
    <vt:lpwstr>04_상관과 예측</vt:lpwstr>
  </property>
  <property fmtid="{D5CDD505-2E9C-101B-9397-08002B2CF9AE}" pid="4" name="tags">
    <vt:lpwstr/>
  </property>
</Properties>
</file>