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emf" ContentType="image/x-emf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8792"/>
    <p:restoredTop autoAdjust="0" sz="94675"/>
  </p:normalViewPr>
  <p:slideViewPr>
    <p:cSldViewPr snapToGrid="0" snapToObjects="1">
      <p:cViewPr varScale="1">
        <p:scale>
          <a:sx d="100" n="169"/>
          <a:sy d="100" n="169"/>
        </p:scale>
        <p:origin x="656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6482" y="508438"/>
            <a:ext cx="7236008" cy="1468821"/>
          </a:xfrm>
        </p:spPr>
        <p:txBody>
          <a:bodyPr anchor="t"/>
          <a:lstStyle>
            <a:lvl1pPr algn="l">
              <a:defRPr lang="en-US" sz="8100" b="0" kern="1200" spc="-150" dirty="0">
                <a:solidFill>
                  <a:prstClr val="black"/>
                </a:solidFill>
                <a:latin typeface="더잠실 5 Bold" panose="00000800000000000000" pitchFamily="2" charset="-127"/>
                <a:ea typeface="더잠실 5 Bold" panose="00000800000000000000" pitchFamily="2" charset="-127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6482" y="2356406"/>
            <a:ext cx="7236008" cy="2278656"/>
          </a:xfrm>
        </p:spPr>
        <p:txBody>
          <a:bodyPr/>
          <a:lstStyle>
            <a:lvl1pPr marL="0" indent="0" algn="l">
              <a:buNone/>
              <a:defRPr lang="en-US" sz="4800" b="0" kern="1200" spc="-300" dirty="0">
                <a:solidFill>
                  <a:schemeClr val="tx1">
                    <a:lumMod val="50000"/>
                    <a:lumOff val="50000"/>
                  </a:schemeClr>
                </a:solidFill>
                <a:latin typeface="더잠실 5 Bold" panose="00000800000000000000" pitchFamily="2" charset="-127"/>
                <a:ea typeface="더잠실 5 Bold" panose="00000800000000000000" pitchFamily="2" charset="-127"/>
                <a:cs typeface="+mj-c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 anchor="t"/>
          <a:lstStyle>
            <a:lvl1pPr algn="l">
              <a:defRPr lang="en-US" sz="1600" b="1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4670" y="1745956"/>
            <a:ext cx="7847518" cy="3143439"/>
          </a:xfrm>
        </p:spPr>
        <p:txBody>
          <a:bodyPr>
            <a:normAutofit/>
          </a:bodyPr>
          <a:lstStyle>
            <a:lvl1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1pPr>
            <a:lvl2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2pPr>
            <a:lvl3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3pPr>
            <a:lvl4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4pPr>
            <a:lvl5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직사각형 2">
            <a:extLst>
              <a:ext uri="{FF2B5EF4-FFF2-40B4-BE49-F238E27FC236}">
                <a16:creationId xmlns:a16="http://schemas.microsoft.com/office/drawing/2014/main" id="{B6799193-8FCF-538C-2194-9918C7848182}"/>
              </a:ext>
            </a:extLst>
          </p:cNvPr>
          <p:cNvSpPr/>
          <p:nvPr userDrawn="1"/>
        </p:nvSpPr>
        <p:spPr>
          <a:xfrm>
            <a:off x="732226" y="960850"/>
            <a:ext cx="76795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u="sng" spc="-300" dirty="0">
                <a:solidFill>
                  <a:schemeClr val="bg1">
                    <a:lumMod val="75000"/>
                  </a:schemeClr>
                </a:solidFill>
                <a:latin typeface="더잠실 3 Regular" panose="00000500000000000000" pitchFamily="2" charset="-127"/>
                <a:ea typeface="더잠실 3 Regular" panose="00000500000000000000" pitchFamily="2" charset="-127"/>
              </a:rPr>
              <a:t>상관분석</a:t>
            </a:r>
            <a:r>
              <a:rPr lang="ko-KR" altLang="en-US" sz="2000" spc="-300" dirty="0">
                <a:solidFill>
                  <a:schemeClr val="bg1">
                    <a:lumMod val="75000"/>
                  </a:schemeClr>
                </a:solidFill>
                <a:latin typeface="ChosunilboNM" panose="02030304000000000000" pitchFamily="18" charset="-128"/>
                <a:ea typeface="ChosunilboNM" panose="02030304000000000000" pitchFamily="18" charset="-128"/>
              </a:rPr>
              <a:t> </a:t>
            </a: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Baguet Script" panose="00000500000000000000" pitchFamily="2" charset="0"/>
                <a:ea typeface="ChosunilboNM" panose="02030304000000000000" pitchFamily="18" charset="-128"/>
              </a:rPr>
              <a:t>Correlation</a:t>
            </a:r>
          </a:p>
        </p:txBody>
      </p:sp>
      <p:sp>
        <p:nvSpPr>
          <p:cNvPr id="5" name="직사각형 3">
            <a:extLst>
              <a:ext uri="{FF2B5EF4-FFF2-40B4-BE49-F238E27FC236}">
                <a16:creationId xmlns:a16="http://schemas.microsoft.com/office/drawing/2014/main" id="{4EC77CC4-C135-135A-B36F-F2C6C95DDE92}"/>
              </a:ext>
            </a:extLst>
          </p:cNvPr>
          <p:cNvSpPr/>
          <p:nvPr userDrawn="1"/>
        </p:nvSpPr>
        <p:spPr>
          <a:xfrm>
            <a:off x="500530" y="590968"/>
            <a:ext cx="65367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Baguet Script" panose="00000500000000000000" pitchFamily="2" charset="0"/>
                <a:ea typeface="ChosunilboNM" panose="02030304000000000000" pitchFamily="18" charset="-128"/>
              </a:rPr>
              <a:t>Section 04 |  </a:t>
            </a:r>
            <a:r>
              <a:rPr lang="ko-KR" altLang="en-US" sz="2000" b="1" spc="-150" dirty="0">
                <a:solidFill>
                  <a:schemeClr val="tx1">
                    <a:lumMod val="65000"/>
                    <a:lumOff val="35000"/>
                  </a:schemeClr>
                </a:solidFill>
                <a:latin typeface="더잠실 3 Regular" panose="00000500000000000000" pitchFamily="2" charset="-127"/>
                <a:ea typeface="더잠실 3 Regular" panose="00000500000000000000" pitchFamily="2" charset="-127"/>
              </a:rPr>
              <a:t>상관과 예측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409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2409" y="816768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6482" y="508438"/>
            <a:ext cx="7236008" cy="1468821"/>
          </a:xfrm>
        </p:spPr>
        <p:txBody>
          <a:bodyPr/>
          <a:lstStyle/>
          <a:p>
            <a:pPr lvl="0" indent="0" marL="0">
              <a:buNone/>
            </a:pPr>
            <a:r>
              <a:rPr/>
              <a:t>스포츠경기예측론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96482" y="2356406"/>
            <a:ext cx="7236008" cy="22786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Jihoon, Park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409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03 | 통계학의 분포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통계에서 왜 분포를 배우는가?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왜 확률분포를 알아야 할까?</a:t>
            </a:r>
          </a:p>
          <a:p>
            <a:pPr lvl="0"/>
            <a:r>
              <a:rPr/>
              <a:t>우리가 수집하는 데이터는 모두 불확실성을 가진다</a:t>
            </a:r>
          </a:p>
          <a:p>
            <a:pPr lvl="0"/>
            <a:r>
              <a:rPr/>
              <a:t>예시: - 동전 던지기 - 시험 점수 - 키와 몸무게 - 운동 중재 효과</a:t>
            </a:r>
          </a:p>
          <a:p>
            <a:pPr lvl="0"/>
            <a:r>
              <a:rPr/>
              <a:t>통계학은 “</a:t>
            </a:r>
            <a:r>
              <a:rPr b="1"/>
              <a:t>무작위로 발생하는 데이터를 수학적으로 설명하는 학문</a:t>
            </a:r>
            <a:r>
              <a:rPr/>
              <a:t>” 이며,  그 설명의 핵심 도구가 </a:t>
            </a:r>
            <a:r>
              <a:rPr b="1"/>
              <a:t>확률분포</a:t>
            </a:r>
            <a:r>
              <a:rPr/>
              <a:t>이다.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(분포 계보 그림)</a:t>
            </a:r>
          </a:p>
          <a:p>
            <a:pPr lvl="0"/>
            <a:r>
              <a:rPr/>
              <a:t>모든 분포는 서로 독립적인 것이 아니라 “</a:t>
            </a:r>
            <a:r>
              <a:rPr b="1"/>
              <a:t>이전 분포에서 발전한 결과</a:t>
            </a:r>
            <a:r>
              <a:rPr/>
              <a:t>”이다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베르누이 분포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발견자</a:t>
                </a:r>
              </a:p>
              <a:p>
                <a:pPr lvl="0"/>
                <a:r>
                  <a:rPr/>
                  <a:t>Jacob Bernoulli (1655 ~ 1705, 스위스 수학자)</a:t>
                </a:r>
              </a:p>
              <a:p>
                <a:pPr lvl="0"/>
                <a:r>
                  <a:rPr/>
                  <a:t>1680년대~1705년 사이에 연구가 진행되었으며, 대표 저서 《Ars Conjectandi》는 사후인 1713년에 출판되며 확률론의 기초가 체계화됨</a:t>
                </a:r>
              </a:p>
              <a:p>
                <a:pPr lvl="0"/>
                <a:r>
                  <a:rPr/>
                  <a:t>당시 유럽에서는 도박, 주사위, 카드게임의 승률을 계산하려는 관심이 매우 컸음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베르누이분포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- 성공/실패 시행(Bernoulli Trial) - 대수의 법칙 - 반복 시행의 확률</a:t>
                </a:r>
              </a:p>
              <a:p>
                <a:pPr lvl="0" indent="0" marL="0">
                  <a:buNone/>
                </a:pPr>
                <a:r>
                  <a:rPr/>
                  <a:t>(베르누이 분포 그림)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이항분포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발견자</a:t>
                </a:r>
              </a:p>
              <a:p>
                <a:pPr lvl="0"/>
                <a:r>
                  <a:rPr/>
                  <a:t>Jacob Bernoulli의 연구를 바탕으로 발전하였으며, 이후 Abraham de Moivre가 체계적으로 다룸</a:t>
                </a:r>
              </a:p>
              <a:p>
                <a:pPr lvl="0"/>
                <a:r>
                  <a:rPr/>
                  <a:t>18세기 초반 (1700년대) 에 이항분포를 정의하였으며 추후 정규분포로 발전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이항분포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∼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### 왜 필요했을까?</a:t>
                </a:r>
              </a:p>
              <a:p>
                <a:pPr lvl="0"/>
                <a:r>
                  <a:rPr/>
                  <a:t>한 성공할 확률? -&gt; 100번 중 몇 번 성공할까?</a:t>
                </a:r>
              </a:p>
              <a:p>
                <a:pPr lvl="0"/>
                <a:r>
                  <a:rPr/>
                  <a:t>베르누이 시행을 여러 번 반복했을 때 성공 횟수의 분포</a:t>
                </a:r>
              </a:p>
              <a:p>
                <a:pPr lvl="0"/>
                <a:r>
                  <a:rPr/>
                  <a:t>예) - 동전 20번 던졌을 때 앞면 개수 - 자유투 10번 성공 횟수</a:t>
                </a:r>
              </a:p>
              <a:p>
                <a:pPr lvl="0" indent="0" marL="0">
                  <a:buNone/>
                </a:pPr>
                <a:r>
                  <a:rPr/>
                  <a:t>(이항분포 그림)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정규분포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발견자</a:t>
                </a:r>
              </a:p>
              <a:p>
                <a:pPr lvl="0"/>
                <a:r>
                  <a:rPr/>
                  <a:t>Abraham de Moivre가 1733년에 이항분포의 근사곡선을 발견하였고, 이후 Carl Friedrich Gauss가 1809년 측정오차 연구에서 활용</a:t>
                </a:r>
              </a:p>
              <a:p>
                <a:pPr lvl="0"/>
                <a:r>
                  <a:rPr/>
                  <a:t>도박 문제를 계산하기 쉽게 만들기 위해 처음 등장</a:t>
                </a:r>
              </a:p>
              <a:p>
                <a:pPr lvl="0"/>
                <a:r>
                  <a:rPr/>
                  <a:t>이후 천문학에서 관측 오차, 측정 오차 를 설명하기 위해 사용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정규분포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∼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- 평균 근처 값이 가장 많이 나타나고 양쪽으로 갈수록 빈도가 감소하는 분포 - 많은 자연현상이 정규분포를 따름 (키, 몸무게, 혈압, 측정오차) - 사실상 대부분은 정규분위 위에 세워져 있음</a:t>
                </a:r>
              </a:p>
              <a:p>
                <a:pPr lvl="0" indent="0" marL="0">
                  <a:buNone/>
                </a:pPr>
                <a:r>
                  <a:rPr/>
                  <a:t>(정규분포 그림)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카이제곱 분포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발견자</a:t>
                </a:r>
              </a:p>
              <a:p>
                <a:pPr lvl="0"/>
                <a:r>
                  <a:rPr/>
                  <a:t>Karl Pearson (1857~1936) 이 1900년에 발표</a:t>
                </a:r>
              </a:p>
              <a:p>
                <a:pPr lvl="0"/>
                <a:r>
                  <a:rPr/>
                  <a:t>질문이 바뀌었음 - 평균은 알겠다 -&gt; 자료가 얼마나 흩어져 있는가? -&gt; 분산을 검정하고 싶다</a:t>
                </a:r>
              </a:p>
              <a:p>
                <a:pPr lvl="0"/>
                <a:r>
                  <a:rPr/>
                  <a:t>아이디어: 정규분포 값을 제곱하면 음수가 사라진다!!!!!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카이제곱분포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χ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Z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Sup>
                        <m:e>
                          <m:r>
                            <m:t>Z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Sup>
                        <m:e>
                          <m:r>
                            <m:t>Z</m:t>
                          </m:r>
                        </m:e>
                        <m:sub>
                          <m:r>
                            <m:t>k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여기서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Z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- 표본정규분포를 제곱해서 만든 분포로 </a:t>
                </a:r>
                <a:r>
                  <a:rPr b="1"/>
                  <a:t>분산 검정</a:t>
                </a:r>
                <a:r>
                  <a:rPr/>
                  <a:t>, </a:t>
                </a:r>
                <a:r>
                  <a:rPr b="1"/>
                  <a:t>적합도 검정</a:t>
                </a:r>
                <a:r>
                  <a:rPr/>
                  <a:t>, </a:t>
                </a:r>
                <a:r>
                  <a:rPr b="1"/>
                  <a:t>독립성 검정</a:t>
                </a:r>
                <a:r>
                  <a:rPr/>
                  <a:t>에 사용</a:t>
                </a:r>
              </a:p>
              <a:p>
                <a:pPr lvl="0" indent="0" marL="0">
                  <a:buNone/>
                </a:pPr>
                <a:r>
                  <a:rPr/>
                  <a:t>(카이제곱분포 그림)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t분포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발견자</a:t>
                </a:r>
              </a:p>
              <a:p>
                <a:pPr lvl="0"/>
                <a:r>
                  <a:rPr/>
                  <a:t>William Sealy Gosset (1876~1937) 이 필명 Student 를 사용하여 발표하면서 Student’s t Distribution 이라고 함</a:t>
                </a:r>
              </a:p>
              <a:p>
                <a:pPr lvl="0"/>
                <a:r>
                  <a:rPr/>
                  <a:t>당시 Gosset이 근무하던 Guinness(맥주회사) 에서 품질검사를 수행하던 중 표본이 너무 작아 정규분포를 따르지 않는 문제를 발견</a:t>
                </a:r>
              </a:p>
              <a:p>
                <a:pPr lvl="0"/>
                <a:r>
                  <a:rPr/>
                  <a:t>정규분포는 표본이 충분히 많을 때 좋은 성질을 가짐</a:t>
                </a:r>
              </a:p>
              <a:p>
                <a:pPr lvl="0"/>
                <a:r>
                  <a:rPr/>
                  <a:t>그러나 소표본 상황에서는 오차가 커지는 문제가 발생함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t분포의 정의</a:t>
                </a:r>
              </a:p>
              <a:p>
                <a:pPr lvl="0" indent="0" marL="0">
                  <a:buNone/>
                </a:pPr>
                <a:r>
                  <a:rPr/>
                  <a:t>표본정규분포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∼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와 카이제곱분포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χ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를 이용하여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Z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sSup>
                                <m:e>
                                  <m:r>
                                    <m:t>χ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m:t>/</m:t>
                              </m:r>
                              <m:r>
                                <m:t>d</m:t>
                              </m:r>
                              <m:r>
                                <m:t>f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t값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μ</m:t>
                          </m:r>
                        </m:num>
                        <m:den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즉,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평</m:t>
                          </m:r>
                          <m:r>
                            <m:t>균</m:t>
                          </m:r>
                          <m:r>
                            <m:t> </m:t>
                          </m:r>
                          <m:r>
                            <m:t>차</m:t>
                          </m:r>
                          <m:r>
                            <m:t>이</m:t>
                          </m:r>
                        </m:num>
                        <m:den>
                          <m:r>
                            <m:t>표</m:t>
                          </m:r>
                          <m:r>
                            <m:t>준</m:t>
                          </m:r>
                          <m:r>
                            <m:t>오</m:t>
                          </m:r>
                          <m:r>
                            <m:t>차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자유도(표본)가 작으면 </a:t>
                </a:r>
                <a:r>
                  <a:rPr b="1"/>
                  <a:t>꼬리가 두꺼움</a:t>
                </a:r>
                <a:r>
                  <a:rPr/>
                  <a:t>, 자유도가 커지면 </a:t>
                </a:r>
                <a:r>
                  <a:rPr b="1"/>
                  <a:t>정규분포와 거의 같아짐</a:t>
                </a:r>
              </a:p>
              <a:p>
                <a:pPr lvl="0" indent="0" marL="0">
                  <a:buNone/>
                </a:pPr>
                <a:r>
                  <a:rPr/>
                  <a:t>(자유도에 따른 t분포 그림)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F분포 탄생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새로운 문제</a:t>
                </a:r>
              </a:p>
              <a:p>
                <a:pPr lvl="0"/>
                <a:r>
                  <a:rPr/>
                  <a:t>1900년대 초 연구자들은 “두 집단 평균 비교” 뿐 아니라 “3개 이상 집단 비교”를 시도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집</m:t>
                    </m:r>
                    <m:r>
                      <m:t>단</m:t>
                    </m:r>
                    <m:r>
                      <m:t>간</m:t>
                    </m:r>
                    <m:r>
                      <m:t> </m:t>
                    </m:r>
                    <m:r>
                      <m:t>차</m:t>
                    </m:r>
                    <m:r>
                      <m:t>이</m:t>
                    </m:r>
                    <m:r>
                      <m:t> </m:t>
                    </m:r>
                    <m:r>
                      <m:t>v</m:t>
                    </m:r>
                    <m:r>
                      <m:t>s</m:t>
                    </m:r>
                    <m:r>
                      <m:t> </m:t>
                    </m:r>
                    <m:r>
                      <m:t>집</m:t>
                    </m:r>
                    <m:r>
                      <m:t>단</m:t>
                    </m:r>
                    <m:r>
                      <m:t>내</m:t>
                    </m:r>
                    <m:r>
                      <m:t> </m:t>
                    </m:r>
                    <m:r>
                      <m:t>차</m:t>
                    </m:r>
                    <m:r>
                      <m:t>이</m:t>
                    </m:r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F분포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발견자</a:t>
                </a:r>
              </a:p>
              <a:p>
                <a:pPr lvl="0"/>
                <a:r>
                  <a:rPr/>
                  <a:t>Ronald A. Fisher (1890~1962) 가 1920년대 분산비(Variance Ratio) 개념 제안</a:t>
                </a:r>
              </a:p>
              <a:p>
                <a:pPr lvl="0"/>
                <a:r>
                  <a:rPr/>
                  <a:t>분산들의 비율을 비교하기 위해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분</m:t>
                        </m:r>
                        <m:r>
                          <m:t>산</m:t>
                        </m:r>
                        <m:r>
                          <m:t>1</m:t>
                        </m:r>
                      </m:num>
                      <m:den>
                        <m:r>
                          <m:t>분</m:t>
                        </m:r>
                        <m:r>
                          <m:t>산</m:t>
                        </m:r>
                        <m:r>
                          <m:t>2</m:t>
                        </m:r>
                      </m:den>
                    </m:f>
                  </m:oMath>
                </a14:m>
                <a:r>
                  <a:rPr/>
                  <a:t> 를 연구함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F분포의 개념</a:t>
                </a:r>
              </a:p>
              <a:p>
                <a:pPr lvl="0"/>
                <a:r>
                  <a:rPr/>
                  <a:t>두 카이제곱 분포의 비율로 만들어지는 분포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χ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sSubSup>
                            <m:e>
                              <m:r>
                                <m:t>χ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즉,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∼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 </m:t>
                      </m:r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분산분석(ANOVA)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집</m:t>
                          </m:r>
                          <m:r>
                            <m:t>단</m:t>
                          </m:r>
                          <m:r>
                            <m:t>간</m:t>
                          </m:r>
                          <m:r>
                            <m:t>분</m:t>
                          </m:r>
                          <m:r>
                            <m:t>산</m:t>
                          </m:r>
                        </m:num>
                        <m:den>
                          <m:r>
                            <m:t>집</m:t>
                          </m:r>
                          <m:r>
                            <m:t>단</m:t>
                          </m:r>
                          <m:r>
                            <m:t>내</m:t>
                          </m:r>
                          <m:r>
                            <m:t>분</m:t>
                          </m:r>
                          <m:r>
                            <m:t>산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종합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베르누이 -&gt; 이항 -&gt; 정규 -&gt; 카이제곱 -&gt; t분포 -&gt; F</a:t>
            </a:r>
          </a:p>
          <a:p>
            <a:pPr lvl="0"/>
            <a:r>
              <a:rPr b="1"/>
              <a:t>단순한 암기 순서</a:t>
            </a:r>
            <a:r>
              <a:rPr/>
              <a:t>가 아니라 </a:t>
            </a:r>
            <a:r>
              <a:rPr b="1"/>
              <a:t>통계학이 해결하려고 했던 문제의 역사</a:t>
            </a:r>
            <a:r>
              <a:rPr/>
              <a:t>이다</a:t>
            </a:r>
          </a:p>
          <a:p>
            <a:pPr lvl="0"/>
            <a:r>
              <a:rPr/>
              <a:t>베르누이: 성공/실패</a:t>
            </a:r>
          </a:p>
          <a:p>
            <a:pPr lvl="0"/>
            <a:r>
              <a:rPr/>
              <a:t>이항: 성공횟수</a:t>
            </a:r>
          </a:p>
          <a:p>
            <a:pPr lvl="0"/>
            <a:r>
              <a:rPr/>
              <a:t>정규: 평균</a:t>
            </a:r>
          </a:p>
          <a:p>
            <a:pPr lvl="0"/>
            <a:r>
              <a:rPr/>
              <a:t>카이제곱: 제곱합</a:t>
            </a:r>
          </a:p>
          <a:p>
            <a:pPr lvl="0"/>
            <a:r>
              <a:rPr/>
              <a:t>F: 분산비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/>
          <a:lstStyle/>
          <a:p>
            <a:pPr lvl="0" indent="0" marL="0">
              <a:buNone/>
            </a:pPr>
            <a:r>
              <a:rPr/>
              <a:t>참고자료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확률분포의 발전</a:t>
            </a:r>
          </a:p>
          <a:p>
            <a:pPr lvl="0" indent="0" marL="0">
              <a:buNone/>
            </a:pPr>
            <a:r>
              <a:rPr/>
              <a:t>베르누이</a:t>
            </a:r>
          </a:p>
          <a:p>
            <a:pPr lvl="0" indent="0" marL="0">
              <a:buNone/>
            </a:pPr>
            <a:r>
              <a:rPr/>
              <a:t>   ↓</a:t>
            </a:r>
          </a:p>
          <a:p>
            <a:pPr lvl="0" indent="0" marL="0">
              <a:buNone/>
            </a:pPr>
            <a:r>
              <a:rPr/>
              <a:t>이항</a:t>
            </a:r>
          </a:p>
          <a:p>
            <a:pPr lvl="0" indent="0" marL="0">
              <a:buNone/>
            </a:pPr>
            <a:r>
              <a:rPr/>
              <a:t>   ↓</a:t>
            </a:r>
          </a:p>
          <a:p>
            <a:pPr lvl="0" indent="0" marL="0">
              <a:buNone/>
            </a:pPr>
            <a:r>
              <a:rPr/>
              <a:t>정규</a:t>
            </a:r>
          </a:p>
          <a:p>
            <a:pPr lvl="0" indent="0" marL="0">
              <a:buNone/>
            </a:pPr>
            <a:r>
              <a:rPr/>
              <a:t>   ├──→ 카이제곱</a:t>
            </a:r>
          </a:p>
          <a:p>
            <a:pPr lvl="0" indent="0" marL="0">
              <a:buNone/>
            </a:pPr>
            <a:r>
              <a:rPr/>
              <a:t>   │          ↓</a:t>
            </a:r>
          </a:p>
          <a:p>
            <a:pPr lvl="0" indent="0" marL="0">
              <a:buNone/>
            </a:pPr>
            <a:r>
              <a:rPr/>
              <a:t>   │         F</a:t>
            </a:r>
          </a:p>
          <a:p>
            <a:pPr lvl="0" indent="0" marL="0">
              <a:buNone/>
            </a:pPr>
            <a:r>
              <a:rPr/>
              <a:t>   │</a:t>
            </a:r>
          </a:p>
          <a:p>
            <a:pPr lvl="0" indent="0" marL="0">
              <a:buNone/>
            </a:pPr>
            <a:r>
              <a:rPr/>
              <a:t>   └──→ t</a:t>
            </a:r>
          </a:p>
          <a:p>
            <a:pPr lvl="0" indent="0" marL="0">
              <a:buNone/>
            </a:pPr>
            <a:r>
              <a:rPr/>
              <a:t>통계분석의 발전</a:t>
            </a:r>
          </a:p>
          <a:p>
            <a:pPr lvl="0" indent="0" marL="0">
              <a:buNone/>
            </a:pPr>
            <a:r>
              <a:rPr/>
              <a:t>회귀분석</a:t>
            </a:r>
          </a:p>
          <a:p>
            <a:pPr lvl="0" indent="0" marL="0">
              <a:buNone/>
            </a:pPr>
            <a:r>
              <a:rPr/>
              <a:t>   ├──→ t-test</a:t>
            </a:r>
          </a:p>
          <a:p>
            <a:pPr lvl="0" indent="0" marL="0">
              <a:buNone/>
            </a:pPr>
            <a:r>
              <a:rPr/>
              <a:t>   └──→ ANOVA</a:t>
            </a:r>
          </a:p>
          <a:p>
            <a:pPr lvl="0" indent="0" marL="0">
              <a:buNone/>
            </a:pPr>
            <a:r>
              <a:rPr/>
              <a:t>현대 통계학</a:t>
            </a:r>
          </a:p>
          <a:p>
            <a:pPr lvl="0" indent="0" marL="0">
              <a:buNone/>
            </a:pPr>
            <a:r>
              <a:rPr/>
              <a:t>            일반선형모형(GLM)</a:t>
            </a:r>
          </a:p>
          <a:p>
            <a:pPr lvl="0" indent="0" marL="0">
              <a:buNone/>
            </a:pPr>
            <a:r>
              <a:rPr/>
              <a:t>                    │</a:t>
            </a:r>
          </a:p>
          <a:p>
            <a:pPr lvl="0" indent="0" marL="0">
              <a:buNone/>
            </a:pPr>
            <a:r>
              <a:rPr/>
              <a:t>       ┌────────┬────────┐</a:t>
            </a:r>
          </a:p>
          <a:p>
            <a:pPr lvl="0" indent="0" marL="0">
              <a:buNone/>
            </a:pPr>
            <a:r>
              <a:rPr/>
              <a:t>       ▼        ▼        ▼</a:t>
            </a:r>
          </a:p>
          <a:p>
            <a:pPr lvl="0" indent="0" marL="0">
              <a:buNone/>
            </a:pPr>
            <a:r>
              <a:rPr/>
              <a:t>    t-test   ANOVA   회귀분석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73</Words>
  <Application>Microsoft Macintosh PowerPoint</Application>
  <PresentationFormat>On-screen Show (16:9)</PresentationFormat>
  <Paragraphs>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Baguet Script</vt:lpstr>
      <vt:lpstr>Calibri</vt:lpstr>
      <vt:lpstr>Cambria Math</vt:lpstr>
      <vt:lpstr>ChosunilboNM</vt:lpstr>
      <vt:lpstr>더잠실 3 Regular</vt:lpstr>
      <vt:lpstr>더잠실 5 Bold</vt:lpstr>
      <vt:lpstr>Office Theme</vt:lpstr>
      <vt:lpstr>테스트 발표</vt:lpstr>
      <vt:lpstr>제목 슬라이드</vt:lpstr>
      <vt:lpstr>연구배경</vt:lpstr>
      <vt:lpstr>연구방법</vt:lpstr>
      <vt:lpstr>결과</vt:lpstr>
      <vt:lpstr>결론</vt:lpstr>
      <vt:lpstr>회귀분석</vt:lpstr>
      <vt:lpstr>카이제곱분포</vt:lpstr>
      <vt:lpstr>기술통계</vt:lpstr>
      <vt:lpstr>연구설계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스포츠경기예측론</dc:title>
  <dc:creator>Jihoon, Park</dc:creator>
  <cp:keywords/>
  <dcterms:created xsi:type="dcterms:W3CDTF">2026-09-30T08:35:16Z</dcterms:created>
  <dcterms:modified xsi:type="dcterms:W3CDTF">2026-09-30T08:35:16Z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d">
    <vt:lpwstr>단국대학교 스포츠사이언스융합학과</vt:lpwstr>
  </property>
  <property fmtid="{D5CDD505-2E9C-101B-9397-08002B2CF9AE}" pid="3" name="tags">
    <vt:lpwstr/>
  </property>
</Properties>
</file>