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90" autoAdjust="0"/>
    <p:restoredTop sz="94688" autoAdjust="0"/>
  </p:normalViewPr>
  <p:slideViewPr>
    <p:cSldViewPr snapToGrid="0" snapToObjects="1">
      <p:cViewPr varScale="1">
        <p:scale>
          <a:sx n="79" d="100"/>
          <a:sy n="79" d="100"/>
        </p:scale>
        <p:origin x="200" y="14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6482" y="508438"/>
            <a:ext cx="7236008" cy="1468821"/>
          </a:xfrm>
        </p:spPr>
        <p:txBody>
          <a:bodyPr anchor="t">
            <a:noAutofit/>
          </a:bodyPr>
          <a:lstStyle>
            <a:lvl1pPr algn="l">
              <a:defRPr lang="en-US" sz="7200" b="0" kern="1200" spc="-150" dirty="0">
                <a:solidFill>
                  <a:prstClr val="black"/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2278656"/>
          </a:xfrm>
        </p:spPr>
        <p:txBody>
          <a:bodyPr/>
          <a:lstStyle>
            <a:lvl1pPr marL="0" indent="0" algn="l">
              <a:buNone/>
              <a:defRPr lang="en-US" sz="4800" b="0" kern="1200" spc="-300" dirty="0">
                <a:solidFill>
                  <a:schemeClr val="tx1">
                    <a:lumMod val="50000"/>
                    <a:lumOff val="50000"/>
                  </a:schemeClr>
                </a:solidFill>
                <a:latin typeface="더잠실 5 Bold" panose="00000800000000000000" pitchFamily="2" charset="-127"/>
                <a:ea typeface="더잠실 5 Bold" panose="00000800000000000000" pitchFamily="2" charset="-127"/>
                <a:cs typeface="+mj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 anchor="t"/>
          <a:lstStyle>
            <a:lvl1pPr algn="l">
              <a:defRPr lang="en-US" sz="1600" b="1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70" y="1745956"/>
            <a:ext cx="7847518" cy="3143439"/>
          </a:xfrm>
        </p:spPr>
        <p:txBody>
          <a:bodyPr>
            <a:normAutofit/>
          </a:bodyPr>
          <a:lstStyle>
            <a:lvl1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1pPr>
            <a:lvl2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2pPr>
            <a:lvl3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3pPr>
            <a:lvl4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4pPr>
            <a:lvl5pPr>
              <a:defRPr lang="en-US" sz="1600" kern="1200" spc="-150" dirty="0">
                <a:solidFill>
                  <a:schemeClr val="tx1"/>
                </a:solidFill>
                <a:latin typeface="ChosunilboNM" panose="02030304000000000000" pitchFamily="18" charset="-128"/>
                <a:ea typeface="ChosunilboNM" panose="02030304000000000000" pitchFamily="18" charset="-128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직사각형 2">
            <a:extLst>
              <a:ext uri="{FF2B5EF4-FFF2-40B4-BE49-F238E27FC236}">
                <a16:creationId xmlns:a16="http://schemas.microsoft.com/office/drawing/2014/main" id="{B6799193-8FCF-538C-2194-9918C7848182}"/>
              </a:ext>
            </a:extLst>
          </p:cNvPr>
          <p:cNvSpPr/>
          <p:nvPr userDrawn="1"/>
        </p:nvSpPr>
        <p:spPr>
          <a:xfrm>
            <a:off x="732226" y="960850"/>
            <a:ext cx="7679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u="sng" spc="-150" dirty="0">
                <a:solidFill>
                  <a:schemeClr val="bg1">
                    <a:lumMod val="7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분포</a:t>
            </a:r>
            <a:r>
              <a:rPr lang="ko-KR" altLang="en-US" sz="2000" spc="-150" dirty="0">
                <a:solidFill>
                  <a:schemeClr val="bg1">
                    <a:lumMod val="75000"/>
                  </a:schemeClr>
                </a:solidFill>
                <a:latin typeface="ChosunilboNM" panose="02030304000000000000" pitchFamily="18" charset="-128"/>
                <a:ea typeface="ChosunilboNM" panose="02030304000000000000" pitchFamily="18" charset="-128"/>
              </a:rPr>
              <a:t> </a:t>
            </a:r>
            <a:r>
              <a:rPr lang="en-US" altLang="ko-KR" sz="1600" spc="-150" dirty="0" err="1">
                <a:solidFill>
                  <a:schemeClr val="bg1">
                    <a:lumMod val="7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Dstribution</a:t>
            </a:r>
            <a:endParaRPr lang="en-US" altLang="ko-KR" sz="1600" spc="-150" dirty="0">
              <a:solidFill>
                <a:schemeClr val="bg1">
                  <a:lumMod val="75000"/>
                </a:schemeClr>
              </a:solidFill>
              <a:latin typeface="Baguet Script" panose="00000500000000000000" pitchFamily="2" charset="0"/>
              <a:ea typeface="ChosunilboNM" panose="02030304000000000000" pitchFamily="18" charset="-128"/>
            </a:endParaRPr>
          </a:p>
        </p:txBody>
      </p:sp>
      <p:sp>
        <p:nvSpPr>
          <p:cNvPr id="5" name="직사각형 3">
            <a:extLst>
              <a:ext uri="{FF2B5EF4-FFF2-40B4-BE49-F238E27FC236}">
                <a16:creationId xmlns:a16="http://schemas.microsoft.com/office/drawing/2014/main" id="{4EC77CC4-C135-135A-B36F-F2C6C95DDE92}"/>
              </a:ext>
            </a:extLst>
          </p:cNvPr>
          <p:cNvSpPr/>
          <p:nvPr userDrawn="1"/>
        </p:nvSpPr>
        <p:spPr>
          <a:xfrm>
            <a:off x="500530" y="590968"/>
            <a:ext cx="65367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Baguet Script" panose="00000500000000000000" pitchFamily="2" charset="0"/>
                <a:ea typeface="ChosunilboNM" panose="02030304000000000000" pitchFamily="18" charset="-128"/>
              </a:rPr>
              <a:t>Section 03 |  </a:t>
            </a:r>
            <a:r>
              <a:rPr lang="ko-KR" altLang="en-US" sz="2000" b="1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더잠실 3 Regular" panose="00000500000000000000" pitchFamily="2" charset="-127"/>
                <a:ea typeface="더잠실 3 Regular" panose="00000500000000000000" pitchFamily="2" charset="-127"/>
              </a:rPr>
              <a:t>분포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09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2409" y="816768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96482" y="508438"/>
            <a:ext cx="7236008" cy="1468821"/>
          </a:xfrm>
        </p:spPr>
        <p:txBody>
          <a:bodyPr/>
          <a:lstStyle/>
          <a:p>
            <a:pPr marL="0" lvl="0" indent="0">
              <a:buNone/>
            </a:pPr>
            <a:r>
              <a:t>스포츠경기예측론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482" y="2356406"/>
            <a:ext cx="7236008" cy="2278656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br/>
            <a:br/>
            <a:r>
              <a:t>Jihoon, 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2409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Section 03 | 통계학의 분포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통계에서 왜 분포를 배우는가?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69" y="1745956"/>
            <a:ext cx="8262811" cy="3143439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dirty="0" err="1"/>
              <a:t>왜</a:t>
            </a:r>
            <a:r>
              <a:rPr dirty="0"/>
              <a:t> </a:t>
            </a:r>
            <a:r>
              <a:rPr dirty="0" err="1"/>
              <a:t>확률분포를</a:t>
            </a:r>
            <a:r>
              <a:rPr dirty="0"/>
              <a:t> </a:t>
            </a:r>
            <a:r>
              <a:rPr dirty="0" err="1"/>
              <a:t>알아야</a:t>
            </a:r>
            <a:r>
              <a:rPr dirty="0"/>
              <a:t> </a:t>
            </a:r>
            <a:r>
              <a:rPr dirty="0" err="1"/>
              <a:t>할까</a:t>
            </a:r>
            <a:r>
              <a:rPr dirty="0"/>
              <a:t>?</a:t>
            </a:r>
          </a:p>
          <a:p>
            <a:pPr lvl="0">
              <a:lnSpc>
                <a:spcPct val="150000"/>
              </a:lnSpc>
            </a:pPr>
            <a:r>
              <a:rPr dirty="0" err="1"/>
              <a:t>우리가</a:t>
            </a:r>
            <a:r>
              <a:rPr dirty="0"/>
              <a:t> </a:t>
            </a:r>
            <a:r>
              <a:rPr dirty="0" err="1"/>
              <a:t>수집하는</a:t>
            </a:r>
            <a:r>
              <a:rPr dirty="0"/>
              <a:t> </a:t>
            </a:r>
            <a:r>
              <a:rPr dirty="0" err="1"/>
              <a:t>데이터는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불확실성을</a:t>
            </a:r>
            <a:r>
              <a:rPr dirty="0"/>
              <a:t> </a:t>
            </a:r>
            <a:r>
              <a:rPr dirty="0" err="1"/>
              <a:t>가</a:t>
            </a:r>
            <a:r>
              <a:rPr lang="ko-KR" altLang="en-US" dirty="0"/>
              <a:t>짐</a:t>
            </a:r>
            <a:endParaRPr dirty="0"/>
          </a:p>
          <a:p>
            <a:pPr lvl="0"/>
            <a:r>
              <a:rPr dirty="0" err="1"/>
              <a:t>예시</a:t>
            </a:r>
            <a:r>
              <a:rPr dirty="0"/>
              <a:t>: </a:t>
            </a:r>
            <a:br>
              <a:rPr lang="en-US" dirty="0"/>
            </a:br>
            <a:r>
              <a:rPr dirty="0"/>
              <a:t>- </a:t>
            </a:r>
            <a:r>
              <a:rPr dirty="0" err="1"/>
              <a:t>동전</a:t>
            </a:r>
            <a:r>
              <a:rPr dirty="0"/>
              <a:t> </a:t>
            </a:r>
            <a:r>
              <a:rPr dirty="0" err="1"/>
              <a:t>던지기</a:t>
            </a:r>
            <a:r>
              <a:rPr dirty="0"/>
              <a:t>  </a:t>
            </a:r>
            <a:br>
              <a:rPr lang="en-US" dirty="0"/>
            </a:br>
            <a:r>
              <a:rPr dirty="0"/>
              <a:t>- </a:t>
            </a:r>
            <a:r>
              <a:rPr dirty="0" err="1"/>
              <a:t>시험</a:t>
            </a:r>
            <a:r>
              <a:rPr dirty="0"/>
              <a:t> </a:t>
            </a:r>
            <a:r>
              <a:rPr dirty="0" err="1"/>
              <a:t>점수</a:t>
            </a:r>
            <a:r>
              <a:rPr dirty="0"/>
              <a:t>  </a:t>
            </a:r>
            <a:br>
              <a:rPr lang="en-US" dirty="0"/>
            </a:br>
            <a:r>
              <a:rPr dirty="0"/>
              <a:t>- </a:t>
            </a:r>
            <a:r>
              <a:rPr dirty="0" err="1"/>
              <a:t>키와</a:t>
            </a:r>
            <a:r>
              <a:rPr dirty="0"/>
              <a:t> </a:t>
            </a:r>
            <a:r>
              <a:rPr dirty="0" err="1"/>
              <a:t>몸무게</a:t>
            </a:r>
            <a:r>
              <a:rPr dirty="0"/>
              <a:t> </a:t>
            </a:r>
            <a:br>
              <a:rPr lang="en-US" dirty="0"/>
            </a:br>
            <a:r>
              <a:rPr dirty="0"/>
              <a:t>- </a:t>
            </a:r>
            <a:r>
              <a:rPr dirty="0" err="1"/>
              <a:t>운동</a:t>
            </a:r>
            <a:r>
              <a:rPr dirty="0"/>
              <a:t> </a:t>
            </a:r>
            <a:r>
              <a:rPr dirty="0" err="1"/>
              <a:t>중재</a:t>
            </a:r>
            <a:r>
              <a:rPr dirty="0"/>
              <a:t> </a:t>
            </a:r>
            <a:r>
              <a:rPr dirty="0" err="1"/>
              <a:t>효과</a:t>
            </a:r>
            <a:endParaRPr dirty="0"/>
          </a:p>
          <a:p>
            <a:pPr lvl="0">
              <a:lnSpc>
                <a:spcPct val="150000"/>
              </a:lnSpc>
            </a:pPr>
            <a:r>
              <a:rPr dirty="0" err="1"/>
              <a:t>통계학은</a:t>
            </a:r>
            <a:r>
              <a:rPr dirty="0"/>
              <a:t> “</a:t>
            </a:r>
            <a:r>
              <a:rPr b="1" dirty="0" err="1"/>
              <a:t>무작위로</a:t>
            </a:r>
            <a:r>
              <a:rPr b="1" dirty="0"/>
              <a:t> </a:t>
            </a:r>
            <a:r>
              <a:rPr b="1" dirty="0" err="1"/>
              <a:t>발생하는</a:t>
            </a:r>
            <a:r>
              <a:rPr b="1" dirty="0"/>
              <a:t> </a:t>
            </a:r>
            <a:r>
              <a:rPr b="1" dirty="0" err="1"/>
              <a:t>데이터를</a:t>
            </a:r>
            <a:r>
              <a:rPr b="1" dirty="0"/>
              <a:t> </a:t>
            </a:r>
            <a:r>
              <a:rPr b="1" dirty="0" err="1"/>
              <a:t>수학적으로</a:t>
            </a:r>
            <a:r>
              <a:rPr b="1" dirty="0"/>
              <a:t> </a:t>
            </a:r>
            <a:r>
              <a:rPr b="1" dirty="0" err="1"/>
              <a:t>설명하는</a:t>
            </a:r>
            <a:r>
              <a:rPr b="1" dirty="0"/>
              <a:t> </a:t>
            </a:r>
            <a:r>
              <a:rPr b="1" dirty="0" err="1"/>
              <a:t>학문</a:t>
            </a:r>
            <a:r>
              <a:rPr dirty="0"/>
              <a:t>” </a:t>
            </a:r>
            <a:r>
              <a:rPr dirty="0" err="1"/>
              <a:t>이며</a:t>
            </a:r>
            <a:r>
              <a:rPr dirty="0"/>
              <a:t>, 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설명의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도구가</a:t>
            </a:r>
            <a:r>
              <a:rPr dirty="0"/>
              <a:t> </a:t>
            </a:r>
            <a:r>
              <a:rPr b="1" dirty="0" err="1"/>
              <a:t>확률분포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분포는</a:t>
            </a:r>
            <a:r>
              <a:rPr dirty="0"/>
              <a:t> </a:t>
            </a:r>
            <a:r>
              <a:rPr dirty="0" err="1"/>
              <a:t>서로</a:t>
            </a:r>
            <a:r>
              <a:rPr dirty="0"/>
              <a:t> </a:t>
            </a:r>
            <a:r>
              <a:rPr dirty="0" err="1"/>
              <a:t>독립적인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“</a:t>
            </a:r>
            <a:r>
              <a:rPr b="1" dirty="0" err="1"/>
              <a:t>이전</a:t>
            </a:r>
            <a:r>
              <a:rPr b="1" dirty="0"/>
              <a:t> </a:t>
            </a:r>
            <a:r>
              <a:rPr b="1" dirty="0" err="1"/>
              <a:t>분포에서</a:t>
            </a:r>
            <a:r>
              <a:rPr b="1" dirty="0"/>
              <a:t> </a:t>
            </a:r>
            <a:r>
              <a:rPr b="1" dirty="0" err="1"/>
              <a:t>발전한</a:t>
            </a:r>
            <a:r>
              <a:rPr b="1" dirty="0"/>
              <a:t> </a:t>
            </a:r>
            <a:r>
              <a:rPr b="1" dirty="0" err="1"/>
              <a:t>결과</a:t>
            </a:r>
            <a:r>
              <a:rPr dirty="0" err="1"/>
              <a:t>”이다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1E7A68-057D-2E21-EE9B-151D8A4258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70" y="1463084"/>
            <a:ext cx="2800349" cy="28003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6B2F97-D4C4-46C3-8F10-46F8D499F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902" y="1463084"/>
            <a:ext cx="5297823" cy="28003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베르누이 분포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dirty="0"/>
                  <a:t>Jacob Bernoulli (1655 ~ 1705, </a:t>
                </a:r>
                <a:r>
                  <a:rPr dirty="0" err="1"/>
                  <a:t>스위스</a:t>
                </a:r>
                <a:r>
                  <a:rPr dirty="0"/>
                  <a:t> </a:t>
                </a:r>
                <a:r>
                  <a:rPr dirty="0" err="1"/>
                  <a:t>수학자</a:t>
                </a:r>
                <a:r>
                  <a:rPr dirty="0"/>
                  <a:t>)</a:t>
                </a:r>
              </a:p>
              <a:p>
                <a:pPr lvl="0"/>
                <a:r>
                  <a:rPr dirty="0"/>
                  <a:t>1680년대~1705년 </a:t>
                </a:r>
                <a:r>
                  <a:rPr dirty="0" err="1"/>
                  <a:t>사이에</a:t>
                </a:r>
                <a:r>
                  <a:rPr dirty="0"/>
                  <a:t> </a:t>
                </a:r>
                <a:r>
                  <a:rPr dirty="0" err="1"/>
                  <a:t>연구가</a:t>
                </a:r>
                <a:r>
                  <a:rPr dirty="0"/>
                  <a:t> </a:t>
                </a:r>
                <a:r>
                  <a:rPr dirty="0" err="1"/>
                  <a:t>진행되었으며</a:t>
                </a:r>
                <a:r>
                  <a:rPr dirty="0"/>
                  <a:t>, </a:t>
                </a:r>
                <a:r>
                  <a:rPr dirty="0" err="1"/>
                  <a:t>대표</a:t>
                </a:r>
                <a:r>
                  <a:rPr dirty="0"/>
                  <a:t> </a:t>
                </a:r>
                <a:r>
                  <a:rPr dirty="0" err="1"/>
                  <a:t>저서</a:t>
                </a:r>
                <a:r>
                  <a:rPr dirty="0"/>
                  <a:t> 《Ars </a:t>
                </a:r>
                <a:r>
                  <a:rPr dirty="0" err="1"/>
                  <a:t>Conjectandi》는</a:t>
                </a:r>
                <a:r>
                  <a:rPr dirty="0"/>
                  <a:t> </a:t>
                </a:r>
                <a:r>
                  <a:rPr dirty="0" err="1"/>
                  <a:t>사후인</a:t>
                </a:r>
                <a:r>
                  <a:rPr dirty="0"/>
                  <a:t> 1713년에 </a:t>
                </a:r>
                <a:r>
                  <a:rPr dirty="0" err="1"/>
                  <a:t>출판되며</a:t>
                </a:r>
                <a:r>
                  <a:rPr dirty="0"/>
                  <a:t> </a:t>
                </a:r>
                <a:r>
                  <a:rPr dirty="0" err="1"/>
                  <a:t>확률론의</a:t>
                </a:r>
                <a:r>
                  <a:rPr dirty="0"/>
                  <a:t> </a:t>
                </a:r>
                <a:r>
                  <a:rPr dirty="0" err="1"/>
                  <a:t>기초가</a:t>
                </a:r>
                <a:r>
                  <a:rPr dirty="0"/>
                  <a:t> </a:t>
                </a:r>
                <a:r>
                  <a:rPr dirty="0" err="1"/>
                  <a:t>체계화됨</a:t>
                </a:r>
                <a:endParaRPr dirty="0"/>
              </a:p>
              <a:p>
                <a:pPr lvl="0"/>
                <a:r>
                  <a:rPr dirty="0" err="1"/>
                  <a:t>당시</a:t>
                </a:r>
                <a:r>
                  <a:rPr dirty="0"/>
                  <a:t> </a:t>
                </a:r>
                <a:r>
                  <a:rPr dirty="0" err="1"/>
                  <a:t>유럽에서는</a:t>
                </a:r>
                <a:r>
                  <a:rPr dirty="0"/>
                  <a:t> </a:t>
                </a:r>
                <a:r>
                  <a:rPr dirty="0" err="1"/>
                  <a:t>도박</a:t>
                </a:r>
                <a:r>
                  <a:rPr dirty="0"/>
                  <a:t>, </a:t>
                </a:r>
                <a:r>
                  <a:rPr dirty="0" err="1"/>
                  <a:t>주사위</a:t>
                </a:r>
                <a:r>
                  <a:rPr dirty="0"/>
                  <a:t>, </a:t>
                </a:r>
                <a:r>
                  <a:rPr dirty="0" err="1"/>
                  <a:t>카드게임의</a:t>
                </a:r>
                <a:r>
                  <a:rPr dirty="0"/>
                  <a:t> </a:t>
                </a:r>
                <a:r>
                  <a:rPr dirty="0" err="1"/>
                  <a:t>승률을</a:t>
                </a:r>
                <a:r>
                  <a:rPr dirty="0"/>
                  <a:t> </a:t>
                </a:r>
                <a:r>
                  <a:rPr dirty="0" err="1"/>
                  <a:t>계산하려는</a:t>
                </a:r>
                <a:r>
                  <a:rPr dirty="0"/>
                  <a:t> </a:t>
                </a:r>
                <a:r>
                  <a:rPr dirty="0" err="1"/>
                  <a:t>관심이</a:t>
                </a:r>
                <a:r>
                  <a:rPr dirty="0"/>
                  <a:t> </a:t>
                </a:r>
                <a:r>
                  <a:rPr dirty="0" err="1"/>
                  <a:t>매우</a:t>
                </a:r>
                <a:r>
                  <a:rPr dirty="0"/>
                  <a:t> </a:t>
                </a:r>
                <a:r>
                  <a:rPr dirty="0" err="1"/>
                  <a:t>컸음</a:t>
                </a:r>
                <a:endParaRPr dirty="0"/>
              </a:p>
              <a:p>
                <a:pPr marL="0" lv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dirty="0"/>
              </a:p>
              <a:p>
                <a:pPr lvl="0"/>
                <a:endParaRPr lang="en-US" dirty="0"/>
              </a:p>
              <a:p>
                <a:pPr lvl="0"/>
                <a:r>
                  <a:rPr dirty="0" err="1"/>
                  <a:t>성공</a:t>
                </a:r>
                <a:r>
                  <a:rPr dirty="0"/>
                  <a:t>/</a:t>
                </a:r>
                <a:r>
                  <a:rPr dirty="0" err="1"/>
                  <a:t>실패</a:t>
                </a:r>
                <a:r>
                  <a:rPr dirty="0"/>
                  <a:t> </a:t>
                </a:r>
                <a:r>
                  <a:rPr dirty="0" err="1"/>
                  <a:t>시행</a:t>
                </a:r>
                <a:r>
                  <a:rPr dirty="0"/>
                  <a:t>(Bernoulli Trial)</a:t>
                </a:r>
              </a:p>
              <a:p>
                <a:pPr lvl="0"/>
                <a:r>
                  <a:rPr dirty="0" err="1"/>
                  <a:t>대수의</a:t>
                </a:r>
                <a:r>
                  <a:rPr dirty="0"/>
                  <a:t> </a:t>
                </a:r>
                <a:r>
                  <a:rPr dirty="0" err="1"/>
                  <a:t>법칙</a:t>
                </a:r>
                <a:endParaRPr dirty="0"/>
              </a:p>
              <a:p>
                <a:pPr lvl="0"/>
                <a:r>
                  <a:rPr dirty="0" err="1"/>
                  <a:t>반복</a:t>
                </a:r>
                <a:r>
                  <a:rPr dirty="0"/>
                  <a:t> </a:t>
                </a:r>
                <a:r>
                  <a:rPr dirty="0" err="1"/>
                  <a:t>시행의</a:t>
                </a:r>
                <a:r>
                  <a:rPr dirty="0"/>
                  <a:t> </a:t>
                </a:r>
                <a:r>
                  <a:rPr dirty="0" err="1"/>
                  <a:t>확률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4" t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B8F91EA-6A76-530E-B234-8D37432DA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516" y="3038823"/>
            <a:ext cx="2721429" cy="18505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이항분포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Jacob </a:t>
                </a:r>
                <a:r>
                  <a:rPr dirty="0" err="1"/>
                  <a:t>Bernoulli의</a:t>
                </a:r>
                <a:r>
                  <a:rPr dirty="0"/>
                  <a:t> </a:t>
                </a:r>
                <a:r>
                  <a:rPr dirty="0" err="1"/>
                  <a:t>연구를</a:t>
                </a:r>
                <a:r>
                  <a:rPr dirty="0"/>
                  <a:t> </a:t>
                </a:r>
                <a:r>
                  <a:rPr dirty="0" err="1"/>
                  <a:t>바탕으로</a:t>
                </a:r>
                <a:r>
                  <a:rPr dirty="0"/>
                  <a:t> </a:t>
                </a:r>
                <a:r>
                  <a:rPr dirty="0" err="1"/>
                  <a:t>발전하였으며</a:t>
                </a:r>
                <a:r>
                  <a:rPr dirty="0"/>
                  <a:t>, </a:t>
                </a:r>
                <a:r>
                  <a:rPr dirty="0" err="1"/>
                  <a:t>이후</a:t>
                </a:r>
                <a:r>
                  <a:rPr dirty="0"/>
                  <a:t> Abraham de </a:t>
                </a:r>
                <a:r>
                  <a:rPr dirty="0" err="1"/>
                  <a:t>Moivre가</a:t>
                </a:r>
                <a:r>
                  <a:rPr dirty="0"/>
                  <a:t> </a:t>
                </a:r>
                <a:r>
                  <a:rPr dirty="0" err="1"/>
                  <a:t>체계적으로</a:t>
                </a:r>
                <a:r>
                  <a:rPr dirty="0"/>
                  <a:t> </a:t>
                </a:r>
                <a:r>
                  <a:rPr dirty="0" err="1"/>
                  <a:t>다룸</a:t>
                </a:r>
                <a:endParaRPr dirty="0"/>
              </a:p>
              <a:p>
                <a:pPr lvl="0"/>
                <a:r>
                  <a:rPr dirty="0"/>
                  <a:t>18세기 </a:t>
                </a:r>
                <a:r>
                  <a:rPr dirty="0" err="1"/>
                  <a:t>초반</a:t>
                </a:r>
                <a:r>
                  <a:rPr dirty="0"/>
                  <a:t> (1700년대) </a:t>
                </a:r>
                <a:r>
                  <a:rPr dirty="0" err="1"/>
                  <a:t>에</a:t>
                </a:r>
                <a:r>
                  <a:rPr dirty="0"/>
                  <a:t> </a:t>
                </a:r>
                <a:r>
                  <a:rPr dirty="0" err="1"/>
                  <a:t>이항분포를</a:t>
                </a:r>
                <a:r>
                  <a:rPr dirty="0"/>
                  <a:t> </a:t>
                </a:r>
                <a:r>
                  <a:rPr dirty="0" err="1"/>
                  <a:t>정의하였으며</a:t>
                </a:r>
                <a:r>
                  <a:rPr dirty="0"/>
                  <a:t> </a:t>
                </a:r>
                <a:r>
                  <a:rPr dirty="0" err="1"/>
                  <a:t>추후</a:t>
                </a:r>
                <a:r>
                  <a:rPr dirty="0"/>
                  <a:t> </a:t>
                </a:r>
                <a:r>
                  <a:rPr dirty="0" err="1"/>
                  <a:t>정규분포로</a:t>
                </a:r>
                <a:r>
                  <a:rPr dirty="0"/>
                  <a:t> </a:t>
                </a:r>
                <a:r>
                  <a:rPr dirty="0" err="1"/>
                  <a:t>발전</a:t>
                </a:r>
                <a:endParaRPr lang="en-US" dirty="0"/>
              </a:p>
              <a:p>
                <a:pPr lvl="0"/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 err="1"/>
                  <a:t>왜</a:t>
                </a:r>
                <a:r>
                  <a:rPr b="1" dirty="0"/>
                  <a:t> </a:t>
                </a:r>
                <a:r>
                  <a:rPr b="1" dirty="0" err="1"/>
                  <a:t>필요했을까</a:t>
                </a:r>
                <a:r>
                  <a:rPr b="1" dirty="0"/>
                  <a:t>?</a:t>
                </a:r>
              </a:p>
              <a:p>
                <a:pPr lvl="0"/>
                <a:r>
                  <a:rPr dirty="0" err="1"/>
                  <a:t>한</a:t>
                </a:r>
                <a:r>
                  <a:rPr dirty="0"/>
                  <a:t> </a:t>
                </a:r>
                <a:r>
                  <a:rPr dirty="0" err="1"/>
                  <a:t>성공할</a:t>
                </a:r>
                <a:r>
                  <a:rPr dirty="0"/>
                  <a:t> </a:t>
                </a:r>
                <a:r>
                  <a:rPr dirty="0" err="1"/>
                  <a:t>확률</a:t>
                </a:r>
                <a:r>
                  <a:rPr dirty="0"/>
                  <a:t>? -&gt; 100번 </a:t>
                </a:r>
                <a:r>
                  <a:rPr dirty="0" err="1"/>
                  <a:t>중</a:t>
                </a:r>
                <a:r>
                  <a:rPr dirty="0"/>
                  <a:t> </a:t>
                </a:r>
                <a:r>
                  <a:rPr dirty="0" err="1"/>
                  <a:t>몇</a:t>
                </a:r>
                <a:r>
                  <a:rPr dirty="0"/>
                  <a:t> </a:t>
                </a:r>
                <a:r>
                  <a:rPr dirty="0" err="1"/>
                  <a:t>번</a:t>
                </a:r>
                <a:r>
                  <a:rPr dirty="0"/>
                  <a:t> </a:t>
                </a:r>
                <a:r>
                  <a:rPr dirty="0" err="1"/>
                  <a:t>성공할까</a:t>
                </a:r>
                <a:r>
                  <a:rPr dirty="0"/>
                  <a:t>?</a:t>
                </a:r>
              </a:p>
              <a:p>
                <a:pPr lvl="0"/>
                <a:r>
                  <a:rPr dirty="0" err="1"/>
                  <a:t>베르누이</a:t>
                </a:r>
                <a:r>
                  <a:rPr dirty="0"/>
                  <a:t> </a:t>
                </a:r>
                <a:r>
                  <a:rPr dirty="0" err="1"/>
                  <a:t>시행을</a:t>
                </a:r>
                <a:r>
                  <a:rPr dirty="0"/>
                  <a:t> </a:t>
                </a:r>
                <a:r>
                  <a:rPr dirty="0" err="1"/>
                  <a:t>여러</a:t>
                </a:r>
                <a:r>
                  <a:rPr dirty="0"/>
                  <a:t> </a:t>
                </a:r>
                <a:r>
                  <a:rPr dirty="0" err="1"/>
                  <a:t>번</a:t>
                </a:r>
                <a:r>
                  <a:rPr dirty="0"/>
                  <a:t> </a:t>
                </a:r>
                <a:r>
                  <a:rPr dirty="0" err="1"/>
                  <a:t>반복했을</a:t>
                </a:r>
                <a:r>
                  <a:rPr dirty="0"/>
                  <a:t> </a:t>
                </a:r>
                <a:r>
                  <a:rPr dirty="0" err="1"/>
                  <a:t>때</a:t>
                </a:r>
                <a:r>
                  <a:rPr dirty="0"/>
                  <a:t> </a:t>
                </a:r>
                <a:r>
                  <a:rPr dirty="0" err="1"/>
                  <a:t>성공</a:t>
                </a:r>
                <a:r>
                  <a:rPr dirty="0"/>
                  <a:t> </a:t>
                </a:r>
                <a:r>
                  <a:rPr dirty="0" err="1"/>
                  <a:t>횟수의</a:t>
                </a:r>
                <a:r>
                  <a:rPr dirty="0"/>
                  <a:t> </a:t>
                </a:r>
                <a:r>
                  <a:rPr dirty="0" err="1"/>
                  <a:t>분포</a:t>
                </a:r>
                <a:endParaRPr dirty="0"/>
              </a:p>
              <a:p>
                <a:pPr lvl="0"/>
                <a:r>
                  <a:rPr dirty="0" err="1"/>
                  <a:t>예</a:t>
                </a:r>
                <a:r>
                  <a:rPr dirty="0"/>
                  <a:t>) - </a:t>
                </a:r>
                <a:r>
                  <a:rPr dirty="0" err="1"/>
                  <a:t>동전</a:t>
                </a:r>
                <a:r>
                  <a:rPr dirty="0"/>
                  <a:t> 20번 </a:t>
                </a:r>
                <a:r>
                  <a:rPr dirty="0" err="1"/>
                  <a:t>던졌을</a:t>
                </a:r>
                <a:r>
                  <a:rPr dirty="0"/>
                  <a:t> </a:t>
                </a:r>
                <a:r>
                  <a:rPr dirty="0" err="1"/>
                  <a:t>때</a:t>
                </a:r>
                <a:r>
                  <a:rPr dirty="0"/>
                  <a:t> </a:t>
                </a:r>
                <a:r>
                  <a:rPr dirty="0" err="1"/>
                  <a:t>앞면</a:t>
                </a:r>
                <a:r>
                  <a:rPr dirty="0"/>
                  <a:t> </a:t>
                </a:r>
                <a:r>
                  <a:rPr dirty="0" err="1"/>
                  <a:t>개수</a:t>
                </a:r>
                <a:r>
                  <a:rPr dirty="0"/>
                  <a:t> - </a:t>
                </a:r>
                <a:r>
                  <a:rPr dirty="0" err="1"/>
                  <a:t>자유투</a:t>
                </a:r>
                <a:r>
                  <a:rPr dirty="0"/>
                  <a:t> 10번 </a:t>
                </a:r>
                <a:r>
                  <a:rPr dirty="0" err="1"/>
                  <a:t>성공</a:t>
                </a:r>
                <a:r>
                  <a:rPr dirty="0"/>
                  <a:t> </a:t>
                </a:r>
                <a:r>
                  <a:rPr dirty="0" err="1"/>
                  <a:t>횟수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5" t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B437CE5D-093E-A99E-64F0-922AD9370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222" y="2895600"/>
            <a:ext cx="247650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E5833F-0657-A76E-A79E-780B07FC4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234" y="2234303"/>
            <a:ext cx="2518014" cy="13716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정규분포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dirty="0"/>
                  <a:t>Abraham de </a:t>
                </a:r>
                <a:r>
                  <a:rPr dirty="0" err="1"/>
                  <a:t>Moivre가</a:t>
                </a:r>
                <a:r>
                  <a:rPr dirty="0"/>
                  <a:t> 1733년에 </a:t>
                </a:r>
                <a:r>
                  <a:rPr dirty="0" err="1"/>
                  <a:t>이항분포의</a:t>
                </a:r>
                <a:r>
                  <a:rPr dirty="0"/>
                  <a:t> </a:t>
                </a:r>
                <a:r>
                  <a:rPr dirty="0" err="1"/>
                  <a:t>근사곡선을</a:t>
                </a:r>
                <a:r>
                  <a:rPr dirty="0"/>
                  <a:t> </a:t>
                </a:r>
                <a:r>
                  <a:rPr dirty="0" err="1"/>
                  <a:t>발견하였고</a:t>
                </a:r>
                <a:r>
                  <a:rPr dirty="0"/>
                  <a:t>, </a:t>
                </a:r>
                <a:r>
                  <a:rPr dirty="0" err="1"/>
                  <a:t>이후</a:t>
                </a:r>
                <a:r>
                  <a:rPr dirty="0"/>
                  <a:t> Carl Friedrich </a:t>
                </a:r>
                <a:r>
                  <a:rPr dirty="0" err="1"/>
                  <a:t>Gauss가</a:t>
                </a:r>
                <a:r>
                  <a:rPr dirty="0"/>
                  <a:t> </a:t>
                </a:r>
                <a:br>
                  <a:rPr lang="en-US" dirty="0"/>
                </a:br>
                <a:r>
                  <a:rPr dirty="0"/>
                  <a:t>1809년 </a:t>
                </a:r>
                <a:r>
                  <a:rPr dirty="0" err="1"/>
                  <a:t>측정오차</a:t>
                </a:r>
                <a:r>
                  <a:rPr dirty="0"/>
                  <a:t> </a:t>
                </a:r>
                <a:r>
                  <a:rPr dirty="0" err="1"/>
                  <a:t>연구에서</a:t>
                </a:r>
                <a:r>
                  <a:rPr dirty="0"/>
                  <a:t> </a:t>
                </a:r>
                <a:r>
                  <a:rPr dirty="0" err="1"/>
                  <a:t>활용</a:t>
                </a:r>
                <a:endParaRPr dirty="0"/>
              </a:p>
              <a:p>
                <a:pPr lvl="0"/>
                <a:r>
                  <a:rPr dirty="0" err="1"/>
                  <a:t>도박</a:t>
                </a:r>
                <a:r>
                  <a:rPr dirty="0"/>
                  <a:t> </a:t>
                </a:r>
                <a:r>
                  <a:rPr dirty="0" err="1"/>
                  <a:t>문제를</a:t>
                </a:r>
                <a:r>
                  <a:rPr dirty="0"/>
                  <a:t> </a:t>
                </a:r>
                <a:r>
                  <a:rPr dirty="0" err="1"/>
                  <a:t>계산하기</a:t>
                </a:r>
                <a:r>
                  <a:rPr dirty="0"/>
                  <a:t> </a:t>
                </a:r>
                <a:r>
                  <a:rPr dirty="0" err="1"/>
                  <a:t>쉽게</a:t>
                </a:r>
                <a:r>
                  <a:rPr dirty="0"/>
                  <a:t> </a:t>
                </a:r>
                <a:r>
                  <a:rPr dirty="0" err="1"/>
                  <a:t>만들기</a:t>
                </a:r>
                <a:r>
                  <a:rPr dirty="0"/>
                  <a:t> </a:t>
                </a:r>
                <a:r>
                  <a:rPr dirty="0" err="1"/>
                  <a:t>위해</a:t>
                </a:r>
                <a:r>
                  <a:rPr dirty="0"/>
                  <a:t> </a:t>
                </a:r>
                <a:r>
                  <a:rPr dirty="0" err="1"/>
                  <a:t>처음</a:t>
                </a:r>
                <a:r>
                  <a:rPr dirty="0"/>
                  <a:t> </a:t>
                </a:r>
                <a:r>
                  <a:rPr dirty="0" err="1"/>
                  <a:t>등장</a:t>
                </a:r>
                <a:endParaRPr dirty="0"/>
              </a:p>
              <a:p>
                <a:pPr lvl="0"/>
                <a:r>
                  <a:rPr dirty="0" err="1"/>
                  <a:t>이후</a:t>
                </a:r>
                <a:r>
                  <a:rPr dirty="0"/>
                  <a:t> </a:t>
                </a:r>
                <a:r>
                  <a:rPr dirty="0" err="1"/>
                  <a:t>천문학에서</a:t>
                </a:r>
                <a:r>
                  <a:rPr dirty="0"/>
                  <a:t> </a:t>
                </a:r>
                <a:r>
                  <a:rPr dirty="0" err="1"/>
                  <a:t>관측</a:t>
                </a:r>
                <a:r>
                  <a:rPr dirty="0"/>
                  <a:t> </a:t>
                </a:r>
                <a:r>
                  <a:rPr dirty="0" err="1"/>
                  <a:t>오차</a:t>
                </a:r>
                <a:r>
                  <a:rPr dirty="0"/>
                  <a:t>, </a:t>
                </a:r>
                <a:r>
                  <a:rPr dirty="0" err="1"/>
                  <a:t>측정</a:t>
                </a:r>
                <a:r>
                  <a:rPr dirty="0"/>
                  <a:t> </a:t>
                </a:r>
                <a:r>
                  <a:rPr dirty="0" err="1"/>
                  <a:t>오차</a:t>
                </a:r>
                <a:r>
                  <a:rPr dirty="0"/>
                  <a:t> </a:t>
                </a:r>
                <a:r>
                  <a:rPr dirty="0" err="1"/>
                  <a:t>를</a:t>
                </a:r>
                <a:r>
                  <a:rPr dirty="0"/>
                  <a:t> </a:t>
                </a:r>
                <a:r>
                  <a:rPr dirty="0" err="1"/>
                  <a:t>설명하기</a:t>
                </a:r>
                <a:r>
                  <a:rPr dirty="0"/>
                  <a:t> </a:t>
                </a:r>
                <a:r>
                  <a:rPr dirty="0" err="1"/>
                  <a:t>위해</a:t>
                </a:r>
                <a:r>
                  <a:rPr dirty="0"/>
                  <a:t> </a:t>
                </a:r>
                <a:r>
                  <a:rPr dirty="0" err="1"/>
                  <a:t>사용</a:t>
                </a:r>
                <a:endParaRPr dirty="0"/>
              </a:p>
              <a:p>
                <a:pPr marL="0" lv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endParaRPr lang="en-US" dirty="0"/>
              </a:p>
              <a:p>
                <a:pPr lvl="0"/>
                <a:r>
                  <a:rPr dirty="0" err="1"/>
                  <a:t>평균</a:t>
                </a:r>
                <a:r>
                  <a:rPr dirty="0"/>
                  <a:t> </a:t>
                </a:r>
                <a:r>
                  <a:rPr dirty="0" err="1"/>
                  <a:t>근처</a:t>
                </a:r>
                <a:r>
                  <a:rPr dirty="0"/>
                  <a:t> </a:t>
                </a:r>
                <a:r>
                  <a:rPr dirty="0" err="1"/>
                  <a:t>값이</a:t>
                </a:r>
                <a:r>
                  <a:rPr dirty="0"/>
                  <a:t> </a:t>
                </a:r>
                <a:r>
                  <a:rPr dirty="0" err="1"/>
                  <a:t>가장</a:t>
                </a:r>
                <a:r>
                  <a:rPr dirty="0"/>
                  <a:t> </a:t>
                </a:r>
                <a:r>
                  <a:rPr dirty="0" err="1"/>
                  <a:t>많이</a:t>
                </a:r>
                <a:r>
                  <a:rPr dirty="0"/>
                  <a:t> </a:t>
                </a:r>
                <a:r>
                  <a:rPr dirty="0" err="1"/>
                  <a:t>나타나고</a:t>
                </a:r>
                <a:r>
                  <a:rPr dirty="0"/>
                  <a:t> </a:t>
                </a:r>
                <a:r>
                  <a:rPr dirty="0" err="1"/>
                  <a:t>양쪽으로</a:t>
                </a:r>
                <a:r>
                  <a:rPr dirty="0"/>
                  <a:t> </a:t>
                </a:r>
                <a:r>
                  <a:rPr dirty="0" err="1"/>
                  <a:t>갈수록</a:t>
                </a:r>
                <a:r>
                  <a:rPr dirty="0"/>
                  <a:t> </a:t>
                </a:r>
                <a:r>
                  <a:rPr dirty="0" err="1"/>
                  <a:t>빈도가</a:t>
                </a:r>
                <a:r>
                  <a:rPr dirty="0"/>
                  <a:t> </a:t>
                </a:r>
                <a:r>
                  <a:rPr dirty="0" err="1"/>
                  <a:t>감소하는</a:t>
                </a:r>
                <a:r>
                  <a:rPr dirty="0"/>
                  <a:t> </a:t>
                </a:r>
                <a:r>
                  <a:rPr dirty="0" err="1"/>
                  <a:t>분포</a:t>
                </a:r>
                <a:endParaRPr dirty="0"/>
              </a:p>
              <a:p>
                <a:pPr lvl="0"/>
                <a:r>
                  <a:rPr dirty="0" err="1"/>
                  <a:t>많은</a:t>
                </a:r>
                <a:r>
                  <a:rPr dirty="0"/>
                  <a:t> </a:t>
                </a:r>
                <a:r>
                  <a:rPr dirty="0" err="1"/>
                  <a:t>자연현상이</a:t>
                </a:r>
                <a:r>
                  <a:rPr dirty="0"/>
                  <a:t> </a:t>
                </a:r>
                <a:r>
                  <a:rPr dirty="0" err="1"/>
                  <a:t>정규분포를</a:t>
                </a:r>
                <a:r>
                  <a:rPr dirty="0"/>
                  <a:t> </a:t>
                </a:r>
                <a:r>
                  <a:rPr dirty="0" err="1"/>
                  <a:t>따름</a:t>
                </a:r>
                <a:r>
                  <a:rPr dirty="0"/>
                  <a:t> (</a:t>
                </a:r>
                <a:r>
                  <a:rPr dirty="0" err="1"/>
                  <a:t>키</a:t>
                </a:r>
                <a:r>
                  <a:rPr dirty="0"/>
                  <a:t>, </a:t>
                </a:r>
                <a:r>
                  <a:rPr dirty="0" err="1"/>
                  <a:t>몸무게</a:t>
                </a:r>
                <a:r>
                  <a:rPr dirty="0"/>
                  <a:t>, </a:t>
                </a:r>
                <a:r>
                  <a:rPr dirty="0" err="1"/>
                  <a:t>혈압</a:t>
                </a:r>
                <a:r>
                  <a:rPr dirty="0"/>
                  <a:t>, </a:t>
                </a:r>
                <a:r>
                  <a:rPr dirty="0" err="1"/>
                  <a:t>측정오차</a:t>
                </a:r>
                <a:r>
                  <a:rPr dirty="0"/>
                  <a:t>)</a:t>
                </a:r>
              </a:p>
              <a:p>
                <a:pPr lvl="0"/>
                <a:r>
                  <a:rPr dirty="0" err="1"/>
                  <a:t>사실상</a:t>
                </a:r>
                <a:r>
                  <a:rPr dirty="0"/>
                  <a:t> </a:t>
                </a:r>
                <a:r>
                  <a:rPr dirty="0" err="1"/>
                  <a:t>대부분은</a:t>
                </a:r>
                <a:r>
                  <a:rPr dirty="0"/>
                  <a:t> </a:t>
                </a:r>
                <a:r>
                  <a:rPr dirty="0" err="1"/>
                  <a:t>정규분위</a:t>
                </a:r>
                <a:r>
                  <a:rPr dirty="0"/>
                  <a:t> </a:t>
                </a:r>
                <a:r>
                  <a:rPr dirty="0" err="1"/>
                  <a:t>위에</a:t>
                </a:r>
                <a:r>
                  <a:rPr dirty="0"/>
                  <a:t> </a:t>
                </a:r>
                <a:r>
                  <a:rPr dirty="0" err="1"/>
                  <a:t>세워져</a:t>
                </a:r>
                <a:r>
                  <a:rPr dirty="0"/>
                  <a:t> </a:t>
                </a:r>
                <a:r>
                  <a:rPr dirty="0" err="1"/>
                  <a:t>있음</a:t>
                </a:r>
                <a:endParaRPr dirty="0"/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24" t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카이제곱 분포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dirty="0"/>
                  <a:t>Karl Pearson (1857~1936) </a:t>
                </a:r>
                <a:r>
                  <a:rPr dirty="0" err="1"/>
                  <a:t>이</a:t>
                </a:r>
                <a:r>
                  <a:rPr dirty="0"/>
                  <a:t> 1900년에 </a:t>
                </a:r>
                <a:r>
                  <a:rPr dirty="0" err="1"/>
                  <a:t>발표</a:t>
                </a:r>
                <a:endParaRPr dirty="0"/>
              </a:p>
              <a:p>
                <a:pPr lvl="0"/>
                <a:r>
                  <a:rPr dirty="0" err="1"/>
                  <a:t>질문이</a:t>
                </a:r>
                <a:r>
                  <a:rPr dirty="0"/>
                  <a:t> </a:t>
                </a:r>
                <a:r>
                  <a:rPr dirty="0" err="1"/>
                  <a:t>바뀌었음</a:t>
                </a:r>
                <a:endParaRPr dirty="0"/>
              </a:p>
              <a:p>
                <a:pPr lvl="1"/>
                <a:r>
                  <a:rPr dirty="0" err="1"/>
                  <a:t>평균은</a:t>
                </a:r>
                <a:r>
                  <a:rPr dirty="0"/>
                  <a:t> </a:t>
                </a:r>
                <a:r>
                  <a:rPr dirty="0" err="1"/>
                  <a:t>알겠다</a:t>
                </a:r>
                <a:r>
                  <a:rPr dirty="0"/>
                  <a:t> -&gt; </a:t>
                </a:r>
                <a:r>
                  <a:rPr dirty="0" err="1"/>
                  <a:t>자료가</a:t>
                </a:r>
                <a:r>
                  <a:rPr dirty="0"/>
                  <a:t> </a:t>
                </a:r>
                <a:r>
                  <a:rPr dirty="0" err="1"/>
                  <a:t>얼마나</a:t>
                </a:r>
                <a:r>
                  <a:rPr dirty="0"/>
                  <a:t> </a:t>
                </a:r>
                <a:r>
                  <a:rPr dirty="0" err="1"/>
                  <a:t>흩어져</a:t>
                </a:r>
                <a:r>
                  <a:rPr dirty="0"/>
                  <a:t> </a:t>
                </a:r>
                <a:r>
                  <a:rPr dirty="0" err="1"/>
                  <a:t>있는가</a:t>
                </a:r>
                <a:r>
                  <a:rPr dirty="0"/>
                  <a:t>? -&gt; </a:t>
                </a:r>
                <a:r>
                  <a:rPr dirty="0" err="1"/>
                  <a:t>분산을</a:t>
                </a:r>
                <a:r>
                  <a:rPr dirty="0"/>
                  <a:t> </a:t>
                </a:r>
                <a:r>
                  <a:rPr dirty="0" err="1"/>
                  <a:t>검정하고</a:t>
                </a:r>
                <a:r>
                  <a:rPr dirty="0"/>
                  <a:t> </a:t>
                </a:r>
                <a:r>
                  <a:rPr dirty="0" err="1"/>
                  <a:t>싶다</a:t>
                </a:r>
                <a:endParaRPr dirty="0"/>
              </a:p>
              <a:p>
                <a:pPr lvl="0"/>
                <a:r>
                  <a:rPr dirty="0" err="1"/>
                  <a:t>아이디어</a:t>
                </a:r>
                <a:r>
                  <a:rPr dirty="0"/>
                  <a:t>: </a:t>
                </a:r>
                <a:r>
                  <a:rPr dirty="0" err="1"/>
                  <a:t>정규분포</a:t>
                </a:r>
                <a:r>
                  <a:rPr dirty="0"/>
                  <a:t> </a:t>
                </a:r>
                <a:r>
                  <a:rPr dirty="0" err="1"/>
                  <a:t>값을</a:t>
                </a:r>
                <a:r>
                  <a:rPr dirty="0"/>
                  <a:t> </a:t>
                </a:r>
                <a:r>
                  <a:rPr dirty="0" err="1"/>
                  <a:t>제곱하면</a:t>
                </a:r>
                <a:r>
                  <a:rPr dirty="0"/>
                  <a:t> </a:t>
                </a:r>
                <a:r>
                  <a:rPr dirty="0" err="1"/>
                  <a:t>음수가</a:t>
                </a:r>
                <a:r>
                  <a:rPr dirty="0"/>
                  <a:t> </a:t>
                </a:r>
                <a:r>
                  <a:rPr dirty="0" err="1"/>
                  <a:t>사라진다</a:t>
                </a:r>
                <a:r>
                  <a:rPr dirty="0"/>
                  <a:t>!!!!!</a:t>
                </a:r>
                <a:endParaRPr lang="en-US" dirty="0"/>
              </a:p>
              <a:p>
                <a:pPr lvl="0"/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>
                          <a:latin typeface="Cambria Math" panose="02040503050406030204" pitchFamily="18" charset="0"/>
                        </a:rPr>
                        <m:t>+⋯+</m:t>
                      </m:r>
                      <m:sSubSup>
                        <m:sSub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여기서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lvl="0"/>
                <a:r>
                  <a:rPr dirty="0" err="1"/>
                  <a:t>표본정규분포를</a:t>
                </a:r>
                <a:r>
                  <a:rPr dirty="0"/>
                  <a:t> </a:t>
                </a:r>
                <a:r>
                  <a:rPr dirty="0" err="1"/>
                  <a:t>제곱해서</a:t>
                </a:r>
                <a:r>
                  <a:rPr dirty="0"/>
                  <a:t> </a:t>
                </a:r>
                <a:r>
                  <a:rPr dirty="0" err="1"/>
                  <a:t>만든</a:t>
                </a:r>
                <a:r>
                  <a:rPr dirty="0"/>
                  <a:t> </a:t>
                </a:r>
                <a:r>
                  <a:rPr dirty="0" err="1"/>
                  <a:t>분포로</a:t>
                </a:r>
                <a:r>
                  <a:rPr dirty="0"/>
                  <a:t> </a:t>
                </a:r>
                <a:r>
                  <a:rPr b="1" dirty="0" err="1"/>
                  <a:t>분산</a:t>
                </a:r>
                <a:r>
                  <a:rPr b="1" dirty="0"/>
                  <a:t> </a:t>
                </a:r>
                <a:r>
                  <a:rPr b="1" dirty="0" err="1"/>
                  <a:t>검정</a:t>
                </a:r>
                <a:r>
                  <a:rPr dirty="0"/>
                  <a:t>, </a:t>
                </a:r>
                <a:r>
                  <a:rPr b="1" dirty="0" err="1"/>
                  <a:t>적합도</a:t>
                </a:r>
                <a:r>
                  <a:rPr b="1" dirty="0"/>
                  <a:t> </a:t>
                </a:r>
                <a:r>
                  <a:rPr b="1" dirty="0" err="1"/>
                  <a:t>검정</a:t>
                </a:r>
                <a:r>
                  <a:rPr dirty="0"/>
                  <a:t>, </a:t>
                </a:r>
                <a:r>
                  <a:rPr b="1" dirty="0" err="1"/>
                  <a:t>독립성</a:t>
                </a:r>
                <a:r>
                  <a:rPr b="1" dirty="0"/>
                  <a:t> </a:t>
                </a:r>
                <a:r>
                  <a:rPr b="1" dirty="0" err="1"/>
                  <a:t>검정</a:t>
                </a:r>
                <a:r>
                  <a:rPr dirty="0" err="1"/>
                  <a:t>에</a:t>
                </a:r>
                <a:r>
                  <a:rPr dirty="0"/>
                  <a:t> </a:t>
                </a:r>
                <a:r>
                  <a:rPr dirty="0" err="1"/>
                  <a:t>사용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5" t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26BDA16-F18A-0C66-92BD-A817E048C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773" y="2759745"/>
            <a:ext cx="2361048" cy="11917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t분포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William Sealy Gosset (1876~1937) </a:t>
            </a: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필명</a:t>
            </a:r>
            <a:r>
              <a:rPr dirty="0"/>
              <a:t> Student </a:t>
            </a:r>
            <a:r>
              <a:rPr dirty="0" err="1"/>
              <a:t>를</a:t>
            </a:r>
            <a:r>
              <a:rPr dirty="0"/>
              <a:t> </a:t>
            </a:r>
            <a:r>
              <a:rPr dirty="0" err="1"/>
              <a:t>사용하여</a:t>
            </a:r>
            <a:r>
              <a:rPr dirty="0"/>
              <a:t> </a:t>
            </a:r>
            <a:r>
              <a:rPr dirty="0" err="1"/>
              <a:t>발표하면서</a:t>
            </a:r>
            <a:r>
              <a:rPr dirty="0"/>
              <a:t> Student’s t Distribution </a:t>
            </a:r>
            <a:r>
              <a:rPr dirty="0" err="1"/>
              <a:t>칭함</a:t>
            </a:r>
            <a:endParaRPr dirty="0"/>
          </a:p>
          <a:p>
            <a:pPr lvl="0"/>
            <a:r>
              <a:rPr dirty="0" err="1"/>
              <a:t>당시</a:t>
            </a:r>
            <a:r>
              <a:rPr dirty="0"/>
              <a:t> </a:t>
            </a:r>
            <a:r>
              <a:rPr dirty="0" err="1"/>
              <a:t>Gosset이</a:t>
            </a:r>
            <a:r>
              <a:rPr dirty="0"/>
              <a:t> </a:t>
            </a:r>
            <a:r>
              <a:rPr dirty="0" err="1"/>
              <a:t>근무하던</a:t>
            </a:r>
            <a:r>
              <a:rPr dirty="0"/>
              <a:t> Guinness(</a:t>
            </a:r>
            <a:r>
              <a:rPr dirty="0" err="1"/>
              <a:t>맥주회사</a:t>
            </a:r>
            <a:r>
              <a:rPr dirty="0"/>
              <a:t>) </a:t>
            </a:r>
            <a:r>
              <a:rPr dirty="0" err="1"/>
              <a:t>에서</a:t>
            </a:r>
            <a:r>
              <a:rPr dirty="0"/>
              <a:t> </a:t>
            </a:r>
            <a:r>
              <a:rPr dirty="0" err="1"/>
              <a:t>품질검사를</a:t>
            </a:r>
            <a:r>
              <a:rPr dirty="0"/>
              <a:t> </a:t>
            </a:r>
            <a:r>
              <a:rPr dirty="0" err="1"/>
              <a:t>수행하던</a:t>
            </a:r>
            <a:r>
              <a:rPr dirty="0"/>
              <a:t> </a:t>
            </a:r>
            <a:r>
              <a:rPr dirty="0" err="1"/>
              <a:t>중</a:t>
            </a:r>
            <a:r>
              <a:rPr dirty="0"/>
              <a:t> </a:t>
            </a:r>
            <a:r>
              <a:rPr dirty="0" err="1"/>
              <a:t>표본이</a:t>
            </a:r>
            <a:r>
              <a:rPr dirty="0"/>
              <a:t> </a:t>
            </a:r>
            <a:r>
              <a:rPr dirty="0" err="1"/>
              <a:t>너무</a:t>
            </a:r>
            <a:r>
              <a:rPr dirty="0"/>
              <a:t> </a:t>
            </a:r>
            <a:r>
              <a:rPr dirty="0" err="1"/>
              <a:t>작아</a:t>
            </a:r>
            <a:r>
              <a:rPr dirty="0"/>
              <a:t> </a:t>
            </a:r>
            <a:r>
              <a:rPr dirty="0" err="1"/>
              <a:t>정규분포를</a:t>
            </a:r>
            <a:r>
              <a:rPr dirty="0"/>
              <a:t> </a:t>
            </a:r>
            <a:r>
              <a:rPr dirty="0" err="1"/>
              <a:t>따르지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발견</a:t>
            </a:r>
            <a:endParaRPr lang="en-US" dirty="0"/>
          </a:p>
          <a:p>
            <a:pPr lvl="0"/>
            <a:endParaRPr dirty="0"/>
          </a:p>
          <a:p>
            <a:pPr lvl="0"/>
            <a:r>
              <a:rPr dirty="0" err="1"/>
              <a:t>정규분포는</a:t>
            </a:r>
            <a:r>
              <a:rPr dirty="0"/>
              <a:t> </a:t>
            </a:r>
            <a:r>
              <a:rPr dirty="0" err="1"/>
              <a:t>표본이</a:t>
            </a:r>
            <a:r>
              <a:rPr dirty="0"/>
              <a:t> </a:t>
            </a:r>
            <a:r>
              <a:rPr dirty="0" err="1"/>
              <a:t>충분히</a:t>
            </a:r>
            <a:r>
              <a:rPr dirty="0"/>
              <a:t> </a:t>
            </a:r>
            <a:r>
              <a:rPr dirty="0" err="1"/>
              <a:t>많을</a:t>
            </a:r>
            <a:r>
              <a:rPr dirty="0"/>
              <a:t> </a:t>
            </a:r>
            <a:r>
              <a:rPr dirty="0" err="1"/>
              <a:t>때</a:t>
            </a:r>
            <a:r>
              <a:rPr dirty="0"/>
              <a:t> </a:t>
            </a:r>
            <a:r>
              <a:rPr dirty="0" err="1"/>
              <a:t>좋은</a:t>
            </a:r>
            <a:r>
              <a:rPr dirty="0"/>
              <a:t> </a:t>
            </a:r>
            <a:r>
              <a:rPr dirty="0" err="1"/>
              <a:t>성질을</a:t>
            </a:r>
            <a:r>
              <a:rPr dirty="0"/>
              <a:t> </a:t>
            </a:r>
            <a:r>
              <a:rPr dirty="0" err="1"/>
              <a:t>가짐</a:t>
            </a:r>
            <a:endParaRPr dirty="0"/>
          </a:p>
          <a:p>
            <a:pPr lvl="0"/>
            <a:endParaRPr lang="en-US" dirty="0"/>
          </a:p>
          <a:p>
            <a:pPr lvl="0"/>
            <a:r>
              <a:rPr dirty="0" err="1"/>
              <a:t>그러나</a:t>
            </a:r>
            <a:r>
              <a:rPr dirty="0"/>
              <a:t> </a:t>
            </a:r>
            <a:r>
              <a:rPr dirty="0" err="1"/>
              <a:t>소표본</a:t>
            </a:r>
            <a:r>
              <a:rPr dirty="0"/>
              <a:t> </a:t>
            </a:r>
            <a:r>
              <a:rPr dirty="0" err="1"/>
              <a:t>상황에서는</a:t>
            </a:r>
            <a:r>
              <a:rPr dirty="0"/>
              <a:t> </a:t>
            </a:r>
            <a:r>
              <a:rPr dirty="0" err="1"/>
              <a:t>오차가</a:t>
            </a:r>
            <a:r>
              <a:rPr dirty="0"/>
              <a:t> </a:t>
            </a:r>
            <a:r>
              <a:rPr dirty="0" err="1"/>
              <a:t>커지는</a:t>
            </a:r>
            <a:r>
              <a:rPr dirty="0"/>
              <a:t> </a:t>
            </a:r>
            <a:r>
              <a:rPr dirty="0" err="1"/>
              <a:t>문제가</a:t>
            </a:r>
            <a:r>
              <a:rPr dirty="0"/>
              <a:t> </a:t>
            </a:r>
            <a:r>
              <a:rPr dirty="0" err="1"/>
              <a:t>발생함</a:t>
            </a:r>
            <a:endParaRPr lang="en-US" dirty="0"/>
          </a:p>
          <a:p>
            <a:pPr lvl="0"/>
            <a:endParaRPr lang="en-US" dirty="0"/>
          </a:p>
          <a:p>
            <a:pPr lvl="0"/>
            <a:r>
              <a:rPr lang="ko-KR" altLang="en-US" dirty="0"/>
              <a:t>오차를 줄이려면 어떻게 해야 할까</a:t>
            </a:r>
            <a:r>
              <a:rPr lang="en-US" altLang="ko-KR" dirty="0"/>
              <a:t>?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D7C11-8761-2E98-6938-E2014537B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347" y="2751365"/>
            <a:ext cx="3348011" cy="1902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t분포의 정의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40999" y="1860259"/>
                <a:ext cx="7847518" cy="3143439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 err="1"/>
                  <a:t>표본정규분포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와</a:t>
                </a:r>
                <a:r>
                  <a:rPr dirty="0"/>
                  <a:t> </a:t>
                </a:r>
                <a:r>
                  <a:rPr dirty="0" err="1"/>
                  <a:t>카이제곱분포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를</a:t>
                </a:r>
                <a:r>
                  <a:rPr dirty="0"/>
                  <a:t> </a:t>
                </a:r>
                <a:r>
                  <a:rPr dirty="0" err="1"/>
                  <a:t>이용하여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t값</a:t>
                </a:r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‾"/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/</m:t>
                          </m:r>
                          <m:rad>
                            <m:radPr>
                              <m:degHide m:val="on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즉</a:t>
                </a:r>
                <a:r>
                  <a:rPr dirty="0"/>
                  <a:t>,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평균 차이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표준오차</m:t>
                          </m:r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dirty="0" err="1"/>
                  <a:t>자유도</a:t>
                </a:r>
                <a:r>
                  <a:rPr dirty="0"/>
                  <a:t>(</a:t>
                </a:r>
                <a:r>
                  <a:rPr dirty="0" err="1"/>
                  <a:t>표본</a:t>
                </a:r>
                <a:r>
                  <a:rPr dirty="0"/>
                  <a:t>)</a:t>
                </a:r>
                <a:r>
                  <a:rPr dirty="0" err="1"/>
                  <a:t>가</a:t>
                </a:r>
                <a:r>
                  <a:rPr dirty="0"/>
                  <a:t> </a:t>
                </a:r>
                <a:r>
                  <a:rPr dirty="0" err="1"/>
                  <a:t>작으면</a:t>
                </a:r>
                <a:r>
                  <a:rPr dirty="0"/>
                  <a:t> </a:t>
                </a:r>
                <a:r>
                  <a:rPr b="1" dirty="0" err="1"/>
                  <a:t>꼬리가</a:t>
                </a:r>
                <a:r>
                  <a:rPr b="1" dirty="0"/>
                  <a:t> </a:t>
                </a:r>
                <a:r>
                  <a:rPr b="1" dirty="0" err="1"/>
                  <a:t>두꺼움</a:t>
                </a:r>
                <a:r>
                  <a:rPr dirty="0"/>
                  <a:t>, </a:t>
                </a:r>
                <a:r>
                  <a:rPr dirty="0" err="1"/>
                  <a:t>자유도가</a:t>
                </a:r>
                <a:r>
                  <a:rPr dirty="0"/>
                  <a:t> </a:t>
                </a:r>
                <a:r>
                  <a:rPr dirty="0" err="1"/>
                  <a:t>커지면</a:t>
                </a:r>
                <a:r>
                  <a:rPr dirty="0"/>
                  <a:t> </a:t>
                </a:r>
                <a:r>
                  <a:rPr b="1" dirty="0" err="1"/>
                  <a:t>정규분포와</a:t>
                </a:r>
                <a:r>
                  <a:rPr b="1" dirty="0"/>
                  <a:t> </a:t>
                </a:r>
                <a:r>
                  <a:rPr b="1" dirty="0" err="1"/>
                  <a:t>거의</a:t>
                </a:r>
                <a:r>
                  <a:rPr b="1" dirty="0"/>
                  <a:t> </a:t>
                </a:r>
                <a:r>
                  <a:rPr b="1" dirty="0" err="1"/>
                  <a:t>같아짐</a:t>
                </a:r>
                <a:endParaRPr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0999" y="1860259"/>
                <a:ext cx="7847518" cy="3143439"/>
              </a:xfrm>
              <a:blipFill>
                <a:blip r:embed="rId2"/>
                <a:stretch>
                  <a:fillRect t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9924761-E403-FE64-1606-5081EB4F9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665" y="2139924"/>
            <a:ext cx="2926571" cy="23412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F분포 탄생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 err="1"/>
                  <a:t>새로운</a:t>
                </a:r>
                <a:r>
                  <a:rPr b="1" dirty="0"/>
                  <a:t> </a:t>
                </a:r>
                <a:r>
                  <a:rPr b="1" dirty="0" err="1"/>
                  <a:t>문제</a:t>
                </a:r>
                <a:endParaRPr b="1" dirty="0"/>
              </a:p>
              <a:p>
                <a:pPr lvl="0"/>
                <a:r>
                  <a:rPr dirty="0"/>
                  <a:t>1900년대 </a:t>
                </a:r>
                <a:r>
                  <a:rPr dirty="0" err="1"/>
                  <a:t>초</a:t>
                </a:r>
                <a:r>
                  <a:rPr dirty="0"/>
                  <a:t> </a:t>
                </a:r>
                <a:r>
                  <a:rPr dirty="0" err="1"/>
                  <a:t>연구자들은</a:t>
                </a:r>
                <a:r>
                  <a:rPr dirty="0"/>
                  <a:t> “</a:t>
                </a:r>
                <a:r>
                  <a:rPr dirty="0" err="1"/>
                  <a:t>두</a:t>
                </a:r>
                <a:r>
                  <a:rPr dirty="0"/>
                  <a:t> </a:t>
                </a:r>
                <a:r>
                  <a:rPr dirty="0" err="1"/>
                  <a:t>집단</a:t>
                </a:r>
                <a:r>
                  <a:rPr dirty="0"/>
                  <a:t> </a:t>
                </a:r>
                <a:r>
                  <a:rPr dirty="0" err="1"/>
                  <a:t>평균</a:t>
                </a:r>
                <a:r>
                  <a:rPr dirty="0"/>
                  <a:t> </a:t>
                </a:r>
                <a:r>
                  <a:rPr dirty="0" err="1"/>
                  <a:t>비교</a:t>
                </a:r>
                <a:r>
                  <a:rPr dirty="0"/>
                  <a:t>” </a:t>
                </a:r>
                <a:r>
                  <a:rPr dirty="0" err="1"/>
                  <a:t>뿐</a:t>
                </a:r>
                <a:r>
                  <a:rPr dirty="0"/>
                  <a:t> </a:t>
                </a:r>
                <a:r>
                  <a:rPr dirty="0" err="1"/>
                  <a:t>아니라</a:t>
                </a:r>
                <a:r>
                  <a:rPr dirty="0"/>
                  <a:t> “3개 </a:t>
                </a:r>
                <a:r>
                  <a:rPr dirty="0" err="1"/>
                  <a:t>이상</a:t>
                </a:r>
                <a:r>
                  <a:rPr dirty="0"/>
                  <a:t> </a:t>
                </a:r>
                <a:r>
                  <a:rPr dirty="0" err="1"/>
                  <a:t>집단</a:t>
                </a:r>
                <a:r>
                  <a:rPr dirty="0"/>
                  <a:t> </a:t>
                </a:r>
                <a:r>
                  <a:rPr dirty="0" err="1"/>
                  <a:t>비교”를</a:t>
                </a:r>
                <a:r>
                  <a:rPr dirty="0"/>
                  <a:t> </a:t>
                </a:r>
                <a:r>
                  <a:rPr dirty="0" err="1"/>
                  <a:t>시도</a:t>
                </a:r>
                <a:endParaRPr lang="en-US" dirty="0"/>
              </a:p>
              <a:p>
                <a:pPr lvl="0"/>
                <a:endParaRPr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집단간 차이 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𝑣𝑠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 집단내 차이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85" t="-4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78910A2-D55E-39ED-BCFB-DEF9DE5F7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478" y="3075214"/>
            <a:ext cx="2755900" cy="167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61E75A-6593-2B63-27C7-4E1D85F72D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9172" y="3075982"/>
            <a:ext cx="2219779" cy="16756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F분포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lvl="0"/>
                <a:r>
                  <a:rPr dirty="0"/>
                  <a:t>Ronald A. Fisher (1890~1962) </a:t>
                </a:r>
                <a:r>
                  <a:rPr dirty="0" err="1"/>
                  <a:t>가</a:t>
                </a:r>
                <a:r>
                  <a:rPr dirty="0"/>
                  <a:t> 1920년대 </a:t>
                </a:r>
                <a:r>
                  <a:rPr dirty="0" err="1"/>
                  <a:t>분산비</a:t>
                </a:r>
                <a:r>
                  <a:rPr dirty="0"/>
                  <a:t>(Variance Ratio) </a:t>
                </a:r>
                <a:r>
                  <a:rPr dirty="0" err="1"/>
                  <a:t>개념</a:t>
                </a:r>
                <a:r>
                  <a:rPr dirty="0"/>
                  <a:t> </a:t>
                </a:r>
                <a:r>
                  <a:rPr dirty="0" err="1"/>
                  <a:t>제안</a:t>
                </a:r>
                <a:endParaRPr dirty="0"/>
              </a:p>
              <a:p>
                <a:pPr lvl="0"/>
                <a:r>
                  <a:rPr dirty="0" err="1"/>
                  <a:t>분산들의</a:t>
                </a:r>
                <a:r>
                  <a:rPr dirty="0"/>
                  <a:t> </a:t>
                </a:r>
                <a:r>
                  <a:rPr dirty="0" err="1"/>
                  <a:t>비율을</a:t>
                </a:r>
                <a:r>
                  <a:rPr dirty="0"/>
                  <a:t> </a:t>
                </a:r>
                <a:r>
                  <a:rPr dirty="0" err="1"/>
                  <a:t>비교하기</a:t>
                </a:r>
                <a:r>
                  <a:rPr dirty="0"/>
                  <a:t> </a:t>
                </a:r>
                <a:r>
                  <a:rPr dirty="0" err="1"/>
                  <a:t>위해</a:t>
                </a:r>
                <a:r>
                  <a:rPr lang="en-US" dirty="0"/>
                  <a:t> 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분산1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분산2</m:t>
                        </m:r>
                      </m:den>
                    </m:f>
                  </m:oMath>
                </a14:m>
                <a:r>
                  <a:rPr dirty="0"/>
                  <a:t> </a:t>
                </a:r>
                <a:r>
                  <a:rPr lang="en-US" dirty="0"/>
                  <a:t> </a:t>
                </a:r>
                <a:r>
                  <a:rPr dirty="0"/>
                  <a:t>를 </a:t>
                </a:r>
                <a:r>
                  <a:rPr dirty="0" err="1"/>
                  <a:t>연구함</a:t>
                </a:r>
                <a:endParaRPr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 err="1"/>
                  <a:t>F분포의</a:t>
                </a:r>
                <a:r>
                  <a:rPr b="1" dirty="0"/>
                  <a:t> </a:t>
                </a:r>
                <a:r>
                  <a:rPr b="1" dirty="0" err="1"/>
                  <a:t>개념</a:t>
                </a:r>
                <a:endParaRPr b="1" dirty="0"/>
              </a:p>
              <a:p>
                <a:pPr lvl="0"/>
                <a:r>
                  <a:rPr dirty="0" err="1"/>
                  <a:t>두</a:t>
                </a:r>
                <a:r>
                  <a:rPr dirty="0"/>
                  <a:t> </a:t>
                </a:r>
                <a:r>
                  <a:rPr dirty="0" err="1"/>
                  <a:t>카이제곱</a:t>
                </a:r>
                <a:r>
                  <a:rPr dirty="0"/>
                  <a:t> </a:t>
                </a:r>
                <a:r>
                  <a:rPr dirty="0" err="1"/>
                  <a:t>분포의</a:t>
                </a:r>
                <a:r>
                  <a:rPr dirty="0"/>
                  <a:t> </a:t>
                </a:r>
                <a:r>
                  <a:rPr dirty="0" err="1"/>
                  <a:t>비율로</a:t>
                </a:r>
                <a:r>
                  <a:rPr dirty="0"/>
                  <a:t> </a:t>
                </a:r>
                <a:r>
                  <a:rPr dirty="0" err="1"/>
                  <a:t>만들어지는</a:t>
                </a:r>
                <a:r>
                  <a:rPr dirty="0"/>
                  <a:t> </a:t>
                </a:r>
                <a:r>
                  <a:rPr dirty="0" err="1"/>
                  <a:t>분포</a:t>
                </a:r>
                <a:endParaRPr dirty="0"/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dirty="0"/>
                  <a:t> </a:t>
                </a:r>
                <a:r>
                  <a:rPr dirty="0" err="1"/>
                  <a:t>즉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r>
                      <a:rPr>
                        <a:latin typeface="Cambria Math" panose="02040503050406030204" pitchFamily="18" charset="0"/>
                      </a:rPr>
                      <m:t>∼</m:t>
                    </m:r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, 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dirty="0"/>
              </a:p>
              <a:p>
                <a:pPr marL="0" lvl="0" indent="0">
                  <a:spcBef>
                    <a:spcPts val="3000"/>
                  </a:spcBef>
                  <a:buNone/>
                </a:pPr>
                <a:r>
                  <a:rPr b="1" dirty="0" err="1"/>
                  <a:t>분산분석</a:t>
                </a:r>
                <a:r>
                  <a:rPr b="1" dirty="0"/>
                  <a:t>(ANOVA)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집단간분산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집단내분산</m:t>
                          </m:r>
                        </m:den>
                      </m:f>
                    </m:oMath>
                  </m:oMathPara>
                </a14:m>
                <a:endParaRPr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4" t="-1210" b="-1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0FDC6B-433F-B488-3941-01CCE162AB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886" y="2187480"/>
            <a:ext cx="2960129" cy="2783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2226" y="1387085"/>
            <a:ext cx="6536725" cy="410926"/>
          </a:xfrm>
        </p:spPr>
        <p:txBody>
          <a:bodyPr/>
          <a:lstStyle/>
          <a:p>
            <a:pPr marL="0" lvl="0" indent="0">
              <a:buNone/>
            </a:pPr>
            <a:r>
              <a:t>종합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베르누이 -&gt; 이항 -&gt; 정규 -&gt; 카이제곱 -&gt; t분포 -&gt; F</a:t>
            </a:r>
          </a:p>
          <a:p>
            <a:pPr lvl="0"/>
            <a:r>
              <a:rPr b="1"/>
              <a:t>단순한 암기 순서</a:t>
            </a:r>
            <a:r>
              <a:t>가 아니라 </a:t>
            </a:r>
            <a:r>
              <a:rPr b="1"/>
              <a:t>통계학이 해결하려고 했던 문제의 역사</a:t>
            </a:r>
            <a:r>
              <a:t>이다 </a:t>
            </a:r>
          </a:p>
          <a:p>
            <a:pPr lvl="0"/>
            <a:r>
              <a:t>베르누이: 성공/실패</a:t>
            </a:r>
          </a:p>
          <a:p>
            <a:pPr lvl="0"/>
            <a:r>
              <a:t>이항: 성공횟수</a:t>
            </a:r>
          </a:p>
          <a:p>
            <a:pPr lvl="0"/>
            <a:r>
              <a:t>정규: 평균</a:t>
            </a:r>
          </a:p>
          <a:p>
            <a:pPr lvl="0"/>
            <a:r>
              <a:t>카이제곱: 제곱합</a:t>
            </a:r>
          </a:p>
          <a:p>
            <a:pPr lvl="0"/>
            <a:r>
              <a:t>F: 분산비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670" y="1533682"/>
            <a:ext cx="7847518" cy="3143439"/>
          </a:xfrm>
        </p:spPr>
        <p:txBody>
          <a:bodyPr>
            <a:normAutofit/>
          </a:bodyPr>
          <a:lstStyle/>
          <a:p>
            <a:r>
              <a:rPr dirty="0" err="1"/>
              <a:t>확률분포의</a:t>
            </a:r>
            <a:r>
              <a:rPr dirty="0"/>
              <a:t> </a:t>
            </a:r>
            <a:r>
              <a:rPr dirty="0" err="1"/>
              <a:t>발전</a:t>
            </a:r>
            <a:endParaRPr lang="en-US" dirty="0"/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 err="1"/>
              <a:t>베르누이</a:t>
            </a:r>
            <a:r>
              <a:rPr dirty="0"/>
              <a:t>   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   </a:t>
            </a:r>
            <a:r>
              <a:rPr dirty="0"/>
              <a:t>↓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 </a:t>
            </a:r>
            <a:r>
              <a:rPr dirty="0" err="1"/>
              <a:t>이항</a:t>
            </a:r>
            <a:r>
              <a:rPr dirty="0"/>
              <a:t>   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   </a:t>
            </a:r>
            <a:r>
              <a:rPr dirty="0"/>
              <a:t>↓ </a:t>
            </a:r>
            <a:r>
              <a:rPr lang="en-US" dirty="0"/>
              <a:t> </a:t>
            </a:r>
          </a:p>
          <a:p>
            <a:pPr marL="0" lvl="0" indent="0">
              <a:buNone/>
            </a:pPr>
            <a:r>
              <a:rPr lang="en-US" dirty="0"/>
              <a:t>    </a:t>
            </a:r>
            <a:r>
              <a:rPr dirty="0" err="1"/>
              <a:t>정규</a:t>
            </a:r>
            <a:r>
              <a:rPr dirty="0"/>
              <a:t>    ├──→ </a:t>
            </a:r>
            <a:r>
              <a:rPr dirty="0" err="1"/>
              <a:t>카이제곱</a:t>
            </a:r>
            <a:r>
              <a:rPr dirty="0"/>
              <a:t> 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    </a:t>
            </a:r>
            <a:r>
              <a:rPr dirty="0"/>
              <a:t>│       ↓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</a:t>
            </a:r>
            <a:r>
              <a:rPr dirty="0"/>
              <a:t>    │         F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 </a:t>
            </a:r>
            <a:r>
              <a:rPr dirty="0"/>
              <a:t>    └──→ 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3FC6D1-23AF-C9AF-20FE-AB079FEA387E}"/>
              </a:ext>
            </a:extLst>
          </p:cNvPr>
          <p:cNvSpPr txBox="1"/>
          <p:nvPr/>
        </p:nvSpPr>
        <p:spPr>
          <a:xfrm>
            <a:off x="4572000" y="1566342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통계분석의 발전</a:t>
            </a:r>
          </a:p>
          <a:p>
            <a:pPr marL="0" lvl="0" indent="0">
              <a:buNone/>
            </a:pPr>
            <a:endParaRPr lang="en-US" altLang="ko-KR" sz="1600" spc="-150" dirty="0">
              <a:latin typeface="ChosunilboNM" panose="02030304000000000000" pitchFamily="18" charset="-128"/>
              <a:ea typeface="ChosunilboNM" panose="02030304000000000000" pitchFamily="18" charset="-128"/>
            </a:endParaRPr>
          </a:p>
          <a:p>
            <a:pPr marL="0" lvl="0" indent="0">
              <a:buNone/>
            </a:pPr>
            <a:r>
              <a:rPr lang="ko-KR" altLang="en-US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회귀분석</a:t>
            </a:r>
          </a:p>
          <a:p>
            <a:pPr marL="0" lvl="0" indent="0">
              <a:buNone/>
            </a:pPr>
            <a:r>
              <a:rPr lang="ko-KR" altLang="en-US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   ├──→ </a:t>
            </a:r>
            <a:r>
              <a:rPr lang="en-GB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t-test </a:t>
            </a:r>
          </a:p>
          <a:p>
            <a:pPr marL="0" lvl="0" indent="0">
              <a:buNone/>
            </a:pPr>
            <a:r>
              <a:rPr lang="en-GB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   └──→ ANOVA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96DAE0-079F-AB7E-8DE8-0E6FD26B46E8}"/>
              </a:ext>
            </a:extLst>
          </p:cNvPr>
          <p:cNvSpPr txBox="1"/>
          <p:nvPr/>
        </p:nvSpPr>
        <p:spPr>
          <a:xfrm>
            <a:off x="4572000" y="3122973"/>
            <a:ext cx="4572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ko-KR" altLang="en-US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현대 통계학</a:t>
            </a:r>
          </a:p>
          <a:p>
            <a:pPr marL="0" lvl="0" indent="0">
              <a:buNone/>
            </a:pPr>
            <a:endParaRPr lang="en-US" altLang="ko-KR" sz="1600" spc="-150" dirty="0">
              <a:latin typeface="ChosunilboNM" panose="02030304000000000000" pitchFamily="18" charset="-128"/>
              <a:ea typeface="ChosunilboNM" panose="02030304000000000000" pitchFamily="18" charset="-128"/>
            </a:endParaRPr>
          </a:p>
          <a:p>
            <a:pPr marL="0" lvl="0" indent="0">
              <a:buNone/>
            </a:pPr>
            <a:r>
              <a:rPr lang="ko-KR" altLang="en-US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            일반선형모형</a:t>
            </a:r>
            <a:r>
              <a:rPr lang="en-US" altLang="ko-KR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(</a:t>
            </a:r>
            <a:r>
              <a:rPr lang="en-GB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GLM)</a:t>
            </a:r>
          </a:p>
          <a:p>
            <a:pPr marL="0" lvl="0" indent="0">
              <a:buNone/>
            </a:pPr>
            <a:r>
              <a:rPr lang="en-GB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                    │</a:t>
            </a:r>
          </a:p>
          <a:p>
            <a:pPr marL="0" lvl="0" indent="0">
              <a:buNone/>
            </a:pPr>
            <a:r>
              <a:rPr lang="en-GB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┌────┬─────┐        </a:t>
            </a:r>
          </a:p>
          <a:p>
            <a:pPr marL="0" lvl="0" indent="0">
              <a:buNone/>
            </a:pPr>
            <a:r>
              <a:rPr lang="en-GB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▼                ▼                   ▼</a:t>
            </a:r>
          </a:p>
          <a:p>
            <a:pPr marL="0" lvl="0" indent="0">
              <a:buNone/>
            </a:pPr>
            <a:r>
              <a:rPr lang="en-GB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 t-test       ANOVA       </a:t>
            </a:r>
            <a:r>
              <a:rPr lang="ko-KR" altLang="en-US" sz="1600" spc="-150" dirty="0">
                <a:latin typeface="ChosunilboNM" panose="02030304000000000000" pitchFamily="18" charset="-128"/>
                <a:ea typeface="ChosunilboNM" panose="02030304000000000000" pitchFamily="18" charset="-128"/>
              </a:rPr>
              <a:t>회귀분석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2977-019F-16B4-36DB-0EC242A33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9937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620</Words>
  <Application>Microsoft Macintosh PowerPoint</Application>
  <PresentationFormat>On-screen Show (16:9)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ChosunilboNM</vt:lpstr>
      <vt:lpstr>더잠실 3 Regular</vt:lpstr>
      <vt:lpstr>더잠실 5 Bold</vt:lpstr>
      <vt:lpstr>Arial</vt:lpstr>
      <vt:lpstr>Baguet Script</vt:lpstr>
      <vt:lpstr>Calibri</vt:lpstr>
      <vt:lpstr>Cambria Math</vt:lpstr>
      <vt:lpstr>Office Theme</vt:lpstr>
      <vt:lpstr>스포츠경기예측론</vt:lpstr>
      <vt:lpstr>Section 03 | 통계학의 분포</vt:lpstr>
      <vt:lpstr>통계에서 왜 분포를 배우는가?</vt:lpstr>
      <vt:lpstr>PowerPoint Presentation</vt:lpstr>
      <vt:lpstr>베르누이 분포</vt:lpstr>
      <vt:lpstr>이항분포</vt:lpstr>
      <vt:lpstr>정규분포</vt:lpstr>
      <vt:lpstr>카이제곱 분포</vt:lpstr>
      <vt:lpstr>t분포</vt:lpstr>
      <vt:lpstr>t분포의 정의</vt:lpstr>
      <vt:lpstr>F분포 탄생</vt:lpstr>
      <vt:lpstr>F분포</vt:lpstr>
      <vt:lpstr>종합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화면 슬라이드 쇼(16:9)</PresentationFormat>
  <Paragraphs>41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더잠실 3 Regular</vt:lpstr>
      <vt:lpstr>더잠실 5 Bold</vt:lpstr>
      <vt:lpstr>ChosunilboNM</vt:lpstr>
      <vt:lpstr>Arial</vt:lpstr>
      <vt:lpstr>Baguet Script</vt:lpstr>
      <vt:lpstr>Calibri</vt:lpstr>
      <vt:lpstr>Cambria Math</vt:lpstr>
      <vt:lpstr>Office Theme</vt:lpstr>
      <vt:lpstr>테스트 발표</vt:lpstr>
      <vt:lpstr>제목 슬라이드</vt:lpstr>
      <vt:lpstr>연구배경</vt:lpstr>
      <vt:lpstr>연구방법</vt:lpstr>
      <vt:lpstr>결과</vt:lpstr>
      <vt:lpstr>결론</vt:lpstr>
      <vt:lpstr>회귀분석</vt:lpstr>
      <vt:lpstr>카이제곱분포</vt:lpstr>
      <vt:lpstr>기술통계</vt:lpstr>
      <vt:lpstr>연구설계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스포츠경기예측론</dc:title>
  <dc:creator>Jihoon, Park</dc:creator>
  <cp:keywords/>
  <cp:lastModifiedBy>Jihoon Park</cp:lastModifiedBy>
  <cp:revision>1</cp:revision>
  <dcterms:created xsi:type="dcterms:W3CDTF">2026-10-01T02:01:41Z</dcterms:created>
  <dcterms:modified xsi:type="dcterms:W3CDTF">2026-10-01T02:21:57Z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d">
    <vt:lpwstr>단국대학교 스포츠사이언스융합학과</vt:lpwstr>
  </property>
  <property fmtid="{D5CDD505-2E9C-101B-9397-08002B2CF9AE}" pid="3" name="tags">
    <vt:lpwstr/>
  </property>
</Properties>
</file>